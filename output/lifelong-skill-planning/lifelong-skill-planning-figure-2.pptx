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1760ff5ab44b06" /><Relationship Type="http://schemas.openxmlformats.org/officeDocument/2006/relationships/extended-properties" Target="/docProps/app.xml" Id="R406ba7c9f3dd41e1" /><Relationship Type="http://schemas.openxmlformats.org/officeDocument/2006/relationships/officeDocument" Target="/ppt/presentation.xml" Id="R48f1271d5c7f41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0c5a1d1f324e3f"/>
  </p:sldMasterIdLst>
  <p:notesMasterIdLst>
    <p:notesMasterId xmlns:r="http://schemas.openxmlformats.org/officeDocument/2006/relationships" r:id="Rf26c6bbfdc2b4760"/>
  </p:notesMasterIdLst>
  <p:sldIdLst>
    <p:sldId xmlns:r="http://schemas.openxmlformats.org/officeDocument/2006/relationships" id="256" r:id="Rc1a9466cef8649c1"/>
  </p:sldIdLst>
  <p:sldSz cx="11401425" cy="12668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3e89be60334306" /><Relationship Type="http://schemas.openxmlformats.org/officeDocument/2006/relationships/slideMaster" Target="/ppt/slideMasters/slideMaster1.xml" Id="R710c5a1d1f324e3f" /><Relationship Type="http://schemas.openxmlformats.org/officeDocument/2006/relationships/notesMaster" Target="/ppt/notesMasters/notesMaster1.xml" Id="Rf26c6bbfdc2b4760" /><Relationship Type="http://schemas.openxmlformats.org/officeDocument/2006/relationships/presProps" Target="/ppt/presProps.xml" Id="R6f44edd0634143e3" /><Relationship Type="http://schemas.openxmlformats.org/officeDocument/2006/relationships/tableStyles" Target="/ppt/tableStyles.xml" Id="R3141b3e91bc941a5" /><Relationship Type="http://schemas.openxmlformats.org/officeDocument/2006/relationships/slide" Target="/ppt/slides/slide1.xml" Id="Rc1a9466cef8649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d55e4a49c347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e44bd6eb4f41e6" /><Relationship Type="http://schemas.openxmlformats.org/officeDocument/2006/relationships/notesMaster" Target="/ppt/notesMasters/notesMaster1.xml" Id="R8e9624db80344f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"Reset-Free Lifelong Learning with Skill-Space Planning",</a:t>
            </a:r>
          </a:p>
          <a:p xmlns:a="http://schemas.openxmlformats.org/drawingml/2006/main">
            <a:r>
              <a:t>  "paper_url": "https://arxiv.org/pdf/2012.03548v3",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5,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"3d286be5f048686dc54ac73a862d3c3ff83830bffc1ca03036801c13e8833c37",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106,</a:t>
            </a:r>
          </a:p>
          <a:p xmlns:a="http://schemas.openxmlformats.org/drawingml/2006/main">
            <a:r>
              <a:t>    81,</a:t>
            </a:r>
          </a:p>
          <a:p xmlns:a="http://schemas.openxmlformats.org/drawingml/2006/main">
            <a:r>
              <a:t>    505,</a:t>
            </a:r>
          </a:p>
          <a:p xmlns:a="http://schemas.openxmlformats.org/drawingml/2006/main">
            <a:r>
              <a:t>    124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"Original compact algorithm schematic manually reconstructed from one flattened raster. All text, colored modules, algorithm containers and arrows are native. Fonts, math-subscript placement, dash cadence and corner radii approximate the original. Arrows are freeform paths, not semantically attached connectors. No raster backdrop or image objects."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85bd3e67c47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544509e0f43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acb74e34a4f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93ca6c229445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1a6d27c0f4b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5528f9cb84f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E2CD89-B18D-4028-B3BC-5541FEFE6E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0143" y="478578"/>
            <a:ext cx="9121140" cy="182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4998A1F-7208-4C81-912B-CDC6FF184F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0214" y="696754"/>
            <a:ext cx="7980998" cy="140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C4C69A-3C1D-464B-A00D-5B31F2BC43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0143" y="527844"/>
            <a:ext cx="9121140" cy="211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0352F1-30AC-4263-BF90-F2BAFDBC42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1330" y="98531"/>
            <a:ext cx="10118765" cy="154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64AEC7-0825-44B8-88E7-BCFF1ACD90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1330" y="351896"/>
            <a:ext cx="10118765" cy="788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2228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1pPr>
            <a:lvl2pPr marL="98531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2pPr>
            <a:lvl3pPr marL="154834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3pPr>
            <a:lvl4pPr marL="211138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4pPr>
            <a:lvl5pPr marL="267441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5pPr>
            <a:lvl6pPr marL="323744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6pPr>
            <a:lvl7pPr marL="380048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7pPr>
            <a:lvl8pPr marL="436351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8pPr>
            <a:lvl9pPr marL="492654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7E01EB-A67F-4925-BFC5-297F7536F4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1330" y="98531"/>
            <a:ext cx="10118765" cy="154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EF3C91-5E14-4821-93A6-1E118FCDC2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1330" y="351896"/>
            <a:ext cx="4703088" cy="788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2228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1pPr>
            <a:lvl2pPr marL="98531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2pPr>
            <a:lvl3pPr marL="154834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3pPr>
            <a:lvl4pPr marL="211138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4pPr>
            <a:lvl5pPr marL="267441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5pPr>
            <a:lvl6pPr marL="323744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6pPr>
            <a:lvl7pPr marL="380048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7pPr>
            <a:lvl8pPr marL="436351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8pPr>
            <a:lvl9pPr marL="492654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7A390A-2133-4A89-B753-C0ED9C0FCD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57007" y="351896"/>
            <a:ext cx="4703088" cy="788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2228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1pPr>
            <a:lvl2pPr marL="98531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2pPr>
            <a:lvl3pPr marL="154834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3pPr>
            <a:lvl4pPr marL="211138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4pPr>
            <a:lvl5pPr marL="267441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5pPr>
            <a:lvl6pPr marL="323744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6pPr>
            <a:lvl7pPr marL="380048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7pPr>
            <a:lvl8pPr marL="436351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8pPr>
            <a:lvl9pPr marL="492654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CCD6F8-4860-42E3-852D-16CF8551E2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1330" y="98531"/>
            <a:ext cx="10118765" cy="154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5F1883-BEFC-475B-A200-5638830147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1330" y="351896"/>
            <a:ext cx="4703088" cy="788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2228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1pPr>
            <a:lvl2pPr marL="98531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2pPr>
            <a:lvl3pPr marL="154834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3pPr>
            <a:lvl4pPr marL="211138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4pPr>
            <a:lvl5pPr marL="267441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5pPr>
            <a:lvl6pPr marL="323744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6pPr>
            <a:lvl7pPr marL="380048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7pPr>
            <a:lvl8pPr marL="436351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8pPr>
            <a:lvl9pPr marL="492654" indent="-42227">
              <a:lnSpc>
                <a:spcPct val="110000"/>
              </a:lnSpc>
              <a:spcBef>
                <a:spcPts val="0"/>
              </a:spcBef>
              <a:spcAft>
                <a:spcPts val="22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b05b038e064076" /><Relationship Type="http://schemas.openxmlformats.org/officeDocument/2006/relationships/slideLayout" Target="/ppt/slideLayouts/slideLayout1.xml" Id="Rbc396865682c4a19" /><Relationship Type="http://schemas.openxmlformats.org/officeDocument/2006/relationships/slideLayout" Target="/ppt/slideLayouts/slideLayout2.xml" Id="R9c2bcf05751f4ff8" /><Relationship Type="http://schemas.openxmlformats.org/officeDocument/2006/relationships/slideLayout" Target="/ppt/slideLayouts/slideLayout3.xml" Id="Rff2dc996924848d0" /><Relationship Type="http://schemas.openxmlformats.org/officeDocument/2006/relationships/slideLayout" Target="/ppt/slideLayouts/slideLayout4.xml" Id="R039aee255d494250" /><Relationship Type="http://schemas.openxmlformats.org/officeDocument/2006/relationships/slideLayout" Target="/ppt/slideLayouts/slideLayout5.xml" Id="R395b06391d1e43b9" /><Relationship Type="http://schemas.openxmlformats.org/officeDocument/2006/relationships/slideLayout" Target="/ppt/slideLayouts/slideLayout6.xml" Id="R0132641c654f4d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396865682c4a19"/>
    <p:sldLayoutId xmlns:r="http://schemas.openxmlformats.org/officeDocument/2006/relationships" id="2147483650" r:id="R9c2bcf05751f4ff8"/>
    <p:sldLayoutId xmlns:r="http://schemas.openxmlformats.org/officeDocument/2006/relationships" id="2147483651" r:id="Rff2dc996924848d0"/>
    <p:sldLayoutId xmlns:r="http://schemas.openxmlformats.org/officeDocument/2006/relationships" id="2147483652" r:id="R039aee255d494250"/>
    <p:sldLayoutId xmlns:r="http://schemas.openxmlformats.org/officeDocument/2006/relationships" id="2147483653" r:id="R395b06391d1e43b9"/>
    <p:sldLayoutId xmlns:r="http://schemas.openxmlformats.org/officeDocument/2006/relationships" id="2147483654" r:id="R0132641c654f4d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55195f16f04a5b" /><Relationship Type="http://schemas.openxmlformats.org/officeDocument/2006/relationships/notesSlide" Target="/ppt/notesSlides/notesSlide1.xml" Id="Rc81d798ff93f44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discriminator">
            <a:extLst xmlns:a="http://schemas.openxmlformats.org/drawingml/2006/main">
              <a:ext uri="{FF2B5EF4-FFF2-40B4-BE49-F238E27FC236}">
                <a16:creationId xmlns:a16="http://schemas.microsoft.com/office/drawing/2014/main" id="{2885901E-DBE5-4901-B455-A655DA2C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571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9FC5"/>
          </a:solidFill>
          <a:ln xmlns:a="http://schemas.openxmlformats.org/drawingml/2006/main" w="17145">
            <a:solidFill>
              <a:srgbClr val="666666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distribution">
            <a:extLst xmlns:a="http://schemas.openxmlformats.org/drawingml/2006/main">
              <a:ext uri="{FF2B5EF4-FFF2-40B4-BE49-F238E27FC236}">
                <a16:creationId xmlns:a16="http://schemas.microsoft.com/office/drawing/2014/main" id="{12CD537D-1357-4064-BFF5-28E38078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45720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A89"/>
          </a:solidFill>
          <a:ln xmlns:a="http://schemas.openxmlformats.org/drawingml/2006/main" w="17145">
            <a:solidFill>
              <a:srgbClr val="666666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algorithm2">
            <a:extLst xmlns:a="http://schemas.openxmlformats.org/drawingml/2006/main">
              <a:ext uri="{FF2B5EF4-FFF2-40B4-BE49-F238E27FC236}">
                <a16:creationId xmlns:a16="http://schemas.microsoft.com/office/drawing/2014/main" id="{9AAF0A0D-2B77-4EEF-9277-B88D93C7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57150"/>
            <a:ext cx="22193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99999"/>
            </a:solidFill>
            <a:prstDash val="dash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algo2-0">
            <a:extLst xmlns:a="http://schemas.openxmlformats.org/drawingml/2006/main">
              <a:ext uri="{FF2B5EF4-FFF2-40B4-BE49-F238E27FC236}">
                <a16:creationId xmlns:a16="http://schemas.microsoft.com/office/drawing/2014/main" id="{884006A7-F742-4306-8970-27E827E1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152400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Algorithm 2</a:t>
            </a:r>
          </a:p>
        </p:txBody>
      </p:sp>
      <p:sp>
        <p:nvSpPr>
          <p:cNvPr id="5" name="algo2-1">
            <a:extLst xmlns:a="http://schemas.openxmlformats.org/drawingml/2006/main">
              <a:ext uri="{FF2B5EF4-FFF2-40B4-BE49-F238E27FC236}">
                <a16:creationId xmlns:a16="http://schemas.microsoft.com/office/drawing/2014/main" id="{8EB3922B-A200-4E7F-B635-E7584BD8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33337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Generate synthetic</a:t>
            </a:r>
          </a:p>
        </p:txBody>
      </p:sp>
      <p:sp>
        <p:nvSpPr>
          <p:cNvPr id="6" name="algo2-2">
            <a:extLst xmlns:a="http://schemas.openxmlformats.org/drawingml/2006/main">
              <a:ext uri="{FF2B5EF4-FFF2-40B4-BE49-F238E27FC236}">
                <a16:creationId xmlns:a16="http://schemas.microsoft.com/office/drawing/2014/main" id="{A8C9F04F-5382-48A7-B9C8-324B376F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514350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rollouts for training</a:t>
            </a:r>
          </a:p>
        </p:txBody>
      </p:sp>
      <p:sp>
        <p:nvSpPr>
          <p:cNvPr id="7" name="algo2-3">
            <a:extLst xmlns:a="http://schemas.openxmlformats.org/drawingml/2006/main">
              <a:ext uri="{FF2B5EF4-FFF2-40B4-BE49-F238E27FC236}">
                <a16:creationId xmlns:a16="http://schemas.microsoft.com/office/drawing/2014/main" id="{BF319141-F314-44B8-8C57-D5A051E6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695325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 policy on intrinsic</a:t>
            </a:r>
          </a:p>
        </p:txBody>
      </p:sp>
      <p:sp>
        <p:nvSpPr>
          <p:cNvPr id="8" name="algo2-4">
            <a:extLst xmlns:a="http://schemas.openxmlformats.org/drawingml/2006/main">
              <a:ext uri="{FF2B5EF4-FFF2-40B4-BE49-F238E27FC236}">
                <a16:creationId xmlns:a16="http://schemas.microsoft.com/office/drawing/2014/main" id="{C53DD224-976B-4FF5-9E80-9577E63D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876300"/>
            <a:ext cx="2085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rewards using rollouts</a:t>
            </a:r>
          </a:p>
        </p:txBody>
      </p:sp>
      <p:sp>
        <p:nvSpPr>
          <p:cNvPr id="9" name="dynamics">
            <a:extLst xmlns:a="http://schemas.openxmlformats.org/drawingml/2006/main">
              <a:ext uri="{FF2B5EF4-FFF2-40B4-BE49-F238E27FC236}">
                <a16:creationId xmlns:a16="http://schemas.microsoft.com/office/drawing/2014/main" id="{E17DE303-EFDE-4040-8725-875C297B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7425" y="571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8E5"/>
          </a:solidFill>
          <a:ln xmlns:a="http://schemas.openxmlformats.org/drawingml/2006/main" w="17145">
            <a:solidFill>
              <a:srgbClr val="666666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policy">
            <a:extLst xmlns:a="http://schemas.openxmlformats.org/drawingml/2006/main">
              <a:ext uri="{FF2B5EF4-FFF2-40B4-BE49-F238E27FC236}">
                <a16:creationId xmlns:a16="http://schemas.microsoft.com/office/drawing/2014/main" id="{FFF243DF-CDE0-4025-BE7E-1FA0D74A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7425" y="45720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079"/>
          </a:solidFill>
          <a:ln xmlns:a="http://schemas.openxmlformats.org/drawingml/2006/main" w="17145">
            <a:solidFill>
              <a:srgbClr val="666666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algorithm3">
            <a:extLst xmlns:a="http://schemas.openxmlformats.org/drawingml/2006/main">
              <a:ext uri="{FF2B5EF4-FFF2-40B4-BE49-F238E27FC236}">
                <a16:creationId xmlns:a16="http://schemas.microsoft.com/office/drawing/2014/main" id="{A1E54CC4-4F98-4C0A-8F34-903A0AD6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5425" y="57150"/>
            <a:ext cx="2209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99999"/>
            </a:solidFill>
            <a:prstDash val="dash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algo3-0">
            <a:extLst xmlns:a="http://schemas.openxmlformats.org/drawingml/2006/main">
              <a:ext uri="{FF2B5EF4-FFF2-40B4-BE49-F238E27FC236}">
                <a16:creationId xmlns:a16="http://schemas.microsoft.com/office/drawing/2014/main" id="{21931DE4-8C07-43BD-8B62-C46D8BB8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152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Algorithm 3</a:t>
            </a:r>
          </a:p>
        </p:txBody>
      </p:sp>
      <p:sp>
        <p:nvSpPr>
          <p:cNvPr id="13" name="algo3-1">
            <a:extLst xmlns:a="http://schemas.openxmlformats.org/drawingml/2006/main">
              <a:ext uri="{FF2B5EF4-FFF2-40B4-BE49-F238E27FC236}">
                <a16:creationId xmlns:a16="http://schemas.microsoft.com/office/drawing/2014/main" id="{D9F71C87-5021-47C3-84F1-166CBCE3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in skill space to act in</a:t>
            </a:r>
          </a:p>
        </p:txBody>
      </p:sp>
      <p:sp>
        <p:nvSpPr>
          <p:cNvPr id="14" name="algo3-2">
            <a:extLst xmlns:a="http://schemas.openxmlformats.org/drawingml/2006/main">
              <a:ext uri="{FF2B5EF4-FFF2-40B4-BE49-F238E27FC236}">
                <a16:creationId xmlns:a16="http://schemas.microsoft.com/office/drawing/2014/main" id="{8A8EDAE4-DB1B-4961-A956-EE3937A5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51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environment</a:t>
            </a:r>
          </a:p>
        </p:txBody>
      </p:sp>
      <p:sp>
        <p:nvSpPr>
          <p:cNvPr id="15" name="disc-out">
            <a:extLst xmlns:a="http://schemas.openxmlformats.org/drawingml/2006/main">
              <a:ext uri="{FF2B5EF4-FFF2-40B4-BE49-F238E27FC236}">
                <a16:creationId xmlns:a16="http://schemas.microsoft.com/office/drawing/2014/main" id="{46CDE8D9-84EA-4353-96AF-AEEEC4D5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2581275" y="114300"/>
                </a:moveTo>
                <a:lnTo>
                  <a:pt x="299085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873B9"/>
            </a:solidFill>
            <a:prstDash val="solid"/>
          </a:ln>
        </p:spPr>
      </p:sp>
      <p:sp>
        <p:nvSpPr>
          <p:cNvPr id="16" name="disc-out-head">
            <a:extLst xmlns:a="http://schemas.openxmlformats.org/drawingml/2006/main">
              <a:ext uri="{FF2B5EF4-FFF2-40B4-BE49-F238E27FC236}">
                <a16:creationId xmlns:a16="http://schemas.microsoft.com/office/drawing/2014/main" id="{95BC1AE3-6E76-40FF-BB1C-792863D7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2990850" y="114300"/>
                </a:moveTo>
                <a:lnTo>
                  <a:pt x="2867025" y="66675"/>
                </a:lnTo>
                <a:lnTo>
                  <a:pt x="2867025" y="161925"/>
                </a:lnTo>
                <a:close/>
              </a:path>
            </a:pathLst>
          </a:custGeom>
          <a:solidFill xmlns:a="http://schemas.openxmlformats.org/drawingml/2006/main">
            <a:srgbClr val="9873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isc-in">
            <a:extLst xmlns:a="http://schemas.openxmlformats.org/drawingml/2006/main">
              <a:ext uri="{FF2B5EF4-FFF2-40B4-BE49-F238E27FC236}">
                <a16:creationId xmlns:a16="http://schemas.microsoft.com/office/drawing/2014/main" id="{05D762DF-F1E8-4611-8D9F-CD80060B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2990850" y="295275"/>
                </a:moveTo>
                <a:lnTo>
                  <a:pt x="2581275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873B9"/>
            </a:solidFill>
            <a:prstDash val="solid"/>
          </a:ln>
        </p:spPr>
      </p:sp>
      <p:sp>
        <p:nvSpPr>
          <p:cNvPr id="18" name="disc-in-head">
            <a:extLst xmlns:a="http://schemas.openxmlformats.org/drawingml/2006/main">
              <a:ext uri="{FF2B5EF4-FFF2-40B4-BE49-F238E27FC236}">
                <a16:creationId xmlns:a16="http://schemas.microsoft.com/office/drawing/2014/main" id="{D7128B8D-9E5B-4EFA-9941-D4C01866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2581275" y="295275"/>
                </a:moveTo>
                <a:lnTo>
                  <a:pt x="2705100" y="342900"/>
                </a:lnTo>
                <a:lnTo>
                  <a:pt x="2705100" y="247650"/>
                </a:lnTo>
                <a:close/>
              </a:path>
            </a:pathLst>
          </a:custGeom>
          <a:solidFill xmlns:a="http://schemas.openxmlformats.org/drawingml/2006/main">
            <a:srgbClr val="9873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actice-out">
            <a:extLst xmlns:a="http://schemas.openxmlformats.org/drawingml/2006/main">
              <a:ext uri="{FF2B5EF4-FFF2-40B4-BE49-F238E27FC236}">
                <a16:creationId xmlns:a16="http://schemas.microsoft.com/office/drawing/2014/main" id="{EF329C5D-3CF1-410D-A10F-5B596697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2581275" y="514350"/>
                </a:moveTo>
                <a:lnTo>
                  <a:pt x="299085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EC5964"/>
            </a:solidFill>
            <a:prstDash val="solid"/>
          </a:ln>
        </p:spPr>
      </p:sp>
      <p:sp>
        <p:nvSpPr>
          <p:cNvPr id="20" name="practice-out-head">
            <a:extLst xmlns:a="http://schemas.openxmlformats.org/drawingml/2006/main">
              <a:ext uri="{FF2B5EF4-FFF2-40B4-BE49-F238E27FC236}">
                <a16:creationId xmlns:a16="http://schemas.microsoft.com/office/drawing/2014/main" id="{DD530DB4-FE98-4268-AD9A-1B4AD922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2990850" y="514350"/>
                </a:moveTo>
                <a:lnTo>
                  <a:pt x="2867025" y="466725"/>
                </a:lnTo>
                <a:lnTo>
                  <a:pt x="2867025" y="561975"/>
                </a:lnTo>
                <a:close/>
              </a:path>
            </a:pathLst>
          </a:custGeom>
          <a:solidFill xmlns:a="http://schemas.openxmlformats.org/drawingml/2006/main">
            <a:srgbClr val="EC59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ractice-in">
            <a:extLst xmlns:a="http://schemas.openxmlformats.org/drawingml/2006/main">
              <a:ext uri="{FF2B5EF4-FFF2-40B4-BE49-F238E27FC236}">
                <a16:creationId xmlns:a16="http://schemas.microsoft.com/office/drawing/2014/main" id="{6CDFF952-F184-48CC-B32C-DF804B3D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2990850" y="695325"/>
                </a:moveTo>
                <a:lnTo>
                  <a:pt x="2581275" y="6953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EC5964"/>
            </a:solidFill>
            <a:prstDash val="solid"/>
          </a:ln>
        </p:spPr>
      </p:sp>
      <p:sp>
        <p:nvSpPr>
          <p:cNvPr id="22" name="practice-in-head">
            <a:extLst xmlns:a="http://schemas.openxmlformats.org/drawingml/2006/main">
              <a:ext uri="{FF2B5EF4-FFF2-40B4-BE49-F238E27FC236}">
                <a16:creationId xmlns:a16="http://schemas.microsoft.com/office/drawing/2014/main" id="{E64220B7-4EB6-47EA-A3AA-BC036D9F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2581275" y="695325"/>
                </a:moveTo>
                <a:lnTo>
                  <a:pt x="2705100" y="742950"/>
                </a:lnTo>
                <a:lnTo>
                  <a:pt x="2705100" y="647700"/>
                </a:lnTo>
                <a:close/>
              </a:path>
            </a:pathLst>
          </a:custGeom>
          <a:solidFill xmlns:a="http://schemas.openxmlformats.org/drawingml/2006/main">
            <a:srgbClr val="EC59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ynamics-algo">
            <a:extLst xmlns:a="http://schemas.openxmlformats.org/drawingml/2006/main">
              <a:ext uri="{FF2B5EF4-FFF2-40B4-BE49-F238E27FC236}">
                <a16:creationId xmlns:a16="http://schemas.microsoft.com/office/drawing/2014/main" id="{5CBDCA28-0B39-4EA8-AAF4-E424824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5915025" y="123825"/>
                </a:moveTo>
                <a:lnTo>
                  <a:pt x="5495925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7C9DC"/>
            </a:solidFill>
            <a:prstDash val="solid"/>
          </a:ln>
        </p:spPr>
      </p:sp>
      <p:sp>
        <p:nvSpPr>
          <p:cNvPr id="24" name="dynamics-algo-head">
            <a:extLst xmlns:a="http://schemas.openxmlformats.org/drawingml/2006/main">
              <a:ext uri="{FF2B5EF4-FFF2-40B4-BE49-F238E27FC236}">
                <a16:creationId xmlns:a16="http://schemas.microsoft.com/office/drawing/2014/main" id="{154428CA-FA7F-43B0-8D9C-A1D9FADA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5495925" y="123825"/>
                </a:moveTo>
                <a:lnTo>
                  <a:pt x="5619750" y="171450"/>
                </a:lnTo>
                <a:lnTo>
                  <a:pt x="5619750" y="76200"/>
                </a:lnTo>
                <a:close/>
              </a:path>
            </a:pathLst>
          </a:custGeom>
          <a:solidFill xmlns:a="http://schemas.openxmlformats.org/drawingml/2006/main">
            <a:srgbClr val="77C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olicy-algo">
            <a:extLst xmlns:a="http://schemas.openxmlformats.org/drawingml/2006/main">
              <a:ext uri="{FF2B5EF4-FFF2-40B4-BE49-F238E27FC236}">
                <a16:creationId xmlns:a16="http://schemas.microsoft.com/office/drawing/2014/main" id="{37F53F3D-8F6E-4498-9B50-27D1D9FD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5915025" y="514350"/>
                </a:moveTo>
                <a:lnTo>
                  <a:pt x="549592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B845F"/>
            </a:solidFill>
            <a:prstDash val="solid"/>
          </a:ln>
        </p:spPr>
      </p:sp>
      <p:sp>
        <p:nvSpPr>
          <p:cNvPr id="26" name="policy-algo-head">
            <a:extLst xmlns:a="http://schemas.openxmlformats.org/drawingml/2006/main">
              <a:ext uri="{FF2B5EF4-FFF2-40B4-BE49-F238E27FC236}">
                <a16:creationId xmlns:a16="http://schemas.microsoft.com/office/drawing/2014/main" id="{A69CF8E3-629F-4F98-9DCD-C626CEFF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5495925" y="514350"/>
                </a:moveTo>
                <a:lnTo>
                  <a:pt x="5619750" y="561975"/>
                </a:lnTo>
                <a:lnTo>
                  <a:pt x="5619750" y="466725"/>
                </a:lnTo>
                <a:close/>
              </a:path>
            </a:pathLst>
          </a:custGeom>
          <a:solidFill xmlns:a="http://schemas.openxmlformats.org/drawingml/2006/main">
            <a:srgbClr val="FB8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algo-policy">
            <a:extLst xmlns:a="http://schemas.openxmlformats.org/drawingml/2006/main">
              <a:ext uri="{FF2B5EF4-FFF2-40B4-BE49-F238E27FC236}">
                <a16:creationId xmlns:a16="http://schemas.microsoft.com/office/drawing/2014/main" id="{E61B8736-DFF9-4A4F-AE27-52EE18E5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5505450" y="695325"/>
                </a:moveTo>
                <a:lnTo>
                  <a:pt x="5915025" y="6953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B845F"/>
            </a:solidFill>
            <a:prstDash val="solid"/>
          </a:ln>
        </p:spPr>
      </p:sp>
      <p:sp>
        <p:nvSpPr>
          <p:cNvPr id="28" name="algo-policy-head">
            <a:extLst xmlns:a="http://schemas.openxmlformats.org/drawingml/2006/main">
              <a:ext uri="{FF2B5EF4-FFF2-40B4-BE49-F238E27FC236}">
                <a16:creationId xmlns:a16="http://schemas.microsoft.com/office/drawing/2014/main" id="{585DF57B-FF92-4A3C-9120-F35970DE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5915025" y="695325"/>
                </a:moveTo>
                <a:lnTo>
                  <a:pt x="5791200" y="647700"/>
                </a:lnTo>
                <a:lnTo>
                  <a:pt x="5791200" y="742950"/>
                </a:lnTo>
                <a:close/>
              </a:path>
            </a:pathLst>
          </a:custGeom>
          <a:solidFill xmlns:a="http://schemas.openxmlformats.org/drawingml/2006/main">
            <a:srgbClr val="FB8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ynamics-planner">
            <a:extLst xmlns:a="http://schemas.openxmlformats.org/drawingml/2006/main">
              <a:ext uri="{FF2B5EF4-FFF2-40B4-BE49-F238E27FC236}">
                <a16:creationId xmlns:a16="http://schemas.microsoft.com/office/drawing/2014/main" id="{1AFF1CD6-5200-4A97-AC74-A113021F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8553450" y="123825"/>
                </a:moveTo>
                <a:lnTo>
                  <a:pt x="8963025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7C9DC"/>
            </a:solidFill>
            <a:prstDash val="solid"/>
          </a:ln>
        </p:spPr>
      </p:sp>
      <p:sp>
        <p:nvSpPr>
          <p:cNvPr id="30" name="dynamics-planner-head">
            <a:extLst xmlns:a="http://schemas.openxmlformats.org/drawingml/2006/main">
              <a:ext uri="{FF2B5EF4-FFF2-40B4-BE49-F238E27FC236}">
                <a16:creationId xmlns:a16="http://schemas.microsoft.com/office/drawing/2014/main" id="{15BD9064-C605-4DE2-8F9F-A91FAEBD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8963025" y="123825"/>
                </a:moveTo>
                <a:lnTo>
                  <a:pt x="8839200" y="76200"/>
                </a:lnTo>
                <a:lnTo>
                  <a:pt x="8839200" y="171450"/>
                </a:lnTo>
                <a:close/>
              </a:path>
            </a:pathLst>
          </a:custGeom>
          <a:solidFill xmlns:a="http://schemas.openxmlformats.org/drawingml/2006/main">
            <a:srgbClr val="77C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lanner-dynamics">
            <a:extLst xmlns:a="http://schemas.openxmlformats.org/drawingml/2006/main">
              <a:ext uri="{FF2B5EF4-FFF2-40B4-BE49-F238E27FC236}">
                <a16:creationId xmlns:a16="http://schemas.microsoft.com/office/drawing/2014/main" id="{81D7CFBD-10B3-410C-823D-2CE12F57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8963025" y="304800"/>
                </a:moveTo>
                <a:lnTo>
                  <a:pt x="855345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77C9DC"/>
            </a:solidFill>
            <a:prstDash val="solid"/>
          </a:ln>
        </p:spPr>
      </p:sp>
      <p:sp>
        <p:nvSpPr>
          <p:cNvPr id="32" name="planner-dynamics-head">
            <a:extLst xmlns:a="http://schemas.openxmlformats.org/drawingml/2006/main">
              <a:ext uri="{FF2B5EF4-FFF2-40B4-BE49-F238E27FC236}">
                <a16:creationId xmlns:a16="http://schemas.microsoft.com/office/drawing/2014/main" id="{DD7E1F11-DB01-4954-AF6A-DAACBC0D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8553450" y="304800"/>
                </a:moveTo>
                <a:lnTo>
                  <a:pt x="8677275" y="352425"/>
                </a:lnTo>
                <a:lnTo>
                  <a:pt x="8677275" y="257175"/>
                </a:lnTo>
                <a:close/>
              </a:path>
            </a:pathLst>
          </a:custGeom>
          <a:solidFill xmlns:a="http://schemas.openxmlformats.org/drawingml/2006/main">
            <a:srgbClr val="77C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olicy-planner">
            <a:extLst xmlns:a="http://schemas.openxmlformats.org/drawingml/2006/main">
              <a:ext uri="{FF2B5EF4-FFF2-40B4-BE49-F238E27FC236}">
                <a16:creationId xmlns:a16="http://schemas.microsoft.com/office/drawing/2014/main" id="{7B3BB5A1-5B0B-46C9-94A4-E7BD37B8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8553450" y="523875"/>
                </a:moveTo>
                <a:lnTo>
                  <a:pt x="8963025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B845F"/>
            </a:solidFill>
            <a:prstDash val="solid"/>
          </a:ln>
        </p:spPr>
      </p:sp>
      <p:sp>
        <p:nvSpPr>
          <p:cNvPr id="34" name="policy-planner-head">
            <a:extLst xmlns:a="http://schemas.openxmlformats.org/drawingml/2006/main">
              <a:ext uri="{FF2B5EF4-FFF2-40B4-BE49-F238E27FC236}">
                <a16:creationId xmlns:a16="http://schemas.microsoft.com/office/drawing/2014/main" id="{DA52C1F5-3437-4AF6-980D-0EABD863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8963025" y="523875"/>
                </a:moveTo>
                <a:lnTo>
                  <a:pt x="8839200" y="476250"/>
                </a:lnTo>
                <a:lnTo>
                  <a:pt x="8839200" y="571500"/>
                </a:lnTo>
                <a:close/>
              </a:path>
            </a:pathLst>
          </a:custGeom>
          <a:solidFill xmlns:a="http://schemas.openxmlformats.org/drawingml/2006/main">
            <a:srgbClr val="FB8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legend1">
            <a:extLst xmlns:a="http://schemas.openxmlformats.org/drawingml/2006/main">
              <a:ext uri="{FF2B5EF4-FFF2-40B4-BE49-F238E27FC236}">
                <a16:creationId xmlns:a16="http://schemas.microsoft.com/office/drawing/2014/main" id="{E6C4C5B7-C68C-46FE-BF72-2B51FE55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838200"/>
            <a:ext cx="1638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incoming arrow denotes</a:t>
            </a:r>
          </a:p>
        </p:txBody>
      </p:sp>
      <p:sp>
        <p:nvSpPr>
          <p:cNvPr id="36" name="legend2">
            <a:extLst xmlns:a="http://schemas.openxmlformats.org/drawingml/2006/main">
              <a:ext uri="{FF2B5EF4-FFF2-40B4-BE49-F238E27FC236}">
                <a16:creationId xmlns:a16="http://schemas.microsoft.com/office/drawing/2014/main" id="{12245211-5D1D-4723-BFD1-9F113462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000125"/>
            <a:ext cx="14573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 from data</a:t>
            </a:r>
          </a:p>
        </p:txBody>
      </p:sp>
      <p:sp>
        <p:nvSpPr>
          <p:cNvPr id="37" name="legend-bend">
            <a:extLst xmlns:a="http://schemas.openxmlformats.org/drawingml/2006/main">
              <a:ext uri="{FF2B5EF4-FFF2-40B4-BE49-F238E27FC236}">
                <a16:creationId xmlns:a16="http://schemas.microsoft.com/office/drawing/2014/main" id="{672DF1C2-A9BA-4B47-9515-85C39B39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2800350" y="800100"/>
                </a:moveTo>
                <a:lnTo>
                  <a:pt x="2800350" y="1009650"/>
                </a:lnTo>
                <a:lnTo>
                  <a:pt x="2143125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38" name="legend-head">
            <a:extLst xmlns:a="http://schemas.openxmlformats.org/drawingml/2006/main">
              <a:ext uri="{FF2B5EF4-FFF2-40B4-BE49-F238E27FC236}">
                <a16:creationId xmlns:a16="http://schemas.microsoft.com/office/drawing/2014/main" id="{D4D70AD0-4D18-44AB-8F1B-00D9007C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01425" cy="1266825"/>
          </a:xfrm>
          <a:custGeom xmlns:a="http://schemas.openxmlformats.org/drawingml/2006/main">
            <a:pathLst>
              <a:path w="11401425" h="1266825">
                <a:moveTo>
                  <a:pt x="2124075" y="1009650"/>
                </a:moveTo>
                <a:lnTo>
                  <a:pt x="2209800" y="971550"/>
                </a:lnTo>
                <a:lnTo>
                  <a:pt x="2209800" y="104775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isc-title">
            <a:extLst xmlns:a="http://schemas.openxmlformats.org/drawingml/2006/main">
              <a:ext uri="{FF2B5EF4-FFF2-40B4-BE49-F238E27FC236}">
                <a16:creationId xmlns:a16="http://schemas.microsoft.com/office/drawing/2014/main" id="{43B78715-FA25-4FA3-9281-D3C687C6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143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Discriminator</a:t>
            </a:r>
          </a:p>
        </p:txBody>
      </p:sp>
      <p:sp>
        <p:nvSpPr>
          <p:cNvPr id="40" name="dist-title">
            <a:extLst xmlns:a="http://schemas.openxmlformats.org/drawingml/2006/main">
              <a:ext uri="{FF2B5EF4-FFF2-40B4-BE49-F238E27FC236}">
                <a16:creationId xmlns:a16="http://schemas.microsoft.com/office/drawing/2014/main" id="{E608A9B0-9937-4DBB-808C-475DC204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14350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Skill-Practice Distribution</a:t>
            </a:r>
          </a:p>
        </p:txBody>
      </p:sp>
      <p:sp>
        <p:nvSpPr>
          <p:cNvPr id="41" name="dyn-title">
            <a:extLst xmlns:a="http://schemas.openxmlformats.org/drawingml/2006/main">
              <a:ext uri="{FF2B5EF4-FFF2-40B4-BE49-F238E27FC236}">
                <a16:creationId xmlns:a16="http://schemas.microsoft.com/office/drawing/2014/main" id="{F9293D63-9A82-4C70-8F48-5E144124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1143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Dynamics Model Ensemble</a:t>
            </a:r>
          </a:p>
        </p:txBody>
      </p:sp>
      <p:sp>
        <p:nvSpPr>
          <p:cNvPr id="42" name="pol-title">
            <a:extLst xmlns:a="http://schemas.openxmlformats.org/drawingml/2006/main">
              <a:ext uri="{FF2B5EF4-FFF2-40B4-BE49-F238E27FC236}">
                <a16:creationId xmlns:a16="http://schemas.microsoft.com/office/drawing/2014/main" id="{9D1F2E00-7565-4D14-B779-413575CF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514350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Policy</a:t>
            </a:r>
          </a:p>
        </p:txBody>
      </p:sp>
      <p:sp>
        <p:nvSpPr>
          <p:cNvPr id="43" name="disc-q">
            <a:extLst xmlns:a="http://schemas.openxmlformats.org/drawingml/2006/main">
              <a:ext uri="{FF2B5EF4-FFF2-40B4-BE49-F238E27FC236}">
                <a16:creationId xmlns:a16="http://schemas.microsoft.com/office/drawing/2014/main" id="{90378554-55AC-4ECC-8686-AF4CC99F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325" y="114300"/>
            <a:ext cx="123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44" name="dist-p">
            <a:extLst xmlns:a="http://schemas.openxmlformats.org/drawingml/2006/main">
              <a:ext uri="{FF2B5EF4-FFF2-40B4-BE49-F238E27FC236}">
                <a16:creationId xmlns:a16="http://schemas.microsoft.com/office/drawing/2014/main" id="{A75FA855-0C6E-4700-8C99-CFD2DD6A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514350"/>
            <a:ext cx="123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5" name="dyn-f">
            <a:extLst xmlns:a="http://schemas.openxmlformats.org/drawingml/2006/main">
              <a:ext uri="{FF2B5EF4-FFF2-40B4-BE49-F238E27FC236}">
                <a16:creationId xmlns:a16="http://schemas.microsoft.com/office/drawing/2014/main" id="{3573A932-DD45-4E63-B057-78D68171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114300"/>
            <a:ext cx="123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6" name="pol-pi">
            <a:extLst xmlns:a="http://schemas.openxmlformats.org/drawingml/2006/main">
              <a:ext uri="{FF2B5EF4-FFF2-40B4-BE49-F238E27FC236}">
                <a16:creationId xmlns:a16="http://schemas.microsoft.com/office/drawing/2014/main" id="{CBADDA96-7A5D-4B2E-8598-8731D1CA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5225" y="514350"/>
            <a:ext cx="123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π</a:t>
            </a:r>
          </a:p>
        </p:txBody>
      </p:sp>
      <p:sp>
        <p:nvSpPr>
          <p:cNvPr id="47" name="disc-psi">
            <a:extLst xmlns:a="http://schemas.openxmlformats.org/drawingml/2006/main">
              <a:ext uri="{FF2B5EF4-FFF2-40B4-BE49-F238E27FC236}">
                <a16:creationId xmlns:a16="http://schemas.microsoft.com/office/drawing/2014/main" id="{1081FDD6-7F4F-4582-ACC1-CCD41FA9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21907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ψ</a:t>
            </a:r>
          </a:p>
        </p:txBody>
      </p:sp>
      <p:sp>
        <p:nvSpPr>
          <p:cNvPr id="48" name="dist-psi">
            <a:extLst xmlns:a="http://schemas.openxmlformats.org/drawingml/2006/main">
              <a:ext uri="{FF2B5EF4-FFF2-40B4-BE49-F238E27FC236}">
                <a16:creationId xmlns:a16="http://schemas.microsoft.com/office/drawing/2014/main" id="{D9EB22EF-B527-4CE0-82A4-9899F7E8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61912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ψ</a:t>
            </a:r>
          </a:p>
        </p:txBody>
      </p:sp>
      <p:sp>
        <p:nvSpPr>
          <p:cNvPr id="49" name="dyn-phi">
            <a:extLst xmlns:a="http://schemas.openxmlformats.org/drawingml/2006/main">
              <a:ext uri="{FF2B5EF4-FFF2-40B4-BE49-F238E27FC236}">
                <a16:creationId xmlns:a16="http://schemas.microsoft.com/office/drawing/2014/main" id="{0B5D8164-E88E-4036-B9D4-1EFBA170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21907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φ</a:t>
            </a:r>
          </a:p>
        </p:txBody>
      </p:sp>
      <p:sp>
        <p:nvSpPr>
          <p:cNvPr id="50" name="pol-theta">
            <a:extLst xmlns:a="http://schemas.openxmlformats.org/drawingml/2006/main">
              <a:ext uri="{FF2B5EF4-FFF2-40B4-BE49-F238E27FC236}">
                <a16:creationId xmlns:a16="http://schemas.microsoft.com/office/drawing/2014/main" id="{F56FEC91-2A2C-4EC4-B6E5-11382B18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619125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θ</a:t>
            </a:r>
          </a:p>
        </p:txBody>
      </p:sp>
    </p:spTree>
    <p:extLst>
      <p:ext uri="{BB962C8B-B14F-4D97-AF65-F5344CB8AC3E}">
        <p14:creationId xmlns:p14="http://schemas.microsoft.com/office/powerpoint/2010/main" val="927203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2026-10-09T21:06:42.0310000Z</dcterms:created>
  <dcterms:modified xsi:type="dcterms:W3CDTF">2026-10-09T21:06:42.0320000Z</dcterms:modified>
</coreProperties>
</file>