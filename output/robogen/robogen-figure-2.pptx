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f4eb5e218f4dab" /><Relationship Type="http://schemas.openxmlformats.org/officeDocument/2006/relationships/extended-properties" Target="/docProps/app.xml" Id="Re62a88fc265d478c" /><Relationship Type="http://schemas.openxmlformats.org/officeDocument/2006/relationships/officeDocument" Target="/ppt/presentation.xml" Id="Rfd53ef4064a0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5cdd6ee7194268"/>
  </p:sldMasterIdLst>
  <p:notesMasterIdLst>
    <p:notesMasterId xmlns:r="http://schemas.openxmlformats.org/officeDocument/2006/relationships" r:id="Rd44934dba731414a"/>
  </p:notesMasterIdLst>
  <p:sldIdLst>
    <p:sldId xmlns:r="http://schemas.openxmlformats.org/officeDocument/2006/relationships" id="256" r:id="R880369f0d81e45a4"/>
  </p:sldIdLst>
  <p:sldSz cx="12573000" cy="5457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319eb38d643ea" /><Relationship Type="http://schemas.openxmlformats.org/officeDocument/2006/relationships/slideMaster" Target="/ppt/slideMasters/slideMaster1.xml" Id="R5a5cdd6ee7194268" /><Relationship Type="http://schemas.openxmlformats.org/officeDocument/2006/relationships/notesMaster" Target="/ppt/notesMasters/notesMaster1.xml" Id="Rd44934dba731414a" /><Relationship Type="http://schemas.openxmlformats.org/officeDocument/2006/relationships/presProps" Target="/ppt/presProps.xml" Id="R98d77171e6384d3f" /><Relationship Type="http://schemas.openxmlformats.org/officeDocument/2006/relationships/tableStyles" Target="/ppt/tableStyles.xml" Id="R853d1b26d0df48b7" /><Relationship Type="http://schemas.openxmlformats.org/officeDocument/2006/relationships/slide" Target="/ppt/slides/slide1.xml" Id="R880369f0d81e45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ab5127689c4e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b9ae7da16a4398" /><Relationship Type="http://schemas.openxmlformats.org/officeDocument/2006/relationships/notesMaster" Target="/ppt/notesMasters/notesMaster1.xml" Id="R7b5f3c40a95b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"RoboGen: Towards Unleashing Infinite Data for Automated Robot Learning via Generative Simulation",</a:t>
            </a:r>
          </a:p>
          <a:p xmlns:a="http://schemas.openxmlformats.org/drawingml/2006/main">
            <a:r>
              <a:t>  "paper_url": "https://arxiv.org/abs/2311.01455v3",</a:t>
            </a:r>
          </a:p>
          <a:p xmlns:a="http://schemas.openxmlformats.org/drawingml/2006/main">
            <a:r>
              <a:t>  "pdf_url": "https://arxiv.org/pdf/2311.01455v3",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"license": "http://arxiv.org/licenses/nonexclusive-distrib/1.0/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Initialization asset icons, scene photographs and each skill thumbnail are separate original raster crops. All stage headings, task-example cards, models, configuration blocks, dataset labels, reward labels and main routing paths are native typeable/editable objects.",</a:t>
            </a:r>
          </a:p>
          <a:p xmlns:a="http://schemas.openxmlformats.org/drawingml/2006/main">
            <a:r>
              <a:t>  "source_sha256": "4146b2443205d6e4f8137e14fb20a91165da9a70c12306a300bc71fcae53b022",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79,</a:t>
            </a:r>
          </a:p>
          <a:p xmlns:a="http://schemas.openxmlformats.org/drawingml/2006/main">
            <a:r>
              <a:t>    66,</a:t>
            </a:r>
          </a:p>
          <a:p xmlns:a="http://schemas.openxmlformats.org/drawingml/2006/main">
            <a:r>
              <a:t>    519,</a:t>
            </a:r>
          </a:p>
          <a:p xmlns:a="http://schemas.openxmlformats.org/drawingml/2006/main">
            <a:r>
              <a:t>    257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"robot-arm",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62,</a:t>
            </a:r>
          </a:p>
          <a:p xmlns:a="http://schemas.openxmlformats.org/drawingml/2006/main">
            <a:r>
              <a:t>        119,</a:t>
            </a:r>
          </a:p>
          <a:p xmlns:a="http://schemas.openxmlformats.org/drawingml/2006/main">
            <a:r>
              <a:t>        120,</a:t>
            </a:r>
          </a:p>
          <a:p xmlns:a="http://schemas.openxmlformats.org/drawingml/2006/main">
            <a:r>
              <a:t>        177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"robot-small",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144,</a:t>
            </a:r>
          </a:p>
          <a:p xmlns:a="http://schemas.openxmlformats.org/drawingml/2006/main">
            <a:r>
              <a:t>        122,</a:t>
            </a:r>
          </a:p>
          <a:p xmlns:a="http://schemas.openxmlformats.org/drawingml/2006/main">
            <a:r>
              <a:t>        198,</a:t>
            </a:r>
          </a:p>
          <a:p xmlns:a="http://schemas.openxmlformats.org/drawingml/2006/main">
            <a:r>
              <a:t>        177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"quadruped",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217,</a:t>
            </a:r>
          </a:p>
          <a:p xmlns:a="http://schemas.openxmlformats.org/drawingml/2006/main">
            <a:r>
              <a:t>        121,</a:t>
            </a:r>
          </a:p>
          <a:p xmlns:a="http://schemas.openxmlformats.org/drawingml/2006/main">
            <a:r>
              <a:t>        280,</a:t>
            </a:r>
          </a:p>
          <a:p xmlns:a="http://schemas.openxmlformats.org/drawingml/2006/main">
            <a:r>
              <a:t>        178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"microwave",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40,</a:t>
            </a:r>
          </a:p>
          <a:p xmlns:a="http://schemas.openxmlformats.org/drawingml/2006/main">
            <a:r>
              <a:t>        229,</a:t>
            </a:r>
          </a:p>
          <a:p xmlns:a="http://schemas.openxmlformats.org/drawingml/2006/main">
            <a:r>
              <a:t>        98,</a:t>
            </a:r>
          </a:p>
          <a:p xmlns:a="http://schemas.openxmlformats.org/drawingml/2006/main">
            <a:r>
              <a:t>        282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"arm-object",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112,</a:t>
            </a:r>
          </a:p>
          <a:p xmlns:a="http://schemas.openxmlformats.org/drawingml/2006/main">
            <a:r>
              <a:t>        221,</a:t>
            </a:r>
          </a:p>
          <a:p xmlns:a="http://schemas.openxmlformats.org/drawingml/2006/main">
            <a:r>
              <a:t>        164,</a:t>
            </a:r>
          </a:p>
          <a:p xmlns:a="http://schemas.openxmlformats.org/drawingml/2006/main">
            <a:r>
              <a:t>        283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"sanitizer",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182,</a:t>
            </a:r>
          </a:p>
          <a:p xmlns:a="http://schemas.openxmlformats.org/drawingml/2006/main">
            <a:r>
              <a:t>        221,</a:t>
            </a:r>
          </a:p>
          <a:p xmlns:a="http://schemas.openxmlformats.org/drawingml/2006/main">
            <a:r>
              <a:t>        229,</a:t>
            </a:r>
          </a:p>
          <a:p xmlns:a="http://schemas.openxmlformats.org/drawingml/2006/main">
            <a:r>
              <a:t>        281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"suitcase",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247,</a:t>
            </a:r>
          </a:p>
          <a:p xmlns:a="http://schemas.openxmlformats.org/drawingml/2006/main">
            <a:r>
              <a:t>        220,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282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"dishwasher",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40,</a:t>
            </a:r>
          </a:p>
          <a:p xmlns:a="http://schemas.openxmlformats.org/drawingml/2006/main">
            <a:r>
              <a:t>        292,</a:t>
            </a:r>
          </a:p>
          <a:p xmlns:a="http://schemas.openxmlformats.org/drawingml/2006/main">
            <a:r>
              <a:t>        98,</a:t>
            </a:r>
          </a:p>
          <a:p xmlns:a="http://schemas.openxmlformats.org/drawingml/2006/main">
            <a:r>
              <a:t>        350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"safe",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111,</a:t>
            </a:r>
          </a:p>
          <a:p xmlns:a="http://schemas.openxmlformats.org/drawingml/2006/main">
            <a:r>
              <a:t>        294,</a:t>
            </a:r>
          </a:p>
          <a:p xmlns:a="http://schemas.openxmlformats.org/drawingml/2006/main">
            <a:r>
              <a:t>        167,</a:t>
            </a:r>
          </a:p>
          <a:p xmlns:a="http://schemas.openxmlformats.org/drawingml/2006/main">
            <a:r>
              <a:t>        350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"laptop",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179,</a:t>
            </a:r>
          </a:p>
          <a:p xmlns:a="http://schemas.openxmlformats.org/drawingml/2006/main">
            <a:r>
              <a:t>        293,</a:t>
            </a:r>
          </a:p>
          <a:p xmlns:a="http://schemas.openxmlformats.org/drawingml/2006/main">
            <a:r>
              <a:t>        234,</a:t>
            </a:r>
          </a:p>
          <a:p xmlns:a="http://schemas.openxmlformats.org/drawingml/2006/main">
            <a:r>
              <a:t>        351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"cabinet",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245,</a:t>
            </a:r>
          </a:p>
          <a:p xmlns:a="http://schemas.openxmlformats.org/drawingml/2006/main">
            <a:r>
              <a:t>        291,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351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robot/object asset icon;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"midjourney-logo",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512,</a:t>
            </a:r>
          </a:p>
          <a:p xmlns:a="http://schemas.openxmlformats.org/drawingml/2006/main">
            <a:r>
              <a:t>        329,</a:t>
            </a:r>
          </a:p>
          <a:p xmlns:a="http://schemas.openxmlformats.org/drawingml/2006/main">
            <a:r>
              <a:t>        531,</a:t>
            </a:r>
          </a:p>
          <a:p xmlns:a="http://schemas.openxmlformats.org/drawingml/2006/main">
            <a:r>
              <a:t>        350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tiny Midjourney sail mark"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"scene1",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363,</a:t>
            </a:r>
          </a:p>
          <a:p xmlns:a="http://schemas.openxmlformats.org/drawingml/2006/main">
            <a:r>
              <a:t>        446,</a:t>
            </a:r>
          </a:p>
          <a:p xmlns:a="http://schemas.openxmlformats.org/drawingml/2006/main">
            <a:r>
              <a:t>        464,</a:t>
            </a:r>
          </a:p>
          <a:p xmlns:a="http://schemas.openxmlformats.org/drawingml/2006/main">
            <a:r>
              <a:t>        547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generated scene photo; internal scene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"scene2",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478,</a:t>
            </a:r>
          </a:p>
          <a:p xmlns:a="http://schemas.openxmlformats.org/drawingml/2006/main">
            <a:r>
              <a:t>        446,</a:t>
            </a:r>
          </a:p>
          <a:p xmlns:a="http://schemas.openxmlformats.org/drawingml/2006/main">
            <a:r>
              <a:t>        579,</a:t>
            </a:r>
          </a:p>
          <a:p xmlns:a="http://schemas.openxmlformats.org/drawingml/2006/main">
            <a:r>
              <a:t>        547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generated scene photo; internal scene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"scene3",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591,</a:t>
            </a:r>
          </a:p>
          <a:p xmlns:a="http://schemas.openxmlformats.org/drawingml/2006/main">
            <a:r>
              <a:t>        445,</a:t>
            </a:r>
          </a:p>
          <a:p xmlns:a="http://schemas.openxmlformats.org/drawingml/2006/main">
            <a:r>
              <a:t>        692,</a:t>
            </a:r>
          </a:p>
          <a:p xmlns:a="http://schemas.openxmlformats.org/drawingml/2006/main">
            <a:r>
              <a:t>        547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generated scene photo; internal scene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"scene4",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701,</a:t>
            </a:r>
          </a:p>
          <a:p xmlns:a="http://schemas.openxmlformats.org/drawingml/2006/main">
            <a:r>
              <a:t>        445,</a:t>
            </a:r>
          </a:p>
          <a:p xmlns:a="http://schemas.openxmlformats.org/drawingml/2006/main">
            <a:r>
              <a:t>        801,</a:t>
            </a:r>
          </a:p>
          <a:p xmlns:a="http://schemas.openxmlformats.org/drawingml/2006/main">
            <a:r>
              <a:t>        546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generated scene photo; internal scene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"skill-0-0",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906,</a:t>
            </a:r>
          </a:p>
          <a:p xmlns:a="http://schemas.openxmlformats.org/drawingml/2006/main">
            <a:r>
              <a:t>        407,</a:t>
            </a:r>
          </a:p>
          <a:p xmlns:a="http://schemas.openxmlformats.org/drawingml/2006/main">
            <a:r>
              <a:t>        954,</a:t>
            </a:r>
          </a:p>
          <a:p xmlns:a="http://schemas.openxmlformats.org/drawingml/2006/main">
            <a:r>
              <a:t>        455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"skill-0-1",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964,</a:t>
            </a:r>
          </a:p>
          <a:p xmlns:a="http://schemas.openxmlformats.org/drawingml/2006/main">
            <a:r>
              <a:t>        407,</a:t>
            </a:r>
          </a:p>
          <a:p xmlns:a="http://schemas.openxmlformats.org/drawingml/2006/main">
            <a:r>
              <a:t>        1012,</a:t>
            </a:r>
          </a:p>
          <a:p xmlns:a="http://schemas.openxmlformats.org/drawingml/2006/main">
            <a:r>
              <a:t>        455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"skill-0-2",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1022,</a:t>
            </a:r>
          </a:p>
          <a:p xmlns:a="http://schemas.openxmlformats.org/drawingml/2006/main">
            <a:r>
              <a:t>        407,</a:t>
            </a:r>
          </a:p>
          <a:p xmlns:a="http://schemas.openxmlformats.org/drawingml/2006/main">
            <a:r>
              <a:t>        1070,</a:t>
            </a:r>
          </a:p>
          <a:p xmlns:a="http://schemas.openxmlformats.org/drawingml/2006/main">
            <a:r>
              <a:t>        455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"skill-0-3",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1079,</a:t>
            </a:r>
          </a:p>
          <a:p xmlns:a="http://schemas.openxmlformats.org/drawingml/2006/main">
            <a:r>
              <a:t>        407,</a:t>
            </a:r>
          </a:p>
          <a:p xmlns:a="http://schemas.openxmlformats.org/drawingml/2006/main">
            <a:r>
              <a:t>        1127,</a:t>
            </a:r>
          </a:p>
          <a:p xmlns:a="http://schemas.openxmlformats.org/drawingml/2006/main">
            <a:r>
              <a:t>        455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"skill-0-4",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1137,</a:t>
            </a:r>
          </a:p>
          <a:p xmlns:a="http://schemas.openxmlformats.org/drawingml/2006/main">
            <a:r>
              <a:t>        407,</a:t>
            </a:r>
          </a:p>
          <a:p xmlns:a="http://schemas.openxmlformats.org/drawingml/2006/main">
            <a:r>
              <a:t>        1185,</a:t>
            </a:r>
          </a:p>
          <a:p xmlns:a="http://schemas.openxmlformats.org/drawingml/2006/main">
            <a:r>
              <a:t>        455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"skill-0-5",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1195,</a:t>
            </a:r>
          </a:p>
          <a:p xmlns:a="http://schemas.openxmlformats.org/drawingml/2006/main">
            <a:r>
              <a:t>        407,</a:t>
            </a:r>
          </a:p>
          <a:p xmlns:a="http://schemas.openxmlformats.org/drawingml/2006/main">
            <a:r>
              <a:t>        1243,</a:t>
            </a:r>
          </a:p>
          <a:p xmlns:a="http://schemas.openxmlformats.org/drawingml/2006/main">
            <a:r>
              <a:t>        455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"skill-1-0",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878,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926,</a:t>
            </a:r>
          </a:p>
          <a:p xmlns:a="http://schemas.openxmlformats.org/drawingml/2006/main">
            <a:r>
              <a:t>        507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"skill-1-1",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936,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984,</a:t>
            </a:r>
          </a:p>
          <a:p xmlns:a="http://schemas.openxmlformats.org/drawingml/2006/main">
            <a:r>
              <a:t>        507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"skill-1-2",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994,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1042,</a:t>
            </a:r>
          </a:p>
          <a:p xmlns:a="http://schemas.openxmlformats.org/drawingml/2006/main">
            <a:r>
              <a:t>        507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"skill-1-3",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1052,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1100,</a:t>
            </a:r>
          </a:p>
          <a:p xmlns:a="http://schemas.openxmlformats.org/drawingml/2006/main">
            <a:r>
              <a:t>        507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"skill-1-4",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1110,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1158,</a:t>
            </a:r>
          </a:p>
          <a:p xmlns:a="http://schemas.openxmlformats.org/drawingml/2006/main">
            <a:r>
              <a:t>        507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"skill-1-5",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1169,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1217,</a:t>
            </a:r>
          </a:p>
          <a:p xmlns:a="http://schemas.openxmlformats.org/drawingml/2006/main">
            <a:r>
              <a:t>        507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"skill-1-6",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1226,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1274,</a:t>
            </a:r>
          </a:p>
          <a:p xmlns:a="http://schemas.openxmlformats.org/drawingml/2006/main">
            <a:r>
              <a:t>        507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"skill-2-0",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909,</a:t>
            </a:r>
          </a:p>
          <a:p xmlns:a="http://schemas.openxmlformats.org/drawingml/2006/main">
            <a:r>
              <a:t>        511,</a:t>
            </a:r>
          </a:p>
          <a:p xmlns:a="http://schemas.openxmlformats.org/drawingml/2006/main">
            <a:r>
              <a:t>        957,</a:t>
            </a:r>
          </a:p>
          <a:p xmlns:a="http://schemas.openxmlformats.org/drawingml/2006/main">
            <a:r>
              <a:t>        559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"skill-2-1",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967,</a:t>
            </a:r>
          </a:p>
          <a:p xmlns:a="http://schemas.openxmlformats.org/drawingml/2006/main">
            <a:r>
              <a:t>        511,</a:t>
            </a:r>
          </a:p>
          <a:p xmlns:a="http://schemas.openxmlformats.org/drawingml/2006/main">
            <a:r>
              <a:t>        1015,</a:t>
            </a:r>
          </a:p>
          <a:p xmlns:a="http://schemas.openxmlformats.org/drawingml/2006/main">
            <a:r>
              <a:t>        559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"skill-2-2",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1024,</a:t>
            </a:r>
          </a:p>
          <a:p xmlns:a="http://schemas.openxmlformats.org/drawingml/2006/main">
            <a:r>
              <a:t>        511,</a:t>
            </a:r>
          </a:p>
          <a:p xmlns:a="http://schemas.openxmlformats.org/drawingml/2006/main">
            <a:r>
              <a:t>        1072,</a:t>
            </a:r>
          </a:p>
          <a:p xmlns:a="http://schemas.openxmlformats.org/drawingml/2006/main">
            <a:r>
              <a:t>        559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"skill-2-3",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1082,</a:t>
            </a:r>
          </a:p>
          <a:p xmlns:a="http://schemas.openxmlformats.org/drawingml/2006/main">
            <a:r>
              <a:t>        511,</a:t>
            </a:r>
          </a:p>
          <a:p xmlns:a="http://schemas.openxmlformats.org/drawingml/2006/main">
            <a:r>
              <a:t>        1130,</a:t>
            </a:r>
          </a:p>
          <a:p xmlns:a="http://schemas.openxmlformats.org/drawingml/2006/main">
            <a:r>
              <a:t>        559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"skill-2-4",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1139,</a:t>
            </a:r>
          </a:p>
          <a:p xmlns:a="http://schemas.openxmlformats.org/drawingml/2006/main">
            <a:r>
              <a:t>        511,</a:t>
            </a:r>
          </a:p>
          <a:p xmlns:a="http://schemas.openxmlformats.org/drawingml/2006/main">
            <a:r>
              <a:t>        1187,</a:t>
            </a:r>
          </a:p>
          <a:p xmlns:a="http://schemas.openxmlformats.org/drawingml/2006/main">
            <a:r>
              <a:t>        559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"skill-2-5",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1196,</a:t>
            </a:r>
          </a:p>
          <a:p xmlns:a="http://schemas.openxmlformats.org/drawingml/2006/main">
            <a:r>
              <a:t>        511,</a:t>
            </a:r>
          </a:p>
          <a:p xmlns:a="http://schemas.openxmlformats.org/drawingml/2006/main">
            <a:r>
              <a:t>        1244,</a:t>
            </a:r>
          </a:p>
          <a:p xmlns:a="http://schemas.openxmlformats.org/drawingml/2006/main">
            <a:r>
              <a:t>        559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circular skill-execution photo; its pixels and round crop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e72b647b649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0ce039e5a4e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114dbdb1444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a8d24e89c40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fc7e7401347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73e6ea96e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7ED2E7-BFC4-4D8A-A2F4-C10EBE89C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061845"/>
            <a:ext cx="10058400" cy="788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790D08-FCB8-4BC4-B226-2ED965E01C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85950" y="3001804"/>
            <a:ext cx="8801100" cy="60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56A137-7E5F-4FC8-8D95-36EFCD6CB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274094"/>
            <a:ext cx="10058400" cy="909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B212C1-F84C-40DA-A960-41908309E6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24497"/>
            <a:ext cx="11158538" cy="667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1ADBC3-2B85-43AE-8322-C2BAF83581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516063"/>
            <a:ext cx="11158538" cy="339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9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192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1pPr>
            <a:lvl2pPr marL="42449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2pPr>
            <a:lvl3pPr marL="66706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3pPr>
            <a:lvl4pPr marL="90963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4pPr>
            <a:lvl5pPr marL="115220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5pPr>
            <a:lvl6pPr marL="139477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6pPr>
            <a:lvl7pPr marL="163734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7pPr>
            <a:lvl8pPr marL="187991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8pPr>
            <a:lvl9pPr marL="212248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2C0696-F3D2-4B5C-8287-4FE183042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24497"/>
            <a:ext cx="11158538" cy="667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1C9DD2-DD2D-41CA-BFC8-409B0098A3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516063"/>
            <a:ext cx="5186363" cy="339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192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1pPr>
            <a:lvl2pPr marL="42449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2pPr>
            <a:lvl3pPr marL="66706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3pPr>
            <a:lvl4pPr marL="90963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4pPr>
            <a:lvl5pPr marL="115220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5pPr>
            <a:lvl6pPr marL="139477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6pPr>
            <a:lvl7pPr marL="163734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7pPr>
            <a:lvl8pPr marL="187991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8pPr>
            <a:lvl9pPr marL="212248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DE4DF6-BCBA-4092-88E4-8CE95677DD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79406" y="1516063"/>
            <a:ext cx="5186363" cy="339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192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1pPr>
            <a:lvl2pPr marL="42449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2pPr>
            <a:lvl3pPr marL="66706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3pPr>
            <a:lvl4pPr marL="90963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4pPr>
            <a:lvl5pPr marL="115220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5pPr>
            <a:lvl6pPr marL="139477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6pPr>
            <a:lvl7pPr marL="163734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7pPr>
            <a:lvl8pPr marL="187991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8pPr>
            <a:lvl9pPr marL="212248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8D0FC5-E5F9-4256-B173-847A97364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24497"/>
            <a:ext cx="11158538" cy="667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929105-CF89-493D-BE7F-4F14505DB3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516063"/>
            <a:ext cx="5186363" cy="339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9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192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1pPr>
            <a:lvl2pPr marL="42449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2pPr>
            <a:lvl3pPr marL="66706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3pPr>
            <a:lvl4pPr marL="90963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4pPr>
            <a:lvl5pPr marL="115220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5pPr>
            <a:lvl6pPr marL="139477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6pPr>
            <a:lvl7pPr marL="163734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7pPr>
            <a:lvl8pPr marL="1879917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8pPr>
            <a:lvl9pPr marL="2122488" indent="-181927">
              <a:lnSpc>
                <a:spcPct val="110000"/>
              </a:lnSpc>
              <a:spcBef>
                <a:spcPts val="0"/>
              </a:spcBef>
              <a:spcAft>
                <a:spcPts val="95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d17090181d44dc" /><Relationship Type="http://schemas.openxmlformats.org/officeDocument/2006/relationships/slideLayout" Target="/ppt/slideLayouts/slideLayout1.xml" Id="R3467f48eb2174daf" /><Relationship Type="http://schemas.openxmlformats.org/officeDocument/2006/relationships/slideLayout" Target="/ppt/slideLayouts/slideLayout2.xml" Id="R0527e308c4b64fe1" /><Relationship Type="http://schemas.openxmlformats.org/officeDocument/2006/relationships/slideLayout" Target="/ppt/slideLayouts/slideLayout3.xml" Id="R540437b68095459e" /><Relationship Type="http://schemas.openxmlformats.org/officeDocument/2006/relationships/slideLayout" Target="/ppt/slideLayouts/slideLayout4.xml" Id="Rdb9cf71db90a402c" /><Relationship Type="http://schemas.openxmlformats.org/officeDocument/2006/relationships/slideLayout" Target="/ppt/slideLayouts/slideLayout5.xml" Id="Rd85b534ef56649a8" /><Relationship Type="http://schemas.openxmlformats.org/officeDocument/2006/relationships/slideLayout" Target="/ppt/slideLayouts/slideLayout6.xml" Id="R1b2802115c9940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67f48eb2174daf"/>
    <p:sldLayoutId xmlns:r="http://schemas.openxmlformats.org/officeDocument/2006/relationships" id="2147483650" r:id="R0527e308c4b64fe1"/>
    <p:sldLayoutId xmlns:r="http://schemas.openxmlformats.org/officeDocument/2006/relationships" id="2147483651" r:id="R540437b68095459e"/>
    <p:sldLayoutId xmlns:r="http://schemas.openxmlformats.org/officeDocument/2006/relationships" id="2147483652" r:id="Rdb9cf71db90a402c"/>
    <p:sldLayoutId xmlns:r="http://schemas.openxmlformats.org/officeDocument/2006/relationships" id="2147483653" r:id="Rd85b534ef56649a8"/>
    <p:sldLayoutId xmlns:r="http://schemas.openxmlformats.org/officeDocument/2006/relationships" id="2147483654" r:id="R1b2802115c9940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eb426172c4b7c" /><Relationship Type="http://schemas.openxmlformats.org/officeDocument/2006/relationships/image" Target="/ppt/media/image.png" Id="R0bcc4ffe2b1b4326" /><Relationship Type="http://schemas.openxmlformats.org/officeDocument/2006/relationships/image" Target="/ppt/media/image2.png" Id="Rd52c830737974f4c" /><Relationship Type="http://schemas.openxmlformats.org/officeDocument/2006/relationships/image" Target="/ppt/media/image3.png" Id="Rd9f8f394e53f44d2" /><Relationship Type="http://schemas.openxmlformats.org/officeDocument/2006/relationships/image" Target="/ppt/media/image4.png" Id="Rf17edc5577d14963" /><Relationship Type="http://schemas.openxmlformats.org/officeDocument/2006/relationships/image" Target="/ppt/media/image5.png" Id="R0ec5c461b38f45cf" /><Relationship Type="http://schemas.openxmlformats.org/officeDocument/2006/relationships/image" Target="/ppt/media/image6.png" Id="R28b24ac6e6ae4e59" /><Relationship Type="http://schemas.openxmlformats.org/officeDocument/2006/relationships/image" Target="/ppt/media/image7.png" Id="R98adc6812e00400e" /><Relationship Type="http://schemas.openxmlformats.org/officeDocument/2006/relationships/image" Target="/ppt/media/image8.png" Id="R65c970c3b205496e" /><Relationship Type="http://schemas.openxmlformats.org/officeDocument/2006/relationships/image" Target="/ppt/media/image9.png" Id="Rb8613ef7c18b496f" /><Relationship Type="http://schemas.openxmlformats.org/officeDocument/2006/relationships/image" Target="/ppt/media/image10.png" Id="R99556de918624198" /><Relationship Type="http://schemas.openxmlformats.org/officeDocument/2006/relationships/image" Target="/ppt/media/image11.png" Id="R35a104877bed4cdc" /><Relationship Type="http://schemas.openxmlformats.org/officeDocument/2006/relationships/image" Target="/ppt/media/image12.png" Id="R3df47ab4abd74733" /><Relationship Type="http://schemas.openxmlformats.org/officeDocument/2006/relationships/image" Target="/ppt/media/image13.png" Id="R33bd26061e554354" /><Relationship Type="http://schemas.openxmlformats.org/officeDocument/2006/relationships/image" Target="/ppt/media/image14.png" Id="R9ed214a3dfb44e62" /><Relationship Type="http://schemas.openxmlformats.org/officeDocument/2006/relationships/image" Target="/ppt/media/image15.png" Id="Rfb191efc2fe14665" /><Relationship Type="http://schemas.openxmlformats.org/officeDocument/2006/relationships/image" Target="/ppt/media/image16.png" Id="Rc7f94d5b895845f7" /><Relationship Type="http://schemas.openxmlformats.org/officeDocument/2006/relationships/image" Target="/ppt/media/image17.png" Id="R773f73a38ecd4627" /><Relationship Type="http://schemas.openxmlformats.org/officeDocument/2006/relationships/image" Target="/ppt/media/image18.png" Id="R60f2d198a83f45ae" /><Relationship Type="http://schemas.openxmlformats.org/officeDocument/2006/relationships/image" Target="/ppt/media/image19.png" Id="R4ff8e634a57641f4" /><Relationship Type="http://schemas.openxmlformats.org/officeDocument/2006/relationships/image" Target="/ppt/media/image20.png" Id="R9e09d9af1de3486e" /><Relationship Type="http://schemas.openxmlformats.org/officeDocument/2006/relationships/image" Target="/ppt/media/image21.png" Id="R2b0927d937734c66" /><Relationship Type="http://schemas.openxmlformats.org/officeDocument/2006/relationships/image" Target="/ppt/media/image22.png" Id="Rd1e963d7ab8649ed" /><Relationship Type="http://schemas.openxmlformats.org/officeDocument/2006/relationships/image" Target="/ppt/media/image23.png" Id="Rb0c550f3fb314c4d" /><Relationship Type="http://schemas.openxmlformats.org/officeDocument/2006/relationships/image" Target="/ppt/media/image24.png" Id="Rfb2da039cbd14e49" /><Relationship Type="http://schemas.openxmlformats.org/officeDocument/2006/relationships/image" Target="/ppt/media/image25.png" Id="R99501476f7d74057" /><Relationship Type="http://schemas.openxmlformats.org/officeDocument/2006/relationships/image" Target="/ppt/media/image26.png" Id="R17673acce9524f59" /><Relationship Type="http://schemas.openxmlformats.org/officeDocument/2006/relationships/image" Target="/ppt/media/image27.png" Id="R2daa378e69df4582" /><Relationship Type="http://schemas.openxmlformats.org/officeDocument/2006/relationships/image" Target="/ppt/media/image28.png" Id="R686a94c20bd24bf9" /><Relationship Type="http://schemas.openxmlformats.org/officeDocument/2006/relationships/image" Target="/ppt/media/image29.png" Id="Rd2a2f97c90d74d9c" /><Relationship Type="http://schemas.openxmlformats.org/officeDocument/2006/relationships/image" Target="/ppt/media/image30.png" Id="R53286ea7a70347cf" /><Relationship Type="http://schemas.openxmlformats.org/officeDocument/2006/relationships/image" Target="/ppt/media/image31.png" Id="Rcac07cd8c8d54e1a" /><Relationship Type="http://schemas.openxmlformats.org/officeDocument/2006/relationships/image" Target="/ppt/media/image32.png" Id="Re3091b8c8e4b4d62" /><Relationship Type="http://schemas.openxmlformats.org/officeDocument/2006/relationships/image" Target="/ppt/media/image33.png" Id="Re16c1ac22b1b4835" /><Relationship Type="http://schemas.openxmlformats.org/officeDocument/2006/relationships/image" Target="/ppt/media/image34.png" Id="R2163822e2b0348ee" /><Relationship Type="http://schemas.openxmlformats.org/officeDocument/2006/relationships/image" Target="/ppt/media/image35.png" Id="R0d91009756054206" /><Relationship Type="http://schemas.openxmlformats.org/officeDocument/2006/relationships/notesSlide" Target="/ppt/notesSlides/notesSlide1.xml" Id="R5964911e8def44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0" name="initialization">
            <a:extLst xmlns:a="http://schemas.openxmlformats.org/drawingml/2006/main">
              <a:ext uri="{FF2B5EF4-FFF2-40B4-BE49-F238E27FC236}">
                <a16:creationId xmlns:a16="http://schemas.microsoft.com/office/drawing/2014/main" id="{86B7CA35-80A5-4221-B04D-DDD399DC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" y="476250"/>
            <a:ext cx="2828925" cy="3057525"/>
          </a:xfrm>
          <a:custGeom xmlns:a="http://schemas.openxmlformats.org/drawingml/2006/main">
            <a:pathLst>
              <a:path w="2828925" h="3057525">
                <a:moveTo>
                  <a:pt x="85725" y="0"/>
                </a:moveTo>
                <a:lnTo>
                  <a:pt x="2743200" y="0"/>
                </a:lnTo>
                <a:cubicBezTo>
                  <a:pt x="2790545" y="0"/>
                  <a:pt x="2828925" y="38380"/>
                  <a:pt x="2828925" y="85725"/>
                </a:cubicBezTo>
                <a:lnTo>
                  <a:pt x="2828925" y="2971800"/>
                </a:lnTo>
                <a:cubicBezTo>
                  <a:pt x="2828925" y="3019145"/>
                  <a:pt x="2790545" y="3057525"/>
                  <a:pt x="2743200" y="3057525"/>
                </a:cubicBezTo>
                <a:lnTo>
                  <a:pt x="85725" y="3057525"/>
                </a:lnTo>
                <a:cubicBezTo>
                  <a:pt x="38380" y="3057525"/>
                  <a:pt x="0" y="3019145"/>
                  <a:pt x="0" y="29718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AE7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2" name="proposals">
            <a:extLst xmlns:a="http://schemas.openxmlformats.org/drawingml/2006/main">
              <a:ext uri="{FF2B5EF4-FFF2-40B4-BE49-F238E27FC236}">
                <a16:creationId xmlns:a16="http://schemas.microsoft.com/office/drawing/2014/main" id="{003E3F98-68D0-4843-9DF1-5B9F5940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" y="3657600"/>
            <a:ext cx="2828925" cy="1695450"/>
          </a:xfrm>
          <a:custGeom xmlns:a="http://schemas.openxmlformats.org/drawingml/2006/main">
            <a:pathLst>
              <a:path w="2828925" h="1695450">
                <a:moveTo>
                  <a:pt x="85725" y="0"/>
                </a:moveTo>
                <a:lnTo>
                  <a:pt x="2743200" y="0"/>
                </a:lnTo>
                <a:cubicBezTo>
                  <a:pt x="2790545" y="0"/>
                  <a:pt x="2828925" y="38380"/>
                  <a:pt x="2828925" y="85725"/>
                </a:cubicBezTo>
                <a:lnTo>
                  <a:pt x="2828925" y="1609725"/>
                </a:lnTo>
                <a:cubicBezTo>
                  <a:pt x="2828925" y="1657070"/>
                  <a:pt x="2790545" y="1695450"/>
                  <a:pt x="2743200" y="1695450"/>
                </a:cubicBezTo>
                <a:lnTo>
                  <a:pt x="85725" y="1695450"/>
                </a:lnTo>
                <a:cubicBezTo>
                  <a:pt x="38380" y="1695450"/>
                  <a:pt x="0" y="1657070"/>
                  <a:pt x="0" y="160972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FFAE7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3" name="generation">
            <a:extLst xmlns:a="http://schemas.openxmlformats.org/drawingml/2006/main">
              <a:ext uri="{FF2B5EF4-FFF2-40B4-BE49-F238E27FC236}">
                <a16:creationId xmlns:a16="http://schemas.microsoft.com/office/drawing/2014/main" id="{3BC86677-920F-47C4-8025-10CDC35B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466725"/>
            <a:ext cx="4391025" cy="3057525"/>
          </a:xfrm>
          <a:custGeom xmlns:a="http://schemas.openxmlformats.org/drawingml/2006/main">
            <a:pathLst>
              <a:path w="4391025" h="3057525">
                <a:moveTo>
                  <a:pt x="85725" y="0"/>
                </a:moveTo>
                <a:lnTo>
                  <a:pt x="4305300" y="0"/>
                </a:lnTo>
                <a:cubicBezTo>
                  <a:pt x="4352645" y="0"/>
                  <a:pt x="4391025" y="38380"/>
                  <a:pt x="4391025" y="85725"/>
                </a:cubicBezTo>
                <a:lnTo>
                  <a:pt x="4391025" y="2971800"/>
                </a:lnTo>
                <a:cubicBezTo>
                  <a:pt x="4391025" y="3019145"/>
                  <a:pt x="4352645" y="3057525"/>
                  <a:pt x="4305300" y="3057525"/>
                </a:cubicBezTo>
                <a:lnTo>
                  <a:pt x="85725" y="3057525"/>
                </a:lnTo>
                <a:cubicBezTo>
                  <a:pt x="38380" y="3057525"/>
                  <a:pt x="0" y="3019145"/>
                  <a:pt x="0" y="29718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BFFEE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4" name="population">
            <a:extLst xmlns:a="http://schemas.openxmlformats.org/drawingml/2006/main">
              <a:ext uri="{FF2B5EF4-FFF2-40B4-BE49-F238E27FC236}">
                <a16:creationId xmlns:a16="http://schemas.microsoft.com/office/drawing/2014/main" id="{0A6ECD01-3738-4F3D-A447-4541E708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819525"/>
            <a:ext cx="4391025" cy="1552575"/>
          </a:xfrm>
          <a:custGeom xmlns:a="http://schemas.openxmlformats.org/drawingml/2006/main">
            <a:pathLst>
              <a:path w="4391025" h="1552575">
                <a:moveTo>
                  <a:pt x="85725" y="0"/>
                </a:moveTo>
                <a:lnTo>
                  <a:pt x="4305300" y="0"/>
                </a:lnTo>
                <a:cubicBezTo>
                  <a:pt x="4352645" y="0"/>
                  <a:pt x="4391025" y="38380"/>
                  <a:pt x="4391025" y="85725"/>
                </a:cubicBezTo>
                <a:lnTo>
                  <a:pt x="4391025" y="1466850"/>
                </a:lnTo>
                <a:cubicBezTo>
                  <a:pt x="4391025" y="1514195"/>
                  <a:pt x="4352645" y="1552575"/>
                  <a:pt x="4305300" y="1552575"/>
                </a:cubicBezTo>
                <a:lnTo>
                  <a:pt x="85725" y="1552575"/>
                </a:lnTo>
                <a:cubicBezTo>
                  <a:pt x="38380" y="1552575"/>
                  <a:pt x="0" y="1514195"/>
                  <a:pt x="0" y="14668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BFFEE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5" name="supervision">
            <a:extLst xmlns:a="http://schemas.openxmlformats.org/drawingml/2006/main">
              <a:ext uri="{FF2B5EF4-FFF2-40B4-BE49-F238E27FC236}">
                <a16:creationId xmlns:a16="http://schemas.microsoft.com/office/drawing/2014/main" id="{8A9E594B-8A9A-4C76-8D14-000AC117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66725"/>
            <a:ext cx="4429125" cy="2943225"/>
          </a:xfrm>
          <a:custGeom xmlns:a="http://schemas.openxmlformats.org/drawingml/2006/main">
            <a:pathLst>
              <a:path w="4429125" h="2943225">
                <a:moveTo>
                  <a:pt x="85725" y="0"/>
                </a:moveTo>
                <a:lnTo>
                  <a:pt x="4343400" y="0"/>
                </a:lnTo>
                <a:cubicBezTo>
                  <a:pt x="4390745" y="0"/>
                  <a:pt x="4429125" y="38380"/>
                  <a:pt x="4429125" y="85725"/>
                </a:cubicBezTo>
                <a:lnTo>
                  <a:pt x="4429125" y="2857500"/>
                </a:lnTo>
                <a:cubicBezTo>
                  <a:pt x="4429125" y="2904845"/>
                  <a:pt x="4390745" y="2943225"/>
                  <a:pt x="4343400" y="2943225"/>
                </a:cubicBezTo>
                <a:lnTo>
                  <a:pt x="85725" y="2943225"/>
                </a:lnTo>
                <a:cubicBezTo>
                  <a:pt x="38380" y="2943225"/>
                  <a:pt x="0" y="2904845"/>
                  <a:pt x="0" y="285750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5F5FD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6" name="learning">
            <a:extLst xmlns:a="http://schemas.openxmlformats.org/drawingml/2006/main">
              <a:ext uri="{FF2B5EF4-FFF2-40B4-BE49-F238E27FC236}">
                <a16:creationId xmlns:a16="http://schemas.microsoft.com/office/drawing/2014/main" id="{F81086F8-D75C-48DB-81BB-4C64FE73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838575"/>
            <a:ext cx="4438650" cy="1543050"/>
          </a:xfrm>
          <a:custGeom xmlns:a="http://schemas.openxmlformats.org/drawingml/2006/main">
            <a:pathLst>
              <a:path w="4438650" h="1543050">
                <a:moveTo>
                  <a:pt x="85725" y="0"/>
                </a:moveTo>
                <a:lnTo>
                  <a:pt x="4352925" y="0"/>
                </a:lnTo>
                <a:cubicBezTo>
                  <a:pt x="4400270" y="0"/>
                  <a:pt x="4438650" y="38380"/>
                  <a:pt x="4438650" y="85725"/>
                </a:cubicBezTo>
                <a:lnTo>
                  <a:pt x="4438650" y="1457325"/>
                </a:lnTo>
                <a:cubicBezTo>
                  <a:pt x="4438650" y="1504670"/>
                  <a:pt x="4400270" y="1543050"/>
                  <a:pt x="4352925" y="1543050"/>
                </a:cubicBezTo>
                <a:lnTo>
                  <a:pt x="85725" y="1543050"/>
                </a:lnTo>
                <a:cubicBezTo>
                  <a:pt x="38380" y="1543050"/>
                  <a:pt x="0" y="1504670"/>
                  <a:pt x="0" y="145732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FDE6DF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7" name="stage-a">
            <a:extLst xmlns:a="http://schemas.openxmlformats.org/drawingml/2006/main">
              <a:ext uri="{FF2B5EF4-FFF2-40B4-BE49-F238E27FC236}">
                <a16:creationId xmlns:a16="http://schemas.microsoft.com/office/drawing/2014/main" id="{9C609229-5B92-4DE4-9B5C-5E09FC4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762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stage-a-label">
            <a:extLst xmlns:a="http://schemas.openxmlformats.org/drawingml/2006/main">
              <a:ext uri="{FF2B5EF4-FFF2-40B4-BE49-F238E27FC236}">
                <a16:creationId xmlns:a16="http://schemas.microsoft.com/office/drawing/2014/main" id="{2A87AF62-2C4C-4968-B9FB-CBBA75AA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857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A) Task Proposal</a:t>
            </a:r>
          </a:p>
        </p:txBody>
      </p:sp>
      <p:sp>
        <p:nvSpPr>
          <p:cNvPr id="9" name="stage-b">
            <a:extLst xmlns:a="http://schemas.openxmlformats.org/drawingml/2006/main">
              <a:ext uri="{FF2B5EF4-FFF2-40B4-BE49-F238E27FC236}">
                <a16:creationId xmlns:a16="http://schemas.microsoft.com/office/drawing/2014/main" id="{C60D7791-AC8F-4F7A-8A55-C1B8E625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85725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stage-b-label">
            <a:extLst xmlns:a="http://schemas.openxmlformats.org/drawingml/2006/main">
              <a:ext uri="{FF2B5EF4-FFF2-40B4-BE49-F238E27FC236}">
                <a16:creationId xmlns:a16="http://schemas.microsoft.com/office/drawing/2014/main" id="{8B23EDD6-1E13-4496-BEEE-FA7E3355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95250"/>
            <a:ext cx="2162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B) Scene Generation</a:t>
            </a:r>
          </a:p>
        </p:txBody>
      </p:sp>
      <p:sp>
        <p:nvSpPr>
          <p:cNvPr id="11" name="stage-c">
            <a:extLst xmlns:a="http://schemas.openxmlformats.org/drawingml/2006/main">
              <a:ext uri="{FF2B5EF4-FFF2-40B4-BE49-F238E27FC236}">
                <a16:creationId xmlns:a16="http://schemas.microsoft.com/office/drawing/2014/main" id="{727B6221-EDB5-4898-8172-53C4A3C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85725"/>
            <a:ext cx="3286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stage-c-label">
            <a:extLst xmlns:a="http://schemas.openxmlformats.org/drawingml/2006/main">
              <a:ext uri="{FF2B5EF4-FFF2-40B4-BE49-F238E27FC236}">
                <a16:creationId xmlns:a16="http://schemas.microsoft.com/office/drawing/2014/main" id="{8610FC80-09ED-47B5-93A6-A29A43CD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95250"/>
            <a:ext cx="3248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08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8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C) Training Supervision Generation</a:t>
            </a:r>
          </a:p>
        </p:txBody>
      </p:sp>
      <p:sp>
        <p:nvSpPr>
          <p:cNvPr id="13" name="stage-d">
            <a:extLst xmlns:a="http://schemas.openxmlformats.org/drawingml/2006/main">
              <a:ext uri="{FF2B5EF4-FFF2-40B4-BE49-F238E27FC236}">
                <a16:creationId xmlns:a16="http://schemas.microsoft.com/office/drawing/2014/main" id="{3F34357A-9029-4E96-9185-6C95181E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4671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stage-d-label">
            <a:extLst xmlns:a="http://schemas.openxmlformats.org/drawingml/2006/main">
              <a:ext uri="{FF2B5EF4-FFF2-40B4-BE49-F238E27FC236}">
                <a16:creationId xmlns:a16="http://schemas.microsoft.com/office/drawing/2014/main" id="{C2A9E190-AD8B-4933-A871-0C82106F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4766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D) Skill Learning</a:t>
            </a:r>
          </a:p>
        </p:txBody>
      </p:sp>
      <p:sp>
        <p:nvSpPr>
          <p:cNvPr id="15" name="initial-heading">
            <a:extLst xmlns:a="http://schemas.openxmlformats.org/drawingml/2006/main">
              <a:ext uri="{FF2B5EF4-FFF2-40B4-BE49-F238E27FC236}">
                <a16:creationId xmlns:a16="http://schemas.microsoft.com/office/drawing/2014/main" id="{6557D480-130C-4E11-9CAE-0203BD46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5238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Initialization</a:t>
            </a:r>
          </a:p>
        </p:txBody>
      </p:sp>
      <p:sp>
        <p:nvSpPr>
          <p:cNvPr id="16" name="proposal-heading">
            <a:extLst xmlns:a="http://schemas.openxmlformats.org/drawingml/2006/main">
              <a:ext uri="{FF2B5EF4-FFF2-40B4-BE49-F238E27FC236}">
                <a16:creationId xmlns:a16="http://schemas.microsoft.com/office/drawing/2014/main" id="{1CE4DCC1-DA73-469E-8C01-6B71645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7052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Task Proposals</a:t>
            </a:r>
          </a:p>
        </p:txBody>
      </p:sp>
      <p:sp>
        <p:nvSpPr>
          <p:cNvPr id="17" name="configuration-heading">
            <a:extLst xmlns:a="http://schemas.openxmlformats.org/drawingml/2006/main">
              <a:ext uri="{FF2B5EF4-FFF2-40B4-BE49-F238E27FC236}">
                <a16:creationId xmlns:a16="http://schemas.microsoft.com/office/drawing/2014/main" id="{D2BBCDF2-2920-4568-AE13-B7B4F635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5143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Scene Components &amp; Configuration</a:t>
            </a:r>
          </a:p>
        </p:txBody>
      </p:sp>
      <p:sp>
        <p:nvSpPr>
          <p:cNvPr id="18" name="population-heading">
            <a:extLst xmlns:a="http://schemas.openxmlformats.org/drawingml/2006/main">
              <a:ext uri="{FF2B5EF4-FFF2-40B4-BE49-F238E27FC236}">
                <a16:creationId xmlns:a16="http://schemas.microsoft.com/office/drawing/2014/main" id="{AFF0A2F3-CB1A-449A-90F0-0A871FD8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3895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Scene Population</a:t>
            </a:r>
          </a:p>
        </p:txBody>
      </p:sp>
      <p:sp>
        <p:nvSpPr>
          <p:cNvPr id="19" name="decomposition-heading">
            <a:extLst xmlns:a="http://schemas.openxmlformats.org/drawingml/2006/main">
              <a:ext uri="{FF2B5EF4-FFF2-40B4-BE49-F238E27FC236}">
                <a16:creationId xmlns:a16="http://schemas.microsoft.com/office/drawing/2014/main" id="{7F67D571-13C6-40D4-AA7D-BB4744EE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975" y="581025"/>
            <a:ext cx="2390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Task Decomposition</a:t>
            </a:r>
          </a:p>
        </p:txBody>
      </p:sp>
      <p:sp>
        <p:nvSpPr>
          <p:cNvPr id="20" name="reward-heading">
            <a:extLst xmlns:a="http://schemas.openxmlformats.org/drawingml/2006/main">
              <a:ext uri="{FF2B5EF4-FFF2-40B4-BE49-F238E27FC236}">
                <a16:creationId xmlns:a16="http://schemas.microsoft.com/office/drawing/2014/main" id="{197C6C13-47EC-4913-8BAD-019CA5EB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29527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Reward Generation</a:t>
            </a:r>
          </a:p>
        </p:txBody>
      </p:sp>
      <p:sp>
        <p:nvSpPr>
          <p:cNvPr id="21" name="robot-label">
            <a:extLst xmlns:a="http://schemas.openxmlformats.org/drawingml/2006/main">
              <a:ext uri="{FF2B5EF4-FFF2-40B4-BE49-F238E27FC236}">
                <a16:creationId xmlns:a16="http://schemas.microsoft.com/office/drawing/2014/main" id="{83E77969-DDB0-481A-A78F-11A8C722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81915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a) Robot</a:t>
            </a:r>
          </a:p>
        </p:txBody>
      </p:sp>
      <p:sp>
        <p:nvSpPr>
          <p:cNvPr id="22" name="object-label">
            <a:extLst xmlns:a="http://schemas.openxmlformats.org/drawingml/2006/main">
              <a:ext uri="{FF2B5EF4-FFF2-40B4-BE49-F238E27FC236}">
                <a16:creationId xmlns:a16="http://schemas.microsoft.com/office/drawing/2014/main" id="{68676E44-8375-4561-9B3E-78BB25F0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18383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b) Object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07532-F3BE-475E-A761-2580A6F21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c4ffe2b1b43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13347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4" name="robot-arm">
            <a:extLst xmlns:a="http://schemas.openxmlformats.org/drawingml/2006/main">
              <a:ext uri="{FF2B5EF4-FFF2-40B4-BE49-F238E27FC236}">
                <a16:creationId xmlns:a16="http://schemas.microsoft.com/office/drawing/2014/main" id="{630420B2-C97E-4C9C-B9A9-5D92A708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133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FA94C-EDB8-4D4D-9447-F750CDA66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c830737974f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1600" y="1162050"/>
            <a:ext cx="514350" cy="523875"/>
          </a:xfrm>
          <a:prstGeom xmlns:a="http://schemas.openxmlformats.org/drawingml/2006/main" prst="rect">
            <a:avLst/>
          </a:prstGeom>
        </p:spPr>
      </p:pic>
      <p:sp>
        <p:nvSpPr>
          <p:cNvPr id="26" name="robot-small">
            <a:extLst xmlns:a="http://schemas.openxmlformats.org/drawingml/2006/main">
              <a:ext uri="{FF2B5EF4-FFF2-40B4-BE49-F238E27FC236}">
                <a16:creationId xmlns:a16="http://schemas.microsoft.com/office/drawing/2014/main" id="{86594D45-849F-4065-B9DA-49C1A993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1162050"/>
            <a:ext cx="514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4CCEBF-DEC6-43D8-A08C-A37F77D07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8f394e53f44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6925" y="1152525"/>
            <a:ext cx="600075" cy="542925"/>
          </a:xfrm>
          <a:prstGeom xmlns:a="http://schemas.openxmlformats.org/drawingml/2006/main" prst="rect">
            <a:avLst/>
          </a:prstGeom>
        </p:spPr>
      </p:pic>
      <p:sp>
        <p:nvSpPr>
          <p:cNvPr id="28" name="quadruped">
            <a:extLst xmlns:a="http://schemas.openxmlformats.org/drawingml/2006/main">
              <a:ext uri="{FF2B5EF4-FFF2-40B4-BE49-F238E27FC236}">
                <a16:creationId xmlns:a16="http://schemas.microsoft.com/office/drawing/2014/main" id="{65554E7F-071C-4647-8A97-A6B38785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1152525"/>
            <a:ext cx="6000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D0EAFD-E4F5-46EB-8C63-C8EB2B61E9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edc5577d149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2181225"/>
            <a:ext cx="552450" cy="504825"/>
          </a:xfrm>
          <a:prstGeom xmlns:a="http://schemas.openxmlformats.org/drawingml/2006/main" prst="rect">
            <a:avLst/>
          </a:prstGeom>
        </p:spPr>
      </p:pic>
      <p:sp>
        <p:nvSpPr>
          <p:cNvPr id="30" name="microwave">
            <a:extLst xmlns:a="http://schemas.openxmlformats.org/drawingml/2006/main">
              <a:ext uri="{FF2B5EF4-FFF2-40B4-BE49-F238E27FC236}">
                <a16:creationId xmlns:a16="http://schemas.microsoft.com/office/drawing/2014/main" id="{37BE4F39-655C-47A2-BF4C-E723B702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2181225"/>
            <a:ext cx="552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B749F-84FC-4EB7-9A2F-5732C549ED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c5c461b38f45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" y="2105025"/>
            <a:ext cx="495300" cy="590550"/>
          </a:xfrm>
          <a:prstGeom xmlns:a="http://schemas.openxmlformats.org/drawingml/2006/main" prst="rect">
            <a:avLst/>
          </a:prstGeom>
        </p:spPr>
      </p:pic>
      <p:sp>
        <p:nvSpPr>
          <p:cNvPr id="32" name="arm-object">
            <a:extLst xmlns:a="http://schemas.openxmlformats.org/drawingml/2006/main">
              <a:ext uri="{FF2B5EF4-FFF2-40B4-BE49-F238E27FC236}">
                <a16:creationId xmlns:a16="http://schemas.microsoft.com/office/drawing/2014/main" id="{712FF889-8E49-4B77-B3EA-B418472E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105025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36C1D4-ECFD-421F-A6BD-F09CDA31E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24ac6e6ae4e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33550" y="2105025"/>
            <a:ext cx="447675" cy="571500"/>
          </a:xfrm>
          <a:prstGeom xmlns:a="http://schemas.openxmlformats.org/drawingml/2006/main" prst="rect">
            <a:avLst/>
          </a:prstGeom>
        </p:spPr>
      </p:pic>
      <p:sp>
        <p:nvSpPr>
          <p:cNvPr id="34" name="sanitizer">
            <a:extLst xmlns:a="http://schemas.openxmlformats.org/drawingml/2006/main">
              <a:ext uri="{FF2B5EF4-FFF2-40B4-BE49-F238E27FC236}">
                <a16:creationId xmlns:a16="http://schemas.microsoft.com/office/drawing/2014/main" id="{98EF31AB-6A42-4FD0-82F5-ACB85EC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2105025"/>
            <a:ext cx="447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456F97-9325-4A94-A147-E6FB4914B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dc6812e0040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2675" y="2095500"/>
            <a:ext cx="561975" cy="590550"/>
          </a:xfrm>
          <a:prstGeom xmlns:a="http://schemas.openxmlformats.org/drawingml/2006/main" prst="rect">
            <a:avLst/>
          </a:prstGeom>
        </p:spPr>
      </p:pic>
      <p:sp>
        <p:nvSpPr>
          <p:cNvPr id="36" name="suitcase">
            <a:extLst xmlns:a="http://schemas.openxmlformats.org/drawingml/2006/main">
              <a:ext uri="{FF2B5EF4-FFF2-40B4-BE49-F238E27FC236}">
                <a16:creationId xmlns:a16="http://schemas.microsoft.com/office/drawing/2014/main" id="{29F7EF7E-0075-42A8-B5C3-509D0583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2095500"/>
            <a:ext cx="561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6735E0-068F-4EA8-B5E7-ED00E8AEF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970c3b20549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27813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8" name="dishwasher">
            <a:extLst xmlns:a="http://schemas.openxmlformats.org/drawingml/2006/main">
              <a:ext uri="{FF2B5EF4-FFF2-40B4-BE49-F238E27FC236}">
                <a16:creationId xmlns:a16="http://schemas.microsoft.com/office/drawing/2014/main" id="{E0AE7A1F-68AA-4926-95C6-304972E8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453C87-E3D7-4E78-9C7D-BA3DF7F97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13ef7c18b49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" y="2800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0" name="safe">
            <a:extLst xmlns:a="http://schemas.openxmlformats.org/drawingml/2006/main">
              <a:ext uri="{FF2B5EF4-FFF2-40B4-BE49-F238E27FC236}">
                <a16:creationId xmlns:a16="http://schemas.microsoft.com/office/drawing/2014/main" id="{47C6849C-1BB1-459D-9193-4A8A120F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28003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2785CF-31E8-4AB8-8AEA-AC113BCAF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56de9186241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4975" y="2790825"/>
            <a:ext cx="523875" cy="552450"/>
          </a:xfrm>
          <a:prstGeom xmlns:a="http://schemas.openxmlformats.org/drawingml/2006/main" prst="rect">
            <a:avLst/>
          </a:prstGeom>
        </p:spPr>
      </p:pic>
      <p:sp>
        <p:nvSpPr>
          <p:cNvPr id="42" name="laptop">
            <a:extLst xmlns:a="http://schemas.openxmlformats.org/drawingml/2006/main">
              <a:ext uri="{FF2B5EF4-FFF2-40B4-BE49-F238E27FC236}">
                <a16:creationId xmlns:a16="http://schemas.microsoft.com/office/drawing/2014/main" id="{D83B5067-E723-4792-935B-9E19E659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975" y="279082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B4C24A-AD09-47A1-B2D4-0F5563B204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104877bed4c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33625" y="2771775"/>
            <a:ext cx="609600" cy="571500"/>
          </a:xfrm>
          <a:prstGeom xmlns:a="http://schemas.openxmlformats.org/drawingml/2006/main" prst="rect">
            <a:avLst/>
          </a:prstGeom>
        </p:spPr>
      </p:pic>
      <p:sp>
        <p:nvSpPr>
          <p:cNvPr id="44" name="cabinet">
            <a:extLst xmlns:a="http://schemas.openxmlformats.org/drawingml/2006/main">
              <a:ext uri="{FF2B5EF4-FFF2-40B4-BE49-F238E27FC236}">
                <a16:creationId xmlns:a16="http://schemas.microsoft.com/office/drawing/2014/main" id="{7A35DC23-1777-463B-A131-4C4B96DA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771775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task-llm">
            <a:extLst xmlns:a="http://schemas.openxmlformats.org/drawingml/2006/main">
              <a:ext uri="{FF2B5EF4-FFF2-40B4-BE49-F238E27FC236}">
                <a16:creationId xmlns:a16="http://schemas.microsoft.com/office/drawing/2014/main" id="{7D289A6D-A899-4E13-9D7B-669488FB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4429125"/>
            <a:ext cx="4095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AFB"/>
          </a:solidFill>
          <a:ln xmlns:a="http://schemas.openxmlformats.org/drawingml/2006/main" w="17145">
            <a:solidFill>
              <a:srgbClr val="4C88A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task-llm-label">
            <a:extLst xmlns:a="http://schemas.openxmlformats.org/drawingml/2006/main">
              <a:ext uri="{FF2B5EF4-FFF2-40B4-BE49-F238E27FC236}">
                <a16:creationId xmlns:a16="http://schemas.microsoft.com/office/drawing/2014/main" id="{13252D08-F235-41B7-B998-FF4EBF8B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4457700"/>
            <a:ext cx="409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356B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356B9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56B96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47" name="scene-llm">
            <a:extLst xmlns:a="http://schemas.openxmlformats.org/drawingml/2006/main">
              <a:ext uri="{FF2B5EF4-FFF2-40B4-BE49-F238E27FC236}">
                <a16:creationId xmlns:a16="http://schemas.microsoft.com/office/drawing/2014/main" id="{A9EB9B35-DADA-428D-ABD6-D10215E1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771525"/>
            <a:ext cx="400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AFB"/>
          </a:solidFill>
          <a:ln xmlns:a="http://schemas.openxmlformats.org/drawingml/2006/main" w="17145">
            <a:solidFill>
              <a:srgbClr val="4C88A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scene-llm-label">
            <a:extLst xmlns:a="http://schemas.openxmlformats.org/drawingml/2006/main">
              <a:ext uri="{FF2B5EF4-FFF2-40B4-BE49-F238E27FC236}">
                <a16:creationId xmlns:a16="http://schemas.microsoft.com/office/drawing/2014/main" id="{1A06B256-DFE9-44AF-9805-FD7AC81E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80010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356B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356B9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56B96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49" name="supervision-llm">
            <a:extLst xmlns:a="http://schemas.openxmlformats.org/drawingml/2006/main">
              <a:ext uri="{FF2B5EF4-FFF2-40B4-BE49-F238E27FC236}">
                <a16:creationId xmlns:a16="http://schemas.microsoft.com/office/drawing/2014/main" id="{E20D062C-E57F-4A03-8070-EC1EE102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790575"/>
            <a:ext cx="400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AFB"/>
          </a:solidFill>
          <a:ln xmlns:a="http://schemas.openxmlformats.org/drawingml/2006/main" w="17145">
            <a:solidFill>
              <a:srgbClr val="4C88A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supervision-llm-label">
            <a:extLst xmlns:a="http://schemas.openxmlformats.org/drawingml/2006/main">
              <a:ext uri="{FF2B5EF4-FFF2-40B4-BE49-F238E27FC236}">
                <a16:creationId xmlns:a16="http://schemas.microsoft.com/office/drawing/2014/main" id="{0344A9E5-9CC6-441A-B094-6BD4EDD2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819150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356B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356B9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56B96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51" name="reward-llm">
            <a:extLst xmlns:a="http://schemas.openxmlformats.org/drawingml/2006/main">
              <a:ext uri="{FF2B5EF4-FFF2-40B4-BE49-F238E27FC236}">
                <a16:creationId xmlns:a16="http://schemas.microsoft.com/office/drawing/2014/main" id="{99DEFCC8-C6FF-41A1-AB08-654B4476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24669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AFB"/>
          </a:solidFill>
          <a:ln xmlns:a="http://schemas.openxmlformats.org/drawingml/2006/main" w="17145">
            <a:solidFill>
              <a:srgbClr val="4C88A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reward-llm-label">
            <a:extLst xmlns:a="http://schemas.openxmlformats.org/drawingml/2006/main">
              <a:ext uri="{FF2B5EF4-FFF2-40B4-BE49-F238E27FC236}">
                <a16:creationId xmlns:a16="http://schemas.microsoft.com/office/drawing/2014/main" id="{7E25CB82-53B6-49CB-BC9D-BFFA2322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2495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356B9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356B9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56B96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53" name="proposal1">
            <a:extLst xmlns:a="http://schemas.openxmlformats.org/drawingml/2006/main">
              <a:ext uri="{FF2B5EF4-FFF2-40B4-BE49-F238E27FC236}">
                <a16:creationId xmlns:a16="http://schemas.microsoft.com/office/drawing/2014/main" id="{B153710A-DE92-4177-B6B4-C8A6B246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952875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FFF"/>
          </a:solidFill>
          <a:ln xmlns:a="http://schemas.openxmlformats.org/drawingml/2006/main" w="14288">
            <a:solidFill>
              <a:srgbClr val="16161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proposal1-label">
            <a:extLst xmlns:a="http://schemas.openxmlformats.org/drawingml/2006/main">
              <a:ext uri="{FF2B5EF4-FFF2-40B4-BE49-F238E27FC236}">
                <a16:creationId xmlns:a16="http://schemas.microsoft.com/office/drawing/2014/main" id="{E8926B9C-F92A-4CD0-A613-4E299C1F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39624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“Retrive one gold bar</a:t>
            </a:r>
          </a:p>
          <a:p xmlns:a="http://schemas.openxmlformats.org/drawingml/2006/main">
            <a: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lock the safe”</a:t>
            </a:r>
          </a:p>
        </p:txBody>
      </p:sp>
      <p:sp>
        <p:nvSpPr>
          <p:cNvPr id="55" name="proposal2">
            <a:extLst xmlns:a="http://schemas.openxmlformats.org/drawingml/2006/main">
              <a:ext uri="{FF2B5EF4-FFF2-40B4-BE49-F238E27FC236}">
                <a16:creationId xmlns:a16="http://schemas.microsoft.com/office/drawing/2014/main" id="{2B83D9DA-C1DB-468C-8FFF-AE647A2B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35292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FFF"/>
          </a:solidFill>
          <a:ln xmlns:a="http://schemas.openxmlformats.org/drawingml/2006/main" w="14288">
            <a:solidFill>
              <a:srgbClr val="16161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proposal2-label">
            <a:extLst xmlns:a="http://schemas.openxmlformats.org/drawingml/2006/main">
              <a:ext uri="{FF2B5EF4-FFF2-40B4-BE49-F238E27FC236}">
                <a16:creationId xmlns:a16="http://schemas.microsoft.com/office/drawing/2014/main" id="{30F5D47A-7A7E-4C01-A5B4-A87006A9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3624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“Heat up a bowl of soup</a:t>
            </a:r>
          </a:p>
          <a:p xmlns:a="http://schemas.openxmlformats.org/drawingml/2006/main">
            <a: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the microwave”</a:t>
            </a:r>
          </a:p>
        </p:txBody>
      </p:sp>
      <p:sp>
        <p:nvSpPr>
          <p:cNvPr id="57" name="proposal3">
            <a:extLst xmlns:a="http://schemas.openxmlformats.org/drawingml/2006/main">
              <a:ext uri="{FF2B5EF4-FFF2-40B4-BE49-F238E27FC236}">
                <a16:creationId xmlns:a16="http://schemas.microsoft.com/office/drawing/2014/main" id="{BE0F6E58-6DBD-4BB6-B5BA-79583478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4752975"/>
            <a:ext cx="11715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FFF"/>
          </a:solidFill>
          <a:ln xmlns:a="http://schemas.openxmlformats.org/drawingml/2006/main" w="14288">
            <a:solidFill>
              <a:srgbClr val="16161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proposal3-label">
            <a:extLst xmlns:a="http://schemas.openxmlformats.org/drawingml/2006/main">
              <a:ext uri="{FF2B5EF4-FFF2-40B4-BE49-F238E27FC236}">
                <a16:creationId xmlns:a16="http://schemas.microsoft.com/office/drawing/2014/main" id="{279C41A2-EE9E-4E30-B0A4-9AC58B65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" y="476250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“Close the laptop lid”</a:t>
            </a:r>
          </a:p>
        </p:txBody>
      </p:sp>
      <p:sp>
        <p:nvSpPr>
          <p:cNvPr id="59" name="proposal4">
            <a:extLst xmlns:a="http://schemas.openxmlformats.org/drawingml/2006/main">
              <a:ext uri="{FF2B5EF4-FFF2-40B4-BE49-F238E27FC236}">
                <a16:creationId xmlns:a16="http://schemas.microsoft.com/office/drawing/2014/main" id="{541AE799-A484-449B-B05B-8311EDB9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5019675"/>
            <a:ext cx="11525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FFF"/>
          </a:solidFill>
          <a:ln xmlns:a="http://schemas.openxmlformats.org/drawingml/2006/main" w="14288">
            <a:solidFill>
              <a:srgbClr val="16161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proposal4-label">
            <a:extLst xmlns:a="http://schemas.openxmlformats.org/drawingml/2006/main">
              <a:ext uri="{FF2B5EF4-FFF2-40B4-BE49-F238E27FC236}">
                <a16:creationId xmlns:a16="http://schemas.microsoft.com/office/drawing/2014/main" id="{58350C02-B7B0-4B5D-B461-4F920135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5029200"/>
            <a:ext cx="1114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“Climb up the stairs”</a:t>
            </a:r>
          </a:p>
        </p:txBody>
      </p:sp>
      <p:sp>
        <p:nvSpPr>
          <p:cNvPr id="61" name="proposal-ellipsis">
            <a:extLst xmlns:a="http://schemas.openxmlformats.org/drawingml/2006/main">
              <a:ext uri="{FF2B5EF4-FFF2-40B4-BE49-F238E27FC236}">
                <a16:creationId xmlns:a16="http://schemas.microsoft.com/office/drawing/2014/main" id="{011EA490-B577-41C6-9E3C-91A3C88E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5219700"/>
            <a:ext cx="3143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......</a:t>
            </a:r>
          </a:p>
        </p:txBody>
      </p:sp>
      <p:sp>
        <p:nvSpPr>
          <p:cNvPr id="62" name="proposal-flow-0">
            <a:extLst xmlns:a="http://schemas.openxmlformats.org/drawingml/2006/main">
              <a:ext uri="{FF2B5EF4-FFF2-40B4-BE49-F238E27FC236}">
                <a16:creationId xmlns:a16="http://schemas.microsoft.com/office/drawing/2014/main" id="{6AE8181B-C5F6-4335-89E1-32D9A564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086225"/>
            <a:ext cx="933450" cy="515303"/>
          </a:xfrm>
          <a:custGeom xmlns:a="http://schemas.openxmlformats.org/drawingml/2006/main">
            <a:pathLst>
              <a:path w="933450" h="515303">
                <a:moveTo>
                  <a:pt x="0" y="514350"/>
                </a:moveTo>
                <a:cubicBezTo>
                  <a:pt x="361950" y="514350"/>
                  <a:pt x="438150" y="0"/>
                  <a:pt x="933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63" name="proposal-tip-0">
            <a:extLst xmlns:a="http://schemas.openxmlformats.org/drawingml/2006/main">
              <a:ext uri="{FF2B5EF4-FFF2-40B4-BE49-F238E27FC236}">
                <a16:creationId xmlns:a16="http://schemas.microsoft.com/office/drawing/2014/main" id="{99BCCB63-2B82-4754-9702-5AACB25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086225"/>
            <a:ext cx="104775" cy="953"/>
          </a:xfrm>
          <a:custGeom xmlns:a="http://schemas.openxmlformats.org/drawingml/2006/main">
            <a:pathLst>
              <a:path w="104775" h="953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64" name="proposal-tip-0-arrow">
            <a:extLst xmlns:a="http://schemas.openxmlformats.org/drawingml/2006/main">
              <a:ext uri="{FF2B5EF4-FFF2-40B4-BE49-F238E27FC236}">
                <a16:creationId xmlns:a16="http://schemas.microsoft.com/office/drawing/2014/main" id="{EAD71EE3-BDBE-455F-A166-4AE87BE0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054888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65" name="proposal-flow-1">
            <a:extLst xmlns:a="http://schemas.openxmlformats.org/drawingml/2006/main">
              <a:ext uri="{FF2B5EF4-FFF2-40B4-BE49-F238E27FC236}">
                <a16:creationId xmlns:a16="http://schemas.microsoft.com/office/drawing/2014/main" id="{960E254E-3A86-4896-B57C-8394ECA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476750"/>
            <a:ext cx="933450" cy="124778"/>
          </a:xfrm>
          <a:custGeom xmlns:a="http://schemas.openxmlformats.org/drawingml/2006/main">
            <a:pathLst>
              <a:path w="933450" h="124778">
                <a:moveTo>
                  <a:pt x="0" y="123825"/>
                </a:moveTo>
                <a:cubicBezTo>
                  <a:pt x="361950" y="123825"/>
                  <a:pt x="438150" y="0"/>
                  <a:pt x="933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66" name="proposal-tip-1">
            <a:extLst xmlns:a="http://schemas.openxmlformats.org/drawingml/2006/main">
              <a:ext uri="{FF2B5EF4-FFF2-40B4-BE49-F238E27FC236}">
                <a16:creationId xmlns:a16="http://schemas.microsoft.com/office/drawing/2014/main" id="{6A87EAA3-146E-4A4C-8037-BC2A9762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476750"/>
            <a:ext cx="104775" cy="953"/>
          </a:xfrm>
          <a:custGeom xmlns:a="http://schemas.openxmlformats.org/drawingml/2006/main">
            <a:pathLst>
              <a:path w="104775" h="953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67" name="proposal-tip-1-arrow">
            <a:extLst xmlns:a="http://schemas.openxmlformats.org/drawingml/2006/main">
              <a:ext uri="{FF2B5EF4-FFF2-40B4-BE49-F238E27FC236}">
                <a16:creationId xmlns:a16="http://schemas.microsoft.com/office/drawing/2014/main" id="{343797CF-6B74-49C9-8BFF-CE6F96A7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445413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68" name="proposal-flow-2">
            <a:extLst xmlns:a="http://schemas.openxmlformats.org/drawingml/2006/main">
              <a:ext uri="{FF2B5EF4-FFF2-40B4-BE49-F238E27FC236}">
                <a16:creationId xmlns:a16="http://schemas.microsoft.com/office/drawing/2014/main" id="{4928FA65-6AEF-4943-BD4B-42A8ABB1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600575"/>
            <a:ext cx="933450" cy="248603"/>
          </a:xfrm>
          <a:custGeom xmlns:a="http://schemas.openxmlformats.org/drawingml/2006/main">
            <a:pathLst>
              <a:path w="933450" h="248603">
                <a:moveTo>
                  <a:pt x="0" y="0"/>
                </a:moveTo>
                <a:cubicBezTo>
                  <a:pt x="361950" y="0"/>
                  <a:pt x="438150" y="247650"/>
                  <a:pt x="933450" y="2476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69" name="proposal-tip-2">
            <a:extLst xmlns:a="http://schemas.openxmlformats.org/drawingml/2006/main">
              <a:ext uri="{FF2B5EF4-FFF2-40B4-BE49-F238E27FC236}">
                <a16:creationId xmlns:a16="http://schemas.microsoft.com/office/drawing/2014/main" id="{4A70FB23-2C28-43DE-AF81-33F5AE13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848225"/>
            <a:ext cx="104775" cy="953"/>
          </a:xfrm>
          <a:custGeom xmlns:a="http://schemas.openxmlformats.org/drawingml/2006/main">
            <a:pathLst>
              <a:path w="104775" h="953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70" name="proposal-tip-2-arrow">
            <a:extLst xmlns:a="http://schemas.openxmlformats.org/drawingml/2006/main">
              <a:ext uri="{FF2B5EF4-FFF2-40B4-BE49-F238E27FC236}">
                <a16:creationId xmlns:a16="http://schemas.microsoft.com/office/drawing/2014/main" id="{F4001199-0B25-47AE-98AB-6322E45E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816888"/>
            <a:ext cx="66675" cy="62674"/>
          </a:xfrm>
          <a:custGeom xmlns:a="http://schemas.openxmlformats.org/drawingml/2006/main">
            <a:pathLst>
              <a:path w="66675" h="62674">
                <a:moveTo>
                  <a:pt x="66675" y="31337"/>
                </a:moveTo>
                <a:lnTo>
                  <a:pt x="0" y="626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71" name="proposal-flow-3">
            <a:extLst xmlns:a="http://schemas.openxmlformats.org/drawingml/2006/main">
              <a:ext uri="{FF2B5EF4-FFF2-40B4-BE49-F238E27FC236}">
                <a16:creationId xmlns:a16="http://schemas.microsoft.com/office/drawing/2014/main" id="{2889661A-4B98-4599-8129-BCA7C9CF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600575"/>
            <a:ext cx="933450" cy="515303"/>
          </a:xfrm>
          <a:custGeom xmlns:a="http://schemas.openxmlformats.org/drawingml/2006/main">
            <a:pathLst>
              <a:path w="933450" h="515303">
                <a:moveTo>
                  <a:pt x="0" y="0"/>
                </a:moveTo>
                <a:cubicBezTo>
                  <a:pt x="361950" y="0"/>
                  <a:pt x="438150" y="514350"/>
                  <a:pt x="933450" y="5143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72" name="proposal-tip-3">
            <a:extLst xmlns:a="http://schemas.openxmlformats.org/drawingml/2006/main">
              <a:ext uri="{FF2B5EF4-FFF2-40B4-BE49-F238E27FC236}">
                <a16:creationId xmlns:a16="http://schemas.microsoft.com/office/drawing/2014/main" id="{7A1689C8-BB43-45EA-B8F2-3D07ADE3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114925"/>
            <a:ext cx="104775" cy="953"/>
          </a:xfrm>
          <a:custGeom xmlns:a="http://schemas.openxmlformats.org/drawingml/2006/main">
            <a:pathLst>
              <a:path w="104775" h="953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73" name="proposal-tip-3-arrow">
            <a:extLst xmlns:a="http://schemas.openxmlformats.org/drawingml/2006/main">
              <a:ext uri="{FF2B5EF4-FFF2-40B4-BE49-F238E27FC236}">
                <a16:creationId xmlns:a16="http://schemas.microsoft.com/office/drawing/2014/main" id="{5B932C6A-4D35-4B2F-A87D-6759B2A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5083588"/>
            <a:ext cx="66675" cy="62674"/>
          </a:xfrm>
          <a:custGeom xmlns:a="http://schemas.openxmlformats.org/drawingml/2006/main">
            <a:pathLst>
              <a:path w="66675" h="62674">
                <a:moveTo>
                  <a:pt x="66675" y="31337"/>
                </a:moveTo>
                <a:lnTo>
                  <a:pt x="0" y="626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74" name="proposal-init-robot">
            <a:extLst xmlns:a="http://schemas.openxmlformats.org/drawingml/2006/main">
              <a:ext uri="{FF2B5EF4-FFF2-40B4-BE49-F238E27FC236}">
                <a16:creationId xmlns:a16="http://schemas.microsoft.com/office/drawing/2014/main" id="{EC8D65C7-64FD-4F88-99EB-0E7379D1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942975"/>
            <a:ext cx="295275" cy="3667125"/>
          </a:xfrm>
          <a:custGeom xmlns:a="http://schemas.openxmlformats.org/drawingml/2006/main">
            <a:pathLst>
              <a:path w="295275" h="3667125">
                <a:moveTo>
                  <a:pt x="295275" y="0"/>
                </a:moveTo>
                <a:lnTo>
                  <a:pt x="0" y="0"/>
                </a:lnTo>
                <a:lnTo>
                  <a:pt x="0" y="3667125"/>
                </a:lnTo>
                <a:lnTo>
                  <a:pt x="238125" y="36671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61616"/>
            </a:solidFill>
            <a:prstDash val="solid"/>
          </a:ln>
        </p:spPr>
      </p:sp>
      <p:sp>
        <p:nvSpPr>
          <p:cNvPr id="75" name="proposal-init-robot-arrow">
            <a:extLst xmlns:a="http://schemas.openxmlformats.org/drawingml/2006/main">
              <a:ext uri="{FF2B5EF4-FFF2-40B4-BE49-F238E27FC236}">
                <a16:creationId xmlns:a16="http://schemas.microsoft.com/office/drawing/2014/main" id="{1A9E9FA7-DDA6-4D85-BDF8-85920EF7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942975"/>
            <a:ext cx="295275" cy="953"/>
          </a:xfrm>
          <a:custGeom xmlns:a="http://schemas.openxmlformats.org/drawingml/2006/main">
            <a:pathLst>
              <a:path w="295275" h="953">
                <a:moveTo>
                  <a:pt x="2952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61616"/>
            </a:solidFill>
            <a:prstDash val="solid"/>
          </a:ln>
        </p:spPr>
      </p:sp>
      <p:sp>
        <p:nvSpPr>
          <p:cNvPr id="76" name="proposal-init-robot-arrow-arrow">
            <a:extLst xmlns:a="http://schemas.openxmlformats.org/drawingml/2006/main">
              <a:ext uri="{FF2B5EF4-FFF2-40B4-BE49-F238E27FC236}">
                <a16:creationId xmlns:a16="http://schemas.microsoft.com/office/drawing/2014/main" id="{BDADFFB4-D053-4F6D-8C32-281FD3B7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911638"/>
            <a:ext cx="66675" cy="62675"/>
          </a:xfrm>
          <a:custGeom xmlns:a="http://schemas.openxmlformats.org/drawingml/2006/main">
            <a:pathLst>
              <a:path w="66675" h="62675">
                <a:moveTo>
                  <a:pt x="0" y="31337"/>
                </a:moveTo>
                <a:lnTo>
                  <a:pt x="66675" y="0"/>
                </a:lnTo>
                <a:lnTo>
                  <a:pt x="66675" y="62675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  <a:ln xmlns:a="http://schemas.openxmlformats.org/drawingml/2006/main" w="0">
            <a:solidFill>
              <a:srgbClr val="161616"/>
            </a:solidFill>
            <a:prstDash val="solid"/>
          </a:ln>
        </p:spPr>
      </p:sp>
      <p:sp>
        <p:nvSpPr>
          <p:cNvPr id="77" name="proposal-init-llm-arrow">
            <a:extLst xmlns:a="http://schemas.openxmlformats.org/drawingml/2006/main">
              <a:ext uri="{FF2B5EF4-FFF2-40B4-BE49-F238E27FC236}">
                <a16:creationId xmlns:a16="http://schemas.microsoft.com/office/drawing/2014/main" id="{BA911243-8DDF-412E-A3FC-8F3C47DC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4610100"/>
            <a:ext cx="95250" cy="95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61616"/>
            </a:solidFill>
            <a:prstDash val="solid"/>
          </a:ln>
        </p:spPr>
      </p:sp>
      <p:sp>
        <p:nvSpPr>
          <p:cNvPr id="78" name="proposal-init-llm-arrow-arrow">
            <a:extLst xmlns:a="http://schemas.openxmlformats.org/drawingml/2006/main">
              <a:ext uri="{FF2B5EF4-FFF2-40B4-BE49-F238E27FC236}">
                <a16:creationId xmlns:a16="http://schemas.microsoft.com/office/drawing/2014/main" id="{E9E923F7-D17E-4076-9597-25890DE1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4578763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  <a:ln xmlns:a="http://schemas.openxmlformats.org/drawingml/2006/main" w="0">
            <a:solidFill>
              <a:srgbClr val="161616"/>
            </a:solidFill>
            <a:prstDash val="solid"/>
          </a:ln>
        </p:spPr>
      </p:sp>
      <p:sp>
        <p:nvSpPr>
          <p:cNvPr id="79" name="proposal-init-object">
            <a:extLst xmlns:a="http://schemas.openxmlformats.org/drawingml/2006/main">
              <a:ext uri="{FF2B5EF4-FFF2-40B4-BE49-F238E27FC236}">
                <a16:creationId xmlns:a16="http://schemas.microsoft.com/office/drawing/2014/main" id="{ACC635A3-E878-446E-AF25-7A33AE13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1943100"/>
            <a:ext cx="295275" cy="953"/>
          </a:xfrm>
          <a:custGeom xmlns:a="http://schemas.openxmlformats.org/drawingml/2006/main">
            <a:pathLst>
              <a:path w="295275" h="953">
                <a:moveTo>
                  <a:pt x="2952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61616"/>
            </a:solidFill>
            <a:prstDash val="solid"/>
          </a:ln>
        </p:spPr>
      </p:sp>
      <p:sp>
        <p:nvSpPr>
          <p:cNvPr id="80" name="proposal-init-object-arrow">
            <a:extLst xmlns:a="http://schemas.openxmlformats.org/drawingml/2006/main">
              <a:ext uri="{FF2B5EF4-FFF2-40B4-BE49-F238E27FC236}">
                <a16:creationId xmlns:a16="http://schemas.microsoft.com/office/drawing/2014/main" id="{1F9DCADE-40E7-4DB2-8B5B-8EF8E1E1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1911763"/>
            <a:ext cx="66675" cy="62674"/>
          </a:xfrm>
          <a:custGeom xmlns:a="http://schemas.openxmlformats.org/drawingml/2006/main">
            <a:pathLst>
              <a:path w="66675" h="62674">
                <a:moveTo>
                  <a:pt x="0" y="31337"/>
                </a:moveTo>
                <a:lnTo>
                  <a:pt x="66675" y="0"/>
                </a:lnTo>
                <a:lnTo>
                  <a:pt x="66675" y="62674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  <a:ln xmlns:a="http://schemas.openxmlformats.org/drawingml/2006/main" w="0">
            <a:solidFill>
              <a:srgbClr val="161616"/>
            </a:solidFill>
            <a:prstDash val="solid"/>
          </a:ln>
        </p:spPr>
      </p:sp>
      <p:sp>
        <p:nvSpPr>
          <p:cNvPr id="81" name="proposal-to-scenes">
            <a:extLst xmlns:a="http://schemas.openxmlformats.org/drawingml/2006/main">
              <a:ext uri="{FF2B5EF4-FFF2-40B4-BE49-F238E27FC236}">
                <a16:creationId xmlns:a16="http://schemas.microsoft.com/office/drawing/2014/main" id="{2F833A9B-304D-4F32-A53B-05E5DA97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933450"/>
            <a:ext cx="2476500" cy="3676650"/>
          </a:xfrm>
          <a:custGeom xmlns:a="http://schemas.openxmlformats.org/drawingml/2006/main">
            <a:pathLst>
              <a:path w="2476500" h="3676650">
                <a:moveTo>
                  <a:pt x="0" y="3676650"/>
                </a:moveTo>
                <a:lnTo>
                  <a:pt x="161925" y="3676650"/>
                </a:lnTo>
                <a:lnTo>
                  <a:pt x="161925" y="0"/>
                </a:ln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61616"/>
            </a:solidFill>
            <a:prstDash val="solid"/>
          </a:ln>
        </p:spPr>
      </p:sp>
      <p:sp>
        <p:nvSpPr>
          <p:cNvPr id="82" name="proposal-to-scenes-arrow">
            <a:extLst xmlns:a="http://schemas.openxmlformats.org/drawingml/2006/main">
              <a:ext uri="{FF2B5EF4-FFF2-40B4-BE49-F238E27FC236}">
                <a16:creationId xmlns:a16="http://schemas.microsoft.com/office/drawing/2014/main" id="{D4527131-6D2B-4A0A-B8F4-57B124E1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902113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  <a:ln xmlns:a="http://schemas.openxmlformats.org/drawingml/2006/main" w="0">
            <a:solidFill>
              <a:srgbClr val="161616"/>
            </a:solidFill>
            <a:prstDash val="solid"/>
          </a:ln>
        </p:spPr>
      </p:sp>
      <p:sp>
        <p:nvSpPr>
          <p:cNvPr id="83" name="relevant-assets">
            <a:extLst xmlns:a="http://schemas.openxmlformats.org/drawingml/2006/main">
              <a:ext uri="{FF2B5EF4-FFF2-40B4-BE49-F238E27FC236}">
                <a16:creationId xmlns:a16="http://schemas.microsoft.com/office/drawing/2014/main" id="{955EDED6-BF20-4CC7-997B-49CACDA5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1457325"/>
            <a:ext cx="828675" cy="381000"/>
          </a:xfrm>
          <a:custGeom xmlns:a="http://schemas.openxmlformats.org/drawingml/2006/main">
            <a:pathLst>
              <a:path w="828675" h="381000">
                <a:moveTo>
                  <a:pt x="57150" y="0"/>
                </a:moveTo>
                <a:lnTo>
                  <a:pt x="771525" y="0"/>
                </a:lnTo>
                <a:cubicBezTo>
                  <a:pt x="803088" y="0"/>
                  <a:pt x="828675" y="25587"/>
                  <a:pt x="828675" y="57150"/>
                </a:cubicBezTo>
                <a:lnTo>
                  <a:pt x="828675" y="323850"/>
                </a:lnTo>
                <a:cubicBezTo>
                  <a:pt x="828675" y="355413"/>
                  <a:pt x="803088" y="381000"/>
                  <a:pt x="771525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5E5F7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84" name="relevant-assets-label">
            <a:extLst xmlns:a="http://schemas.openxmlformats.org/drawingml/2006/main">
              <a:ext uri="{FF2B5EF4-FFF2-40B4-BE49-F238E27FC236}">
                <a16:creationId xmlns:a16="http://schemas.microsoft.com/office/drawing/2014/main" id="{3E895F00-D650-4E29-BE36-07172CA3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475" y="1485900"/>
            <a:ext cx="790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Relevant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Assets</a:t>
            </a:r>
          </a:p>
        </p:txBody>
      </p:sp>
      <p:sp>
        <p:nvSpPr>
          <p:cNvPr id="85" name="relevant-assets-input">
            <a:extLst xmlns:a="http://schemas.openxmlformats.org/drawingml/2006/main">
              <a:ext uri="{FF2B5EF4-FFF2-40B4-BE49-F238E27FC236}">
                <a16:creationId xmlns:a16="http://schemas.microsoft.com/office/drawing/2014/main" id="{2A1D3EF4-6D64-466F-AAFE-726D5388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763" y="1076325"/>
            <a:ext cx="1919288" cy="381000"/>
          </a:xfrm>
          <a:custGeom xmlns:a="http://schemas.openxmlformats.org/drawingml/2006/main">
            <a:pathLst>
              <a:path w="1919288" h="381000">
                <a:moveTo>
                  <a:pt x="1909763" y="0"/>
                </a:moveTo>
                <a:cubicBezTo>
                  <a:pt x="1909763" y="209550"/>
                  <a:pt x="0" y="104775"/>
                  <a:pt x="0" y="352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86" name="relevant-assets-input-tip">
            <a:extLst xmlns:a="http://schemas.openxmlformats.org/drawingml/2006/main">
              <a:ext uri="{FF2B5EF4-FFF2-40B4-BE49-F238E27FC236}">
                <a16:creationId xmlns:a16="http://schemas.microsoft.com/office/drawing/2014/main" id="{CF2849D8-2A0B-443E-B5F6-6FA5E57D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763" y="138112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87" name="relevant-assets-input-tip-arrow">
            <a:extLst xmlns:a="http://schemas.openxmlformats.org/drawingml/2006/main">
              <a:ext uri="{FF2B5EF4-FFF2-40B4-BE49-F238E27FC236}">
                <a16:creationId xmlns:a16="http://schemas.microsoft.com/office/drawing/2014/main" id="{9D368752-80D5-4825-9958-C34232BE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7902" y="1381125"/>
            <a:ext cx="53721" cy="57150"/>
          </a:xfrm>
          <a:custGeom xmlns:a="http://schemas.openxmlformats.org/drawingml/2006/main">
            <a:pathLst>
              <a:path w="53721" h="57150">
                <a:moveTo>
                  <a:pt x="26860" y="57150"/>
                </a:moveTo>
                <a:lnTo>
                  <a:pt x="0" y="0"/>
                </a:lnTo>
                <a:lnTo>
                  <a:pt x="53721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88" name="relevant-assets-output">
            <a:extLst xmlns:a="http://schemas.openxmlformats.org/drawingml/2006/main">
              <a:ext uri="{FF2B5EF4-FFF2-40B4-BE49-F238E27FC236}">
                <a16:creationId xmlns:a16="http://schemas.microsoft.com/office/drawing/2014/main" id="{400D4FAB-CB3E-4D8E-8BC5-BC93EB82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763" y="1847850"/>
            <a:ext cx="2071688" cy="371475"/>
          </a:xfrm>
          <a:custGeom xmlns:a="http://schemas.openxmlformats.org/drawingml/2006/main">
            <a:pathLst>
              <a:path w="2071688" h="371475">
                <a:moveTo>
                  <a:pt x="0" y="0"/>
                </a:moveTo>
                <a:cubicBezTo>
                  <a:pt x="0" y="304800"/>
                  <a:pt x="2062163" y="38100"/>
                  <a:pt x="2062163" y="352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56B96"/>
            </a:solidFill>
            <a:prstDash val="solid"/>
          </a:ln>
        </p:spPr>
      </p:sp>
      <p:sp>
        <p:nvSpPr>
          <p:cNvPr id="89" name="asset-sizes">
            <a:extLst xmlns:a="http://schemas.openxmlformats.org/drawingml/2006/main">
              <a:ext uri="{FF2B5EF4-FFF2-40B4-BE49-F238E27FC236}">
                <a16:creationId xmlns:a16="http://schemas.microsoft.com/office/drawing/2014/main" id="{143EE227-8B94-4952-9654-9B0714B4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1025" y="1457325"/>
            <a:ext cx="590550" cy="381000"/>
          </a:xfrm>
          <a:custGeom xmlns:a="http://schemas.openxmlformats.org/drawingml/2006/main">
            <a:pathLst>
              <a:path w="590550" h="381000">
                <a:moveTo>
                  <a:pt x="57150" y="0"/>
                </a:moveTo>
                <a:lnTo>
                  <a:pt x="533400" y="0"/>
                </a:lnTo>
                <a:cubicBezTo>
                  <a:pt x="564963" y="0"/>
                  <a:pt x="590550" y="25587"/>
                  <a:pt x="590550" y="57150"/>
                </a:cubicBezTo>
                <a:lnTo>
                  <a:pt x="590550" y="323850"/>
                </a:lnTo>
                <a:cubicBezTo>
                  <a:pt x="590550" y="355413"/>
                  <a:pt x="564963" y="381000"/>
                  <a:pt x="53340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5E5F7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90" name="asset-sizes-label">
            <a:extLst xmlns:a="http://schemas.openxmlformats.org/drawingml/2006/main">
              <a:ext uri="{FF2B5EF4-FFF2-40B4-BE49-F238E27FC236}">
                <a16:creationId xmlns:a16="http://schemas.microsoft.com/office/drawing/2014/main" id="{A0849DEC-18EB-4D39-916C-9BA0F6B3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0075" y="1485900"/>
            <a:ext cx="552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Asset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Sizes</a:t>
            </a:r>
          </a:p>
        </p:txBody>
      </p:sp>
      <p:sp>
        <p:nvSpPr>
          <p:cNvPr id="91" name="asset-sizes-input">
            <a:extLst xmlns:a="http://schemas.openxmlformats.org/drawingml/2006/main">
              <a:ext uri="{FF2B5EF4-FFF2-40B4-BE49-F238E27FC236}">
                <a16:creationId xmlns:a16="http://schemas.microsoft.com/office/drawing/2014/main" id="{844674B6-3052-4C1B-A87F-67049E78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1076325"/>
            <a:ext cx="1047750" cy="381000"/>
          </a:xfrm>
          <a:custGeom xmlns:a="http://schemas.openxmlformats.org/drawingml/2006/main">
            <a:pathLst>
              <a:path w="1047750" h="381000">
                <a:moveTo>
                  <a:pt x="1038225" y="0"/>
                </a:moveTo>
                <a:cubicBezTo>
                  <a:pt x="1038225" y="209550"/>
                  <a:pt x="0" y="104775"/>
                  <a:pt x="0" y="352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92" name="asset-sizes-input-tip">
            <a:extLst xmlns:a="http://schemas.openxmlformats.org/drawingml/2006/main">
              <a:ext uri="{FF2B5EF4-FFF2-40B4-BE49-F238E27FC236}">
                <a16:creationId xmlns:a16="http://schemas.microsoft.com/office/drawing/2014/main" id="{9B386A96-0823-4791-9C51-F2E41E1B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138112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93" name="asset-sizes-input-tip-arrow">
            <a:extLst xmlns:a="http://schemas.openxmlformats.org/drawingml/2006/main">
              <a:ext uri="{FF2B5EF4-FFF2-40B4-BE49-F238E27FC236}">
                <a16:creationId xmlns:a16="http://schemas.microsoft.com/office/drawing/2014/main" id="{667E9D09-3C4A-4D99-A9EF-D659AFB5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9440" y="1381125"/>
            <a:ext cx="53721" cy="57150"/>
          </a:xfrm>
          <a:custGeom xmlns:a="http://schemas.openxmlformats.org/drawingml/2006/main">
            <a:pathLst>
              <a:path w="53721" h="57150">
                <a:moveTo>
                  <a:pt x="26860" y="57150"/>
                </a:moveTo>
                <a:lnTo>
                  <a:pt x="0" y="0"/>
                </a:lnTo>
                <a:lnTo>
                  <a:pt x="53721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94" name="asset-sizes-output">
            <a:extLst xmlns:a="http://schemas.openxmlformats.org/drawingml/2006/main">
              <a:ext uri="{FF2B5EF4-FFF2-40B4-BE49-F238E27FC236}">
                <a16:creationId xmlns:a16="http://schemas.microsoft.com/office/drawing/2014/main" id="{FA176E9D-7DCF-4BB6-83D9-D366CF42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1847850"/>
            <a:ext cx="1200150" cy="371475"/>
          </a:xfrm>
          <a:custGeom xmlns:a="http://schemas.openxmlformats.org/drawingml/2006/main">
            <a:pathLst>
              <a:path w="1200150" h="371475">
                <a:moveTo>
                  <a:pt x="0" y="0"/>
                </a:moveTo>
                <a:cubicBezTo>
                  <a:pt x="0" y="304800"/>
                  <a:pt x="1190625" y="38100"/>
                  <a:pt x="1190625" y="352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56B96"/>
            </a:solidFill>
            <a:prstDash val="solid"/>
          </a:ln>
        </p:spPr>
      </p:sp>
      <p:sp>
        <p:nvSpPr>
          <p:cNvPr id="95" name="asset-configuration">
            <a:extLst xmlns:a="http://schemas.openxmlformats.org/drawingml/2006/main">
              <a:ext uri="{FF2B5EF4-FFF2-40B4-BE49-F238E27FC236}">
                <a16:creationId xmlns:a16="http://schemas.microsoft.com/office/drawing/2014/main" id="{602EC10A-2B81-4525-9353-EF27BB71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1457325"/>
            <a:ext cx="1143000" cy="381000"/>
          </a:xfrm>
          <a:custGeom xmlns:a="http://schemas.openxmlformats.org/drawingml/2006/main">
            <a:pathLst>
              <a:path w="1143000" h="381000">
                <a:moveTo>
                  <a:pt x="57150" y="0"/>
                </a:moveTo>
                <a:lnTo>
                  <a:pt x="1085850" y="0"/>
                </a:lnTo>
                <a:cubicBezTo>
                  <a:pt x="1117413" y="0"/>
                  <a:pt x="1143000" y="25587"/>
                  <a:pt x="1143000" y="57150"/>
                </a:cubicBezTo>
                <a:lnTo>
                  <a:pt x="1143000" y="323850"/>
                </a:lnTo>
                <a:cubicBezTo>
                  <a:pt x="1143000" y="355413"/>
                  <a:pt x="1117413" y="381000"/>
                  <a:pt x="1085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5E5F7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96" name="asset-configuration-label">
            <a:extLst xmlns:a="http://schemas.openxmlformats.org/drawingml/2006/main">
              <a:ext uri="{FF2B5EF4-FFF2-40B4-BE49-F238E27FC236}">
                <a16:creationId xmlns:a16="http://schemas.microsoft.com/office/drawing/2014/main" id="{70B0CACA-E786-408A-9F73-FFC12109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1485900"/>
            <a:ext cx="110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6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06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Asset</a:t>
            </a:r>
          </a:p>
          <a:p xmlns:a="http://schemas.openxmlformats.org/drawingml/2006/main">
            <a:pPr algn="ctr">
              <a:defRPr sz="106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Configuration</a:t>
            </a:r>
          </a:p>
        </p:txBody>
      </p:sp>
      <p:sp>
        <p:nvSpPr>
          <p:cNvPr id="97" name="asset-configuration-input">
            <a:extLst xmlns:a="http://schemas.openxmlformats.org/drawingml/2006/main">
              <a:ext uri="{FF2B5EF4-FFF2-40B4-BE49-F238E27FC236}">
                <a16:creationId xmlns:a16="http://schemas.microsoft.com/office/drawing/2014/main" id="{465B65F0-C573-4C54-BFB4-F144AC0C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1076325"/>
            <a:ext cx="28575" cy="381000"/>
          </a:xfrm>
          <a:custGeom xmlns:a="http://schemas.openxmlformats.org/drawingml/2006/main">
            <a:pathLst>
              <a:path w="28575" h="381000">
                <a:moveTo>
                  <a:pt x="19050" y="0"/>
                </a:moveTo>
                <a:cubicBezTo>
                  <a:pt x="19050" y="209550"/>
                  <a:pt x="0" y="104775"/>
                  <a:pt x="0" y="352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98" name="asset-configuration-input-tip">
            <a:extLst xmlns:a="http://schemas.openxmlformats.org/drawingml/2006/main">
              <a:ext uri="{FF2B5EF4-FFF2-40B4-BE49-F238E27FC236}">
                <a16:creationId xmlns:a16="http://schemas.microsoft.com/office/drawing/2014/main" id="{E2BBE4D8-EDD9-4DBE-91CB-A2D35688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138112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99" name="asset-configuration-input-tip-arrow">
            <a:extLst xmlns:a="http://schemas.openxmlformats.org/drawingml/2006/main">
              <a:ext uri="{FF2B5EF4-FFF2-40B4-BE49-F238E27FC236}">
                <a16:creationId xmlns:a16="http://schemas.microsoft.com/office/drawing/2014/main" id="{15AF0A27-5BE1-43F2-B149-268B9412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8614" y="1381125"/>
            <a:ext cx="53721" cy="57150"/>
          </a:xfrm>
          <a:custGeom xmlns:a="http://schemas.openxmlformats.org/drawingml/2006/main">
            <a:pathLst>
              <a:path w="53721" h="57150">
                <a:moveTo>
                  <a:pt x="26861" y="57150"/>
                </a:moveTo>
                <a:lnTo>
                  <a:pt x="0" y="0"/>
                </a:lnTo>
                <a:lnTo>
                  <a:pt x="53721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00" name="asset-configuration-output">
            <a:extLst xmlns:a="http://schemas.openxmlformats.org/drawingml/2006/main">
              <a:ext uri="{FF2B5EF4-FFF2-40B4-BE49-F238E27FC236}">
                <a16:creationId xmlns:a16="http://schemas.microsoft.com/office/drawing/2014/main" id="{C47F0427-B9A3-47BE-BDDC-3591658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1847850"/>
            <a:ext cx="180975" cy="371475"/>
          </a:xfrm>
          <a:custGeom xmlns:a="http://schemas.openxmlformats.org/drawingml/2006/main">
            <a:pathLst>
              <a:path w="180975" h="371475">
                <a:moveTo>
                  <a:pt x="0" y="0"/>
                </a:moveTo>
                <a:cubicBezTo>
                  <a:pt x="0" y="304800"/>
                  <a:pt x="171450" y="38100"/>
                  <a:pt x="171450" y="352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56B96"/>
            </a:solidFill>
            <a:prstDash val="solid"/>
          </a:ln>
        </p:spPr>
      </p:sp>
      <p:sp>
        <p:nvSpPr>
          <p:cNvPr id="101" name="scene-configuration">
            <a:extLst xmlns:a="http://schemas.openxmlformats.org/drawingml/2006/main">
              <a:ext uri="{FF2B5EF4-FFF2-40B4-BE49-F238E27FC236}">
                <a16:creationId xmlns:a16="http://schemas.microsoft.com/office/drawing/2014/main" id="{490719EB-4457-45CB-9348-E9CFF291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1457325"/>
            <a:ext cx="1219200" cy="381000"/>
          </a:xfrm>
          <a:custGeom xmlns:a="http://schemas.openxmlformats.org/drawingml/2006/main">
            <a:pathLst>
              <a:path w="1219200" h="381000">
                <a:moveTo>
                  <a:pt x="57150" y="0"/>
                </a:moveTo>
                <a:lnTo>
                  <a:pt x="1162050" y="0"/>
                </a:lnTo>
                <a:cubicBezTo>
                  <a:pt x="1193613" y="0"/>
                  <a:pt x="1219200" y="25587"/>
                  <a:pt x="1219200" y="57150"/>
                </a:cubicBezTo>
                <a:lnTo>
                  <a:pt x="1219200" y="323850"/>
                </a:lnTo>
                <a:cubicBezTo>
                  <a:pt x="1219200" y="355413"/>
                  <a:pt x="1193613" y="381000"/>
                  <a:pt x="11620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5E5F7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02" name="scene-configuration-label">
            <a:extLst xmlns:a="http://schemas.openxmlformats.org/drawingml/2006/main">
              <a:ext uri="{FF2B5EF4-FFF2-40B4-BE49-F238E27FC236}">
                <a16:creationId xmlns:a16="http://schemas.microsoft.com/office/drawing/2014/main" id="{148F250C-6282-4686-9C13-1F5EB073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8425" y="1485900"/>
            <a:ext cx="1181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44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144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44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Scene</a:t>
            </a:r>
          </a:p>
          <a:p xmlns:a="http://schemas.openxmlformats.org/drawingml/2006/main">
            <a:pPr algn="ctr">
              <a:defRPr sz="1144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44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Configuration</a:t>
            </a:r>
          </a:p>
        </p:txBody>
      </p:sp>
      <p:sp>
        <p:nvSpPr>
          <p:cNvPr id="103" name="scene-configuration-input">
            <a:extLst xmlns:a="http://schemas.openxmlformats.org/drawingml/2006/main">
              <a:ext uri="{FF2B5EF4-FFF2-40B4-BE49-F238E27FC236}">
                <a16:creationId xmlns:a16="http://schemas.microsoft.com/office/drawing/2014/main" id="{F983A483-48AE-4DB4-A747-E14C060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525" y="1076325"/>
            <a:ext cx="1323975" cy="381000"/>
          </a:xfrm>
          <a:custGeom xmlns:a="http://schemas.openxmlformats.org/drawingml/2006/main">
            <a:pathLst>
              <a:path w="1323975" h="381000">
                <a:moveTo>
                  <a:pt x="0" y="0"/>
                </a:moveTo>
                <a:cubicBezTo>
                  <a:pt x="0" y="209550"/>
                  <a:pt x="1314450" y="104775"/>
                  <a:pt x="1314450" y="352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104" name="scene-configuration-input-tip">
            <a:extLst xmlns:a="http://schemas.openxmlformats.org/drawingml/2006/main">
              <a:ext uri="{FF2B5EF4-FFF2-40B4-BE49-F238E27FC236}">
                <a16:creationId xmlns:a16="http://schemas.microsoft.com/office/drawing/2014/main" id="{80ECEFA7-BDD0-42AE-9517-95D934F2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8975" y="138112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105" name="scene-configuration-input-tip-arrow">
            <a:extLst xmlns:a="http://schemas.openxmlformats.org/drawingml/2006/main">
              <a:ext uri="{FF2B5EF4-FFF2-40B4-BE49-F238E27FC236}">
                <a16:creationId xmlns:a16="http://schemas.microsoft.com/office/drawing/2014/main" id="{9413CE0B-611E-4AC4-882B-75A3BA35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2114" y="1381125"/>
            <a:ext cx="53721" cy="57150"/>
          </a:xfrm>
          <a:custGeom xmlns:a="http://schemas.openxmlformats.org/drawingml/2006/main">
            <a:pathLst>
              <a:path w="53721" h="57150">
                <a:moveTo>
                  <a:pt x="26861" y="57150"/>
                </a:moveTo>
                <a:lnTo>
                  <a:pt x="0" y="0"/>
                </a:lnTo>
                <a:lnTo>
                  <a:pt x="53721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06" name="scene-configuration-output">
            <a:extLst xmlns:a="http://schemas.openxmlformats.org/drawingml/2006/main">
              <a:ext uri="{FF2B5EF4-FFF2-40B4-BE49-F238E27FC236}">
                <a16:creationId xmlns:a16="http://schemas.microsoft.com/office/drawing/2014/main" id="{18E071CC-2FDD-4E59-95B5-88C4A23B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1847850"/>
            <a:ext cx="1171575" cy="371475"/>
          </a:xfrm>
          <a:custGeom xmlns:a="http://schemas.openxmlformats.org/drawingml/2006/main">
            <a:pathLst>
              <a:path w="1171575" h="371475">
                <a:moveTo>
                  <a:pt x="1162050" y="0"/>
                </a:moveTo>
                <a:cubicBezTo>
                  <a:pt x="1162050" y="304800"/>
                  <a:pt x="0" y="38100"/>
                  <a:pt x="0" y="352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56B96"/>
            </a:solidFill>
            <a:prstDash val="solid"/>
          </a:ln>
        </p:spPr>
      </p:sp>
      <p:sp>
        <p:nvSpPr>
          <p:cNvPr id="107" name="retrieval-box">
            <a:extLst xmlns:a="http://schemas.openxmlformats.org/drawingml/2006/main">
              <a:ext uri="{FF2B5EF4-FFF2-40B4-BE49-F238E27FC236}">
                <a16:creationId xmlns:a16="http://schemas.microsoft.com/office/drawing/2014/main" id="{4D70594F-937F-4AF5-B9BE-06BD0118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228850"/>
            <a:ext cx="2895600" cy="1171575"/>
          </a:xfrm>
          <a:custGeom xmlns:a="http://schemas.openxmlformats.org/drawingml/2006/main">
            <a:pathLst>
              <a:path w="2895600" h="1171575">
                <a:moveTo>
                  <a:pt x="133350" y="0"/>
                </a:moveTo>
                <a:lnTo>
                  <a:pt x="2762250" y="0"/>
                </a:lnTo>
                <a:cubicBezTo>
                  <a:pt x="2835897" y="0"/>
                  <a:pt x="2895600" y="59703"/>
                  <a:pt x="2895600" y="133350"/>
                </a:cubicBezTo>
                <a:lnTo>
                  <a:pt x="2895600" y="1038225"/>
                </a:lnTo>
                <a:cubicBezTo>
                  <a:pt x="2895600" y="1111872"/>
                  <a:pt x="2835897" y="1171575"/>
                  <a:pt x="2762250" y="1171575"/>
                </a:cubicBezTo>
                <a:lnTo>
                  <a:pt x="133350" y="1171575"/>
                </a:lnTo>
                <a:cubicBezTo>
                  <a:pt x="59703" y="1171575"/>
                  <a:pt x="0" y="1111872"/>
                  <a:pt x="0" y="10382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2222"/>
            </a:solidFill>
            <a:prstDash val="dash"/>
          </a:ln>
        </p:spPr>
      </p:sp>
      <p:sp>
        <p:nvSpPr>
          <p:cNvPr id="108" name="retrieval-title">
            <a:extLst xmlns:a="http://schemas.openxmlformats.org/drawingml/2006/main">
              <a:ext uri="{FF2B5EF4-FFF2-40B4-BE49-F238E27FC236}">
                <a16:creationId xmlns:a16="http://schemas.microsoft.com/office/drawing/2014/main" id="{A9DC97CF-5F60-4021-A5C5-F2EBBDAE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2669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Dataset Retrieval</a:t>
            </a:r>
          </a:p>
        </p:txBody>
      </p:sp>
      <p:sp>
        <p:nvSpPr>
          <p:cNvPr id="109" name="objaverse">
            <a:extLst xmlns:a="http://schemas.openxmlformats.org/drawingml/2006/main">
              <a:ext uri="{FF2B5EF4-FFF2-40B4-BE49-F238E27FC236}">
                <a16:creationId xmlns:a16="http://schemas.microsoft.com/office/drawing/2014/main" id="{9D2F9BE5-1412-469F-BA77-EBFBFB7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2495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1" i="0">
                <a:solidFill>
                  <a:srgbClr val="B75C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B75C9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75C9D"/>
                </a:solidFill>
                <a:latin typeface="Arial"/>
                <a:ea typeface="Arial"/>
                <a:cs typeface="Arial"/>
              </a:rPr>
              <a:t>Objaverse</a:t>
            </a:r>
          </a:p>
        </p:txBody>
      </p:sp>
      <p:sp>
        <p:nvSpPr>
          <p:cNvPr id="110" name="generation-method">
            <a:extLst xmlns:a="http://schemas.openxmlformats.org/drawingml/2006/main">
              <a:ext uri="{FF2B5EF4-FFF2-40B4-BE49-F238E27FC236}">
                <a16:creationId xmlns:a16="http://schemas.microsoft.com/office/drawing/2014/main" id="{388FE5CA-075B-4D9C-BB12-7B2741BB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2857500"/>
            <a:ext cx="2600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16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116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16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text-to-image-to-3D generation</a:t>
            </a:r>
          </a:p>
        </p:txBody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E5B4A68-C000-4B75-8B8A-59FCA101C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47ab4abd747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3133725"/>
            <a:ext cx="180975" cy="200025"/>
          </a:xfrm>
          <a:prstGeom xmlns:a="http://schemas.openxmlformats.org/drawingml/2006/main" prst="rect">
            <a:avLst/>
          </a:prstGeom>
        </p:spPr>
      </p:pic>
      <p:sp>
        <p:nvSpPr>
          <p:cNvPr id="112" name="midjourney-logo">
            <a:extLst xmlns:a="http://schemas.openxmlformats.org/drawingml/2006/main">
              <a:ext uri="{FF2B5EF4-FFF2-40B4-BE49-F238E27FC236}">
                <a16:creationId xmlns:a16="http://schemas.microsoft.com/office/drawing/2014/main" id="{AECAC62E-3FFB-4C85-9503-EA29007B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3133725"/>
            <a:ext cx="180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midjourney">
            <a:extLst xmlns:a="http://schemas.openxmlformats.org/drawingml/2006/main">
              <a:ext uri="{FF2B5EF4-FFF2-40B4-BE49-F238E27FC236}">
                <a16:creationId xmlns:a16="http://schemas.microsoft.com/office/drawing/2014/main" id="{1FFF0F5C-2487-428C-880B-04F15BC8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3124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Midjourney</a:t>
            </a:r>
          </a:p>
        </p:txBody>
      </p:sp>
      <p:sp>
        <p:nvSpPr>
          <p:cNvPr id="114" name="zero-one-three">
            <a:extLst xmlns:a="http://schemas.openxmlformats.org/drawingml/2006/main">
              <a:ext uri="{FF2B5EF4-FFF2-40B4-BE49-F238E27FC236}">
                <a16:creationId xmlns:a16="http://schemas.microsoft.com/office/drawing/2014/main" id="{5C78DB3D-A104-4FA7-A57D-064147C4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133725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Zero-1-to-3</a:t>
            </a:r>
          </a:p>
        </p:txBody>
      </p:sp>
      <p:sp>
        <p:nvSpPr>
          <p:cNvPr id="115" name="method-flow">
            <a:extLst xmlns:a="http://schemas.openxmlformats.org/drawingml/2006/main">
              <a:ext uri="{FF2B5EF4-FFF2-40B4-BE49-F238E27FC236}">
                <a16:creationId xmlns:a16="http://schemas.microsoft.com/office/drawing/2014/main" id="{D57A92BA-1CD2-4858-B791-712282FA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3248025"/>
            <a:ext cx="238125" cy="953"/>
          </a:xfrm>
          <a:custGeom xmlns:a="http://schemas.openxmlformats.org/drawingml/2006/main"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61616"/>
            </a:solidFill>
            <a:prstDash val="solid"/>
          </a:ln>
        </p:spPr>
      </p:sp>
      <p:sp>
        <p:nvSpPr>
          <p:cNvPr id="116" name="method-flow-arrow">
            <a:extLst xmlns:a="http://schemas.openxmlformats.org/drawingml/2006/main">
              <a:ext uri="{FF2B5EF4-FFF2-40B4-BE49-F238E27FC236}">
                <a16:creationId xmlns:a16="http://schemas.microsoft.com/office/drawing/2014/main" id="{EF7DCCA3-07C0-4F3A-87CA-C0DBC486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3216688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  <a:ln xmlns:a="http://schemas.openxmlformats.org/drawingml/2006/main" w="0">
            <a:solidFill>
              <a:srgbClr val="161616"/>
            </a:solidFill>
            <a:prstDash val="solid"/>
          </a:ln>
        </p:spPr>
      </p:sp>
      <p:sp>
        <p:nvSpPr>
          <p:cNvPr id="117" name="verify-model">
            <a:extLst xmlns:a="http://schemas.openxmlformats.org/drawingml/2006/main">
              <a:ext uri="{FF2B5EF4-FFF2-40B4-BE49-F238E27FC236}">
                <a16:creationId xmlns:a16="http://schemas.microsoft.com/office/drawing/2014/main" id="{A135B5D3-DEE4-4459-ACA1-560733F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552700"/>
            <a:ext cx="4095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B5"/>
          </a:solidFill>
          <a:ln xmlns:a="http://schemas.openxmlformats.org/drawingml/2006/main" w="14288">
            <a:solidFill>
              <a:srgbClr val="E8A13E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8" name="verify-model-label">
            <a:extLst xmlns:a="http://schemas.openxmlformats.org/drawingml/2006/main">
              <a:ext uri="{FF2B5EF4-FFF2-40B4-BE49-F238E27FC236}">
                <a16:creationId xmlns:a16="http://schemas.microsoft.com/office/drawing/2014/main" id="{F407E92C-7FCC-46B2-A285-CAAE5CDB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57175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DE8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DE8C2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E8C27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119" name="verify-loop">
            <a:extLst xmlns:a="http://schemas.openxmlformats.org/drawingml/2006/main">
              <a:ext uri="{FF2B5EF4-FFF2-40B4-BE49-F238E27FC236}">
                <a16:creationId xmlns:a16="http://schemas.microsoft.com/office/drawing/2014/main" id="{7F8D8866-F66F-4051-A37B-050ACF4B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2314575"/>
            <a:ext cx="704850" cy="800100"/>
          </a:xfrm>
          <a:custGeom xmlns:a="http://schemas.openxmlformats.org/drawingml/2006/main">
            <a:pathLst>
              <a:path w="704850" h="800100">
                <a:moveTo>
                  <a:pt x="695325" y="152400"/>
                </a:moveTo>
                <a:cubicBezTo>
                  <a:pt x="200025" y="-295275"/>
                  <a:pt x="-295275" y="390525"/>
                  <a:pt x="161925" y="742950"/>
                </a:cubicBezTo>
                <a:cubicBezTo>
                  <a:pt x="400050" y="904875"/>
                  <a:pt x="542925" y="695325"/>
                  <a:pt x="685800" y="647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E9B3F"/>
            </a:solidFill>
            <a:prstDash val="solid"/>
          </a:ln>
        </p:spPr>
      </p:sp>
      <p:sp>
        <p:nvSpPr>
          <p:cNvPr id="120" name="verify-tip">
            <a:extLst xmlns:a="http://schemas.openxmlformats.org/drawingml/2006/main">
              <a:ext uri="{FF2B5EF4-FFF2-40B4-BE49-F238E27FC236}">
                <a16:creationId xmlns:a16="http://schemas.microsoft.com/office/drawing/2014/main" id="{CAC11F45-3026-48BF-A785-4EF66237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296227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DE9B3F"/>
            </a:solidFill>
            <a:prstDash val="solid"/>
          </a:ln>
        </p:spPr>
      </p:sp>
      <p:sp>
        <p:nvSpPr>
          <p:cNvPr id="121" name="verify-tip-arrow">
            <a:extLst xmlns:a="http://schemas.openxmlformats.org/drawingml/2006/main">
              <a:ext uri="{FF2B5EF4-FFF2-40B4-BE49-F238E27FC236}">
                <a16:creationId xmlns:a16="http://schemas.microsoft.com/office/drawing/2014/main" id="{A6CF557E-EE5B-4AC3-AD38-CD5E1DF2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1245" y="2962275"/>
            <a:ext cx="69305" cy="69305"/>
          </a:xfrm>
          <a:custGeom xmlns:a="http://schemas.openxmlformats.org/drawingml/2006/main">
            <a:pathLst>
              <a:path w="69305" h="69305">
                <a:moveTo>
                  <a:pt x="69305" y="0"/>
                </a:moveTo>
                <a:lnTo>
                  <a:pt x="44318" y="69305"/>
                </a:lnTo>
                <a:lnTo>
                  <a:pt x="0" y="24988"/>
                </a:lnTo>
                <a:close/>
              </a:path>
            </a:pathLst>
          </a:custGeom>
          <a:solidFill xmlns:a="http://schemas.openxmlformats.org/drawingml/2006/main">
            <a:srgbClr val="DE9B3F"/>
          </a:solidFill>
          <a:ln xmlns:a="http://schemas.openxmlformats.org/drawingml/2006/main" w="0">
            <a:solidFill>
              <a:srgbClr val="DE9B3F"/>
            </a:solidFill>
            <a:prstDash val="solid"/>
          </a:ln>
        </p:spPr>
      </p:sp>
      <p:sp>
        <p:nvSpPr>
          <p:cNvPr id="122" name="verification-label">
            <a:extLst xmlns:a="http://schemas.openxmlformats.org/drawingml/2006/main">
              <a:ext uri="{FF2B5EF4-FFF2-40B4-BE49-F238E27FC236}">
                <a16:creationId xmlns:a16="http://schemas.microsoft.com/office/drawing/2014/main" id="{1878192F-9BB6-42B7-BE2D-34B816A8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475" y="3124200"/>
            <a:ext cx="1285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4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Verification</a:t>
            </a:r>
          </a:p>
        </p:txBody>
      </p:sp>
      <p:sp>
        <p:nvSpPr>
          <p:cNvPr id="123" name="generation-to-population">
            <a:extLst xmlns:a="http://schemas.openxmlformats.org/drawingml/2006/main">
              <a:ext uri="{FF2B5EF4-FFF2-40B4-BE49-F238E27FC236}">
                <a16:creationId xmlns:a16="http://schemas.microsoft.com/office/drawing/2014/main" id="{A8D00E22-AD16-4EE2-887E-C1C5307C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3533775"/>
            <a:ext cx="953" cy="266700"/>
          </a:xfrm>
          <a:custGeom xmlns:a="http://schemas.openxmlformats.org/drawingml/2006/main">
            <a:pathLst>
              <a:path w="953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161616"/>
            </a:solidFill>
            <a:prstDash val="solid"/>
          </a:ln>
        </p:spPr>
      </p:sp>
      <p:sp>
        <p:nvSpPr>
          <p:cNvPr id="124" name="generation-to-population-arrow">
            <a:extLst xmlns:a="http://schemas.openxmlformats.org/drawingml/2006/main">
              <a:ext uri="{FF2B5EF4-FFF2-40B4-BE49-F238E27FC236}">
                <a16:creationId xmlns:a16="http://schemas.microsoft.com/office/drawing/2014/main" id="{521059F7-99A7-4E0A-A97D-6B18518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8686" y="3724275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76200"/>
                </a:moveTo>
                <a:lnTo>
                  <a:pt x="0" y="0"/>
                </a:lnTo>
                <a:lnTo>
                  <a:pt x="71628" y="0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  <a:ln xmlns:a="http://schemas.openxmlformats.org/drawingml/2006/main" w="0">
            <a:solidFill>
              <a:srgbClr val="161616"/>
            </a:solidFill>
            <a:prstDash val="solid"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951502C-6D9B-45E4-B159-2817B8B657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d26061e5543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7575" y="4248150"/>
            <a:ext cx="962025" cy="962025"/>
          </a:xfrm>
          <a:prstGeom xmlns:a="http://schemas.openxmlformats.org/drawingml/2006/main" prst="rect">
            <a:avLst/>
          </a:prstGeom>
        </p:spPr>
      </p:pic>
      <p:sp>
        <p:nvSpPr>
          <p:cNvPr id="126" name="scene1">
            <a:extLst xmlns:a="http://schemas.openxmlformats.org/drawingml/2006/main">
              <a:ext uri="{FF2B5EF4-FFF2-40B4-BE49-F238E27FC236}">
                <a16:creationId xmlns:a16="http://schemas.microsoft.com/office/drawing/2014/main" id="{0DDB5261-9F3F-43CA-B8F7-09480121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4248150"/>
            <a:ext cx="9620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808672F-1899-4B1A-A32A-892DCF3E41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214a3dfb44e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4248150"/>
            <a:ext cx="962025" cy="962025"/>
          </a:xfrm>
          <a:prstGeom xmlns:a="http://schemas.openxmlformats.org/drawingml/2006/main" prst="rect">
            <a:avLst/>
          </a:prstGeom>
        </p:spPr>
      </p:pic>
      <p:sp>
        <p:nvSpPr>
          <p:cNvPr id="128" name="scene2">
            <a:extLst xmlns:a="http://schemas.openxmlformats.org/drawingml/2006/main">
              <a:ext uri="{FF2B5EF4-FFF2-40B4-BE49-F238E27FC236}">
                <a16:creationId xmlns:a16="http://schemas.microsoft.com/office/drawing/2014/main" id="{3EC53C75-A676-4707-8C4C-39AB66E4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248150"/>
            <a:ext cx="9620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0073513-B2D1-413B-AEC7-4D06A94E12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91efc2fe146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9275" y="4238625"/>
            <a:ext cx="962025" cy="971550"/>
          </a:xfrm>
          <a:prstGeom xmlns:a="http://schemas.openxmlformats.org/drawingml/2006/main" prst="rect">
            <a:avLst/>
          </a:prstGeom>
        </p:spPr>
      </p:pic>
      <p:sp>
        <p:nvSpPr>
          <p:cNvPr id="130" name="scene3">
            <a:extLst xmlns:a="http://schemas.openxmlformats.org/drawingml/2006/main">
              <a:ext uri="{FF2B5EF4-FFF2-40B4-BE49-F238E27FC236}">
                <a16:creationId xmlns:a16="http://schemas.microsoft.com/office/drawing/2014/main" id="{C47BC8CF-184D-4BD5-9932-ADDB7AB0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4238625"/>
            <a:ext cx="96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F270525-CCD7-47D0-98DF-ECBBD1953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94d5b895845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7025" y="4238625"/>
            <a:ext cx="952500" cy="962025"/>
          </a:xfrm>
          <a:prstGeom xmlns:a="http://schemas.openxmlformats.org/drawingml/2006/main" prst="rect">
            <a:avLst/>
          </a:prstGeom>
        </p:spPr>
      </p:pic>
      <p:sp>
        <p:nvSpPr>
          <p:cNvPr id="132" name="scene4">
            <a:extLst xmlns:a="http://schemas.openxmlformats.org/drawingml/2006/main">
              <a:ext uri="{FF2B5EF4-FFF2-40B4-BE49-F238E27FC236}">
                <a16:creationId xmlns:a16="http://schemas.microsoft.com/office/drawing/2014/main" id="{A37B4D4E-8118-464A-8EC2-6D12AC4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4238625"/>
            <a:ext cx="952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scene-to-supervision">
            <a:extLst xmlns:a="http://schemas.openxmlformats.org/drawingml/2006/main">
              <a:ext uri="{FF2B5EF4-FFF2-40B4-BE49-F238E27FC236}">
                <a16:creationId xmlns:a16="http://schemas.microsoft.com/office/drawing/2014/main" id="{BE33F9C3-94BD-43D3-BD97-DDCA7C17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942975"/>
            <a:ext cx="428625" cy="3667125"/>
          </a:xfrm>
          <a:custGeom xmlns:a="http://schemas.openxmlformats.org/drawingml/2006/main">
            <a:pathLst>
              <a:path w="428625" h="3667125">
                <a:moveTo>
                  <a:pt x="0" y="3667125"/>
                </a:moveTo>
                <a:lnTo>
                  <a:pt x="152400" y="3667125"/>
                </a:lnTo>
                <a:lnTo>
                  <a:pt x="152400" y="0"/>
                </a:ln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61616"/>
            </a:solidFill>
            <a:prstDash val="solid"/>
          </a:ln>
        </p:spPr>
      </p:sp>
      <p:sp>
        <p:nvSpPr>
          <p:cNvPr id="134" name="scene-to-supervision-arrow">
            <a:extLst xmlns:a="http://schemas.openxmlformats.org/drawingml/2006/main">
              <a:ext uri="{FF2B5EF4-FFF2-40B4-BE49-F238E27FC236}">
                <a16:creationId xmlns:a16="http://schemas.microsoft.com/office/drawing/2014/main" id="{2B04653E-81B2-4EFF-8806-77D821C2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907161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  <a:ln xmlns:a="http://schemas.openxmlformats.org/drawingml/2006/main" w="0">
            <a:solidFill>
              <a:srgbClr val="161616"/>
            </a:solidFill>
            <a:prstDash val="solid"/>
          </a:ln>
        </p:spPr>
      </p:sp>
      <p:sp>
        <p:nvSpPr>
          <p:cNvPr id="135" name="scene-to-reward">
            <a:extLst xmlns:a="http://schemas.openxmlformats.org/drawingml/2006/main">
              <a:ext uri="{FF2B5EF4-FFF2-40B4-BE49-F238E27FC236}">
                <a16:creationId xmlns:a16="http://schemas.microsoft.com/office/drawing/2014/main" id="{5E8E5B6E-D309-44BA-915B-AB6D36F9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2628900"/>
            <a:ext cx="438150" cy="953"/>
          </a:xfrm>
          <a:custGeom xmlns:a="http://schemas.openxmlformats.org/drawingml/2006/main">
            <a:pathLst>
              <a:path w="438150" h="953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61616"/>
            </a:solidFill>
            <a:prstDash val="solid"/>
          </a:ln>
        </p:spPr>
      </p:sp>
      <p:sp>
        <p:nvSpPr>
          <p:cNvPr id="136" name="scene-to-reward-arrow">
            <a:extLst xmlns:a="http://schemas.openxmlformats.org/drawingml/2006/main">
              <a:ext uri="{FF2B5EF4-FFF2-40B4-BE49-F238E27FC236}">
                <a16:creationId xmlns:a16="http://schemas.microsoft.com/office/drawing/2014/main" id="{9B968136-3E40-4946-864E-F9C2CD34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593086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61616"/>
          </a:solidFill>
          <a:ln xmlns:a="http://schemas.openxmlformats.org/drawingml/2006/main" w="0">
            <a:solidFill>
              <a:srgbClr val="161616"/>
            </a:solidFill>
            <a:prstDash val="solid"/>
          </a:ln>
        </p:spPr>
      </p:sp>
      <p:sp>
        <p:nvSpPr>
          <p:cNvPr id="137" name="grasp">
            <a:extLst xmlns:a="http://schemas.openxmlformats.org/drawingml/2006/main">
              <a:ext uri="{FF2B5EF4-FFF2-40B4-BE49-F238E27FC236}">
                <a16:creationId xmlns:a16="http://schemas.microsoft.com/office/drawing/2014/main" id="{F44AB762-82AE-4BF8-B2B3-EA64C235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895350"/>
            <a:ext cx="590550" cy="371475"/>
          </a:xfrm>
          <a:custGeom xmlns:a="http://schemas.openxmlformats.org/drawingml/2006/main">
            <a:pathLst>
              <a:path w="590550" h="371475">
                <a:moveTo>
                  <a:pt x="57150" y="0"/>
                </a:moveTo>
                <a:lnTo>
                  <a:pt x="533400" y="0"/>
                </a:lnTo>
                <a:cubicBezTo>
                  <a:pt x="564963" y="0"/>
                  <a:pt x="590550" y="25587"/>
                  <a:pt x="590550" y="57150"/>
                </a:cubicBezTo>
                <a:lnTo>
                  <a:pt x="590550" y="314325"/>
                </a:lnTo>
                <a:cubicBezTo>
                  <a:pt x="590550" y="345888"/>
                  <a:pt x="564963" y="371475"/>
                  <a:pt x="533400" y="371475"/>
                </a:cubicBezTo>
                <a:lnTo>
                  <a:pt x="57150" y="371475"/>
                </a:lnTo>
                <a:cubicBezTo>
                  <a:pt x="25587" y="371475"/>
                  <a:pt x="0" y="345888"/>
                  <a:pt x="0" y="3143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6D5D3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38" name="grasp-label">
            <a:extLst xmlns:a="http://schemas.openxmlformats.org/drawingml/2006/main">
              <a:ext uri="{FF2B5EF4-FFF2-40B4-BE49-F238E27FC236}">
                <a16:creationId xmlns:a16="http://schemas.microsoft.com/office/drawing/2014/main" id="{3F5C671C-DE47-45D0-BE88-DFA75B40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923925"/>
            <a:ext cx="57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Grasp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Door</a:t>
            </a:r>
          </a:p>
        </p:txBody>
      </p:sp>
      <p:sp>
        <p:nvSpPr>
          <p:cNvPr id="139" name="open">
            <a:extLst xmlns:a="http://schemas.openxmlformats.org/drawingml/2006/main">
              <a:ext uri="{FF2B5EF4-FFF2-40B4-BE49-F238E27FC236}">
                <a16:creationId xmlns:a16="http://schemas.microsoft.com/office/drawing/2014/main" id="{7DC9F76F-B3A7-4BA4-8684-A094435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895350"/>
            <a:ext cx="590550" cy="371475"/>
          </a:xfrm>
          <a:custGeom xmlns:a="http://schemas.openxmlformats.org/drawingml/2006/main">
            <a:pathLst>
              <a:path w="590550" h="371475">
                <a:moveTo>
                  <a:pt x="57150" y="0"/>
                </a:moveTo>
                <a:lnTo>
                  <a:pt x="533400" y="0"/>
                </a:lnTo>
                <a:cubicBezTo>
                  <a:pt x="564963" y="0"/>
                  <a:pt x="590550" y="25587"/>
                  <a:pt x="590550" y="57150"/>
                </a:cubicBezTo>
                <a:lnTo>
                  <a:pt x="590550" y="314325"/>
                </a:lnTo>
                <a:cubicBezTo>
                  <a:pt x="590550" y="345888"/>
                  <a:pt x="564963" y="371475"/>
                  <a:pt x="533400" y="371475"/>
                </a:cubicBezTo>
                <a:lnTo>
                  <a:pt x="57150" y="371475"/>
                </a:lnTo>
                <a:cubicBezTo>
                  <a:pt x="25587" y="371475"/>
                  <a:pt x="0" y="345888"/>
                  <a:pt x="0" y="3143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6D5D3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40" name="open-label">
            <a:extLst xmlns:a="http://schemas.openxmlformats.org/drawingml/2006/main">
              <a:ext uri="{FF2B5EF4-FFF2-40B4-BE49-F238E27FC236}">
                <a16:creationId xmlns:a16="http://schemas.microsoft.com/office/drawing/2014/main" id="{28F96880-796B-4947-84F8-A584E4A5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923925"/>
            <a:ext cx="57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Open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Door</a:t>
            </a:r>
          </a:p>
        </p:txBody>
      </p:sp>
      <p:sp>
        <p:nvSpPr>
          <p:cNvPr id="141" name="inside">
            <a:extLst xmlns:a="http://schemas.openxmlformats.org/drawingml/2006/main">
              <a:ext uri="{FF2B5EF4-FFF2-40B4-BE49-F238E27FC236}">
                <a16:creationId xmlns:a16="http://schemas.microsoft.com/office/drawing/2014/main" id="{718F094C-CAC7-49A0-B729-F52E157B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0" y="895350"/>
            <a:ext cx="723900" cy="371475"/>
          </a:xfrm>
          <a:custGeom xmlns:a="http://schemas.openxmlformats.org/drawingml/2006/main">
            <a:pathLst>
              <a:path w="723900" h="371475">
                <a:moveTo>
                  <a:pt x="57150" y="0"/>
                </a:moveTo>
                <a:lnTo>
                  <a:pt x="666750" y="0"/>
                </a:lnTo>
                <a:cubicBezTo>
                  <a:pt x="698313" y="0"/>
                  <a:pt x="723900" y="25587"/>
                  <a:pt x="723900" y="57150"/>
                </a:cubicBezTo>
                <a:lnTo>
                  <a:pt x="723900" y="314325"/>
                </a:lnTo>
                <a:cubicBezTo>
                  <a:pt x="723900" y="345888"/>
                  <a:pt x="698313" y="371475"/>
                  <a:pt x="666750" y="371475"/>
                </a:cubicBezTo>
                <a:lnTo>
                  <a:pt x="57150" y="371475"/>
                </a:lnTo>
                <a:cubicBezTo>
                  <a:pt x="25587" y="371475"/>
                  <a:pt x="0" y="345888"/>
                  <a:pt x="0" y="3143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6D5D3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42" name="inside-label">
            <a:extLst xmlns:a="http://schemas.openxmlformats.org/drawingml/2006/main">
              <a:ext uri="{FF2B5EF4-FFF2-40B4-BE49-F238E27FC236}">
                <a16:creationId xmlns:a16="http://schemas.microsoft.com/office/drawing/2014/main" id="{9EE866FF-DBE2-46D9-BE3F-17CAAF4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3675" y="923925"/>
            <a:ext cx="704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Put bowl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inside</a:t>
            </a:r>
          </a:p>
        </p:txBody>
      </p:sp>
      <p:sp>
        <p:nvSpPr>
          <p:cNvPr id="143" name="timer">
            <a:extLst xmlns:a="http://schemas.openxmlformats.org/drawingml/2006/main">
              <a:ext uri="{FF2B5EF4-FFF2-40B4-BE49-F238E27FC236}">
                <a16:creationId xmlns:a16="http://schemas.microsoft.com/office/drawing/2014/main" id="{832459CB-5862-4625-B40E-1777C65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7600" y="895350"/>
            <a:ext cx="581025" cy="371475"/>
          </a:xfrm>
          <a:custGeom xmlns:a="http://schemas.openxmlformats.org/drawingml/2006/main">
            <a:pathLst>
              <a:path w="581025" h="371475">
                <a:moveTo>
                  <a:pt x="57150" y="0"/>
                </a:moveTo>
                <a:lnTo>
                  <a:pt x="523875" y="0"/>
                </a:lnTo>
                <a:cubicBezTo>
                  <a:pt x="555438" y="0"/>
                  <a:pt x="581025" y="25587"/>
                  <a:pt x="581025" y="57150"/>
                </a:cubicBezTo>
                <a:lnTo>
                  <a:pt x="581025" y="314325"/>
                </a:lnTo>
                <a:cubicBezTo>
                  <a:pt x="581025" y="345888"/>
                  <a:pt x="555438" y="371475"/>
                  <a:pt x="523875" y="371475"/>
                </a:cubicBezTo>
                <a:lnTo>
                  <a:pt x="57150" y="371475"/>
                </a:lnTo>
                <a:cubicBezTo>
                  <a:pt x="25587" y="371475"/>
                  <a:pt x="0" y="345888"/>
                  <a:pt x="0" y="3143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6D5D3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44" name="timer-label">
            <a:extLst xmlns:a="http://schemas.openxmlformats.org/drawingml/2006/main">
              <a:ext uri="{FF2B5EF4-FFF2-40B4-BE49-F238E27FC236}">
                <a16:creationId xmlns:a16="http://schemas.microsoft.com/office/drawing/2014/main" id="{94B1D8DB-B3A2-4E91-9F34-14F3F4C2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7125" y="923925"/>
            <a:ext cx="561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Set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Timer</a:t>
            </a:r>
          </a:p>
        </p:txBody>
      </p:sp>
      <p:sp>
        <p:nvSpPr>
          <p:cNvPr id="145" name="rl">
            <a:extLst xmlns:a="http://schemas.openxmlformats.org/drawingml/2006/main">
              <a:ext uri="{FF2B5EF4-FFF2-40B4-BE49-F238E27FC236}">
                <a16:creationId xmlns:a16="http://schemas.microsoft.com/office/drawing/2014/main" id="{90AE4AE2-5F12-43D0-8D64-98B35E80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4825" y="1676400"/>
            <a:ext cx="1181100" cy="371475"/>
          </a:xfrm>
          <a:custGeom xmlns:a="http://schemas.openxmlformats.org/drawingml/2006/main">
            <a:pathLst>
              <a:path w="1181100" h="371475">
                <a:moveTo>
                  <a:pt x="57150" y="0"/>
                </a:moveTo>
                <a:lnTo>
                  <a:pt x="1123950" y="0"/>
                </a:lnTo>
                <a:cubicBezTo>
                  <a:pt x="1155513" y="0"/>
                  <a:pt x="1181100" y="25587"/>
                  <a:pt x="1181100" y="57150"/>
                </a:cubicBezTo>
                <a:lnTo>
                  <a:pt x="1181100" y="314325"/>
                </a:lnTo>
                <a:cubicBezTo>
                  <a:pt x="1181100" y="345888"/>
                  <a:pt x="1155513" y="371475"/>
                  <a:pt x="1123950" y="371475"/>
                </a:cubicBezTo>
                <a:lnTo>
                  <a:pt x="57150" y="371475"/>
                </a:lnTo>
                <a:cubicBezTo>
                  <a:pt x="25587" y="371475"/>
                  <a:pt x="0" y="345888"/>
                  <a:pt x="0" y="3143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8C7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46" name="rl-label">
            <a:extLst xmlns:a="http://schemas.openxmlformats.org/drawingml/2006/main">
              <a:ext uri="{FF2B5EF4-FFF2-40B4-BE49-F238E27FC236}">
                <a16:creationId xmlns:a16="http://schemas.microsoft.com/office/drawing/2014/main" id="{51E050AF-8614-4004-BEFE-8EE07CA0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1704975"/>
            <a:ext cx="1162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Reinforcement</a:t>
            </a:r>
          </a:p>
          <a:p xmlns:a="http://schemas.openxmlformats.org/drawingml/2006/main">
            <a:pPr algn="ctr">
              <a:def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Learning</a:t>
            </a:r>
          </a:p>
        </p:txBody>
      </p:sp>
      <p:sp>
        <p:nvSpPr>
          <p:cNvPr id="147" name="gradient">
            <a:extLst xmlns:a="http://schemas.openxmlformats.org/drawingml/2006/main">
              <a:ext uri="{FF2B5EF4-FFF2-40B4-BE49-F238E27FC236}">
                <a16:creationId xmlns:a16="http://schemas.microsoft.com/office/drawing/2014/main" id="{72423E3D-D77F-4C87-82E1-3E4C2A00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1676400"/>
            <a:ext cx="1095375" cy="371475"/>
          </a:xfrm>
          <a:custGeom xmlns:a="http://schemas.openxmlformats.org/drawingml/2006/main">
            <a:pathLst>
              <a:path w="1095375" h="371475">
                <a:moveTo>
                  <a:pt x="57150" y="0"/>
                </a:moveTo>
                <a:lnTo>
                  <a:pt x="1038225" y="0"/>
                </a:lnTo>
                <a:cubicBezTo>
                  <a:pt x="1069788" y="0"/>
                  <a:pt x="1095375" y="25587"/>
                  <a:pt x="1095375" y="57150"/>
                </a:cubicBezTo>
                <a:lnTo>
                  <a:pt x="1095375" y="314325"/>
                </a:lnTo>
                <a:cubicBezTo>
                  <a:pt x="1095375" y="345888"/>
                  <a:pt x="1069788" y="371475"/>
                  <a:pt x="1038225" y="371475"/>
                </a:cubicBezTo>
                <a:lnTo>
                  <a:pt x="57150" y="371475"/>
                </a:lnTo>
                <a:cubicBezTo>
                  <a:pt x="25587" y="371475"/>
                  <a:pt x="0" y="345888"/>
                  <a:pt x="0" y="3143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8C7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48" name="gradient-label">
            <a:extLst xmlns:a="http://schemas.openxmlformats.org/drawingml/2006/main">
              <a:ext uri="{FF2B5EF4-FFF2-40B4-BE49-F238E27FC236}">
                <a16:creationId xmlns:a16="http://schemas.microsoft.com/office/drawing/2014/main" id="{D1BEB1AF-E489-44B4-B5EC-F5D46726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1704975"/>
            <a:ext cx="1076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Gradient</a:t>
            </a:r>
          </a:p>
          <a:p xmlns:a="http://schemas.openxmlformats.org/drawingml/2006/main">
            <a:pPr algn="ctr">
              <a:def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Optimization</a:t>
            </a:r>
          </a:p>
        </p:txBody>
      </p:sp>
      <p:sp>
        <p:nvSpPr>
          <p:cNvPr id="149" name="primitives">
            <a:extLst xmlns:a="http://schemas.openxmlformats.org/drawingml/2006/main">
              <a:ext uri="{FF2B5EF4-FFF2-40B4-BE49-F238E27FC236}">
                <a16:creationId xmlns:a16="http://schemas.microsoft.com/office/drawing/2014/main" id="{103E065A-2100-4A81-B5EB-EB487575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1676400"/>
            <a:ext cx="1514475" cy="371475"/>
          </a:xfrm>
          <a:custGeom xmlns:a="http://schemas.openxmlformats.org/drawingml/2006/main">
            <a:pathLst>
              <a:path w="1514475" h="371475">
                <a:moveTo>
                  <a:pt x="57150" y="0"/>
                </a:moveTo>
                <a:lnTo>
                  <a:pt x="1457325" y="0"/>
                </a:lnTo>
                <a:cubicBezTo>
                  <a:pt x="1488888" y="0"/>
                  <a:pt x="1514475" y="25587"/>
                  <a:pt x="1514475" y="57150"/>
                </a:cubicBezTo>
                <a:lnTo>
                  <a:pt x="1514475" y="314325"/>
                </a:lnTo>
                <a:cubicBezTo>
                  <a:pt x="1514475" y="345888"/>
                  <a:pt x="1488888" y="371475"/>
                  <a:pt x="1457325" y="371475"/>
                </a:cubicBezTo>
                <a:lnTo>
                  <a:pt x="57150" y="371475"/>
                </a:lnTo>
                <a:cubicBezTo>
                  <a:pt x="25587" y="371475"/>
                  <a:pt x="0" y="345888"/>
                  <a:pt x="0" y="3143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FF8C7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50" name="primitives-label">
            <a:extLst xmlns:a="http://schemas.openxmlformats.org/drawingml/2006/main">
              <a:ext uri="{FF2B5EF4-FFF2-40B4-BE49-F238E27FC236}">
                <a16:creationId xmlns:a16="http://schemas.microsoft.com/office/drawing/2014/main" id="{FE283AF1-C665-4294-A0F9-589DBC62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0875" y="1704975"/>
            <a:ext cx="1495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1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11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1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Action Primitive</a:t>
            </a:r>
          </a:p>
          <a:p xmlns:a="http://schemas.openxmlformats.org/drawingml/2006/main">
            <a:pPr algn="ctr">
              <a:defRPr sz="111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11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&amp; Motion Planning</a:t>
            </a:r>
          </a:p>
        </p:txBody>
      </p:sp>
      <p:sp>
        <p:nvSpPr>
          <p:cNvPr id="151" name="scene-state">
            <a:extLst xmlns:a="http://schemas.openxmlformats.org/drawingml/2006/main">
              <a:ext uri="{FF2B5EF4-FFF2-40B4-BE49-F238E27FC236}">
                <a16:creationId xmlns:a16="http://schemas.microsoft.com/office/drawing/2014/main" id="{65CDFB5F-887E-4C0E-A1E7-285263E9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2390775"/>
            <a:ext cx="619125" cy="457200"/>
          </a:xfrm>
          <a:custGeom xmlns:a="http://schemas.openxmlformats.org/drawingml/2006/main">
            <a:pathLst>
              <a:path w="619125" h="457200">
                <a:moveTo>
                  <a:pt x="57150" y="0"/>
                </a:moveTo>
                <a:lnTo>
                  <a:pt x="561975" y="0"/>
                </a:lnTo>
                <a:cubicBezTo>
                  <a:pt x="593538" y="0"/>
                  <a:pt x="619125" y="25587"/>
                  <a:pt x="619125" y="57150"/>
                </a:cubicBezTo>
                <a:lnTo>
                  <a:pt x="619125" y="400050"/>
                </a:lnTo>
                <a:cubicBezTo>
                  <a:pt x="619125" y="431613"/>
                  <a:pt x="593538" y="457200"/>
                  <a:pt x="561975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ECFBE9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52" name="scene-state-label">
            <a:extLst xmlns:a="http://schemas.openxmlformats.org/drawingml/2006/main">
              <a:ext uri="{FF2B5EF4-FFF2-40B4-BE49-F238E27FC236}">
                <a16:creationId xmlns:a16="http://schemas.microsoft.com/office/drawing/2014/main" id="{B179772B-43FA-40D2-AA94-A9B456E7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419350"/>
            <a:ext cx="600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Scene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state</a:t>
            </a:r>
          </a:p>
        </p:txBody>
      </p:sp>
      <p:sp>
        <p:nvSpPr>
          <p:cNvPr id="153" name="reward">
            <a:extLst xmlns:a="http://schemas.openxmlformats.org/drawingml/2006/main">
              <a:ext uri="{FF2B5EF4-FFF2-40B4-BE49-F238E27FC236}">
                <a16:creationId xmlns:a16="http://schemas.microsoft.com/office/drawing/2014/main" id="{B1D6EBB3-06C0-4C00-AD45-7C68F0A8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2390775"/>
            <a:ext cx="809625" cy="457200"/>
          </a:xfrm>
          <a:custGeom xmlns:a="http://schemas.openxmlformats.org/drawingml/2006/main">
            <a:pathLst>
              <a:path w="809625" h="457200">
                <a:moveTo>
                  <a:pt x="57150" y="0"/>
                </a:moveTo>
                <a:lnTo>
                  <a:pt x="752475" y="0"/>
                </a:lnTo>
                <a:cubicBezTo>
                  <a:pt x="784038" y="0"/>
                  <a:pt x="809625" y="25587"/>
                  <a:pt x="809625" y="57150"/>
                </a:cubicBezTo>
                <a:lnTo>
                  <a:pt x="809625" y="400050"/>
                </a:lnTo>
                <a:cubicBezTo>
                  <a:pt x="809625" y="431613"/>
                  <a:pt x="784038" y="457200"/>
                  <a:pt x="752475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ECFBE9"/>
          </a:solidFill>
          <a:ln xmlns:a="http://schemas.openxmlformats.org/drawingml/2006/main" w="19050">
            <a:solidFill>
              <a:srgbClr val="161616"/>
            </a:solidFill>
            <a:prstDash val="solid"/>
          </a:ln>
        </p:spPr>
      </p:sp>
      <p:sp>
        <p:nvSpPr>
          <p:cNvPr id="154" name="reward-label">
            <a:extLst xmlns:a="http://schemas.openxmlformats.org/drawingml/2006/main">
              <a:ext uri="{FF2B5EF4-FFF2-40B4-BE49-F238E27FC236}">
                <a16:creationId xmlns:a16="http://schemas.microsoft.com/office/drawing/2014/main" id="{1931A18E-2603-4B5E-98FC-1C57A41C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9375" y="2419350"/>
            <a:ext cx="79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5" name="reward-R">
            <a:extLst xmlns:a="http://schemas.openxmlformats.org/drawingml/2006/main">
              <a:ext uri="{FF2B5EF4-FFF2-40B4-BE49-F238E27FC236}">
                <a16:creationId xmlns:a16="http://schemas.microsoft.com/office/drawing/2014/main" id="{157AD6F7-9C7D-4C75-B77E-39F481F6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248602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56" name="reward-subscript">
            <a:extLst xmlns:a="http://schemas.openxmlformats.org/drawingml/2006/main">
              <a:ext uri="{FF2B5EF4-FFF2-40B4-BE49-F238E27FC236}">
                <a16:creationId xmlns:a16="http://schemas.microsoft.com/office/drawing/2014/main" id="{AB496436-3F03-497D-82F3-A44163C2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2590800"/>
            <a:ext cx="60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open_door</a:t>
            </a:r>
          </a:p>
        </p:txBody>
      </p:sp>
      <p:sp>
        <p:nvSpPr>
          <p:cNvPr id="157" name="task-chain-ellipsis">
            <a:extLst xmlns:a="http://schemas.openxmlformats.org/drawingml/2006/main">
              <a:ext uri="{FF2B5EF4-FFF2-40B4-BE49-F238E27FC236}">
                <a16:creationId xmlns:a16="http://schemas.microsoft.com/office/drawing/2014/main" id="{C474295A-C5B1-4E86-8215-45DBFD98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0" y="9810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sp>
        <p:nvSpPr>
          <p:cNvPr id="158" name="task-chain-0">
            <a:extLst xmlns:a="http://schemas.openxmlformats.org/drawingml/2006/main">
              <a:ext uri="{FF2B5EF4-FFF2-40B4-BE49-F238E27FC236}">
                <a16:creationId xmlns:a16="http://schemas.microsoft.com/office/drawing/2014/main" id="{5B055022-8FB8-469F-8FB4-26BBD1D3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962025"/>
            <a:ext cx="114300" cy="133350"/>
          </a:xfrm>
          <a:custGeom xmlns:a="http://schemas.openxmlformats.org/drawingml/2006/main">
            <a:pathLst>
              <a:path w="114300" h="133350">
                <a:moveTo>
                  <a:pt x="0" y="0"/>
                </a:moveTo>
                <a:lnTo>
                  <a:pt x="1143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56B96"/>
            </a:solidFill>
            <a:prstDash val="solid"/>
          </a:ln>
        </p:spPr>
      </p:sp>
      <p:sp>
        <p:nvSpPr>
          <p:cNvPr id="159" name="task-chain-0-arrow">
            <a:extLst xmlns:a="http://schemas.openxmlformats.org/drawingml/2006/main">
              <a:ext uri="{FF2B5EF4-FFF2-40B4-BE49-F238E27FC236}">
                <a16:creationId xmlns:a16="http://schemas.microsoft.com/office/drawing/2014/main" id="{E518F119-585E-4618-A0DF-A8C214DD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213" y="1034503"/>
            <a:ext cx="57587" cy="60872"/>
          </a:xfrm>
          <a:custGeom xmlns:a="http://schemas.openxmlformats.org/drawingml/2006/main">
            <a:pathLst>
              <a:path w="57587" h="60872">
                <a:moveTo>
                  <a:pt x="57587" y="60872"/>
                </a:moveTo>
                <a:lnTo>
                  <a:pt x="0" y="34961"/>
                </a:lnTo>
                <a:lnTo>
                  <a:pt x="40788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60" name="task-chain-1">
            <a:extLst xmlns:a="http://schemas.openxmlformats.org/drawingml/2006/main">
              <a:ext uri="{FF2B5EF4-FFF2-40B4-BE49-F238E27FC236}">
                <a16:creationId xmlns:a16="http://schemas.microsoft.com/office/drawing/2014/main" id="{01F4C9A6-1D20-4ABD-9231-7763B9E3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1066800"/>
            <a:ext cx="190500" cy="66675"/>
          </a:xfrm>
          <a:custGeom xmlns:a="http://schemas.openxmlformats.org/drawingml/2006/main">
            <a:pathLst>
              <a:path w="190500" h="66675">
                <a:moveTo>
                  <a:pt x="0" y="0"/>
                </a:moveTo>
                <a:lnTo>
                  <a:pt x="19050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56B96"/>
            </a:solidFill>
            <a:prstDash val="solid"/>
          </a:ln>
        </p:spPr>
      </p:sp>
      <p:sp>
        <p:nvSpPr>
          <p:cNvPr id="161" name="task-chain-1-arrow">
            <a:extLst xmlns:a="http://schemas.openxmlformats.org/drawingml/2006/main">
              <a:ext uri="{FF2B5EF4-FFF2-40B4-BE49-F238E27FC236}">
                <a16:creationId xmlns:a16="http://schemas.microsoft.com/office/drawing/2014/main" id="{818328D1-D1C6-48B1-B922-51447C0A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3135" y="1089243"/>
            <a:ext cx="62815" cy="50705"/>
          </a:xfrm>
          <a:custGeom xmlns:a="http://schemas.openxmlformats.org/drawingml/2006/main">
            <a:pathLst>
              <a:path w="62815" h="50705">
                <a:moveTo>
                  <a:pt x="62815" y="44232"/>
                </a:moveTo>
                <a:lnTo>
                  <a:pt x="0" y="50705"/>
                </a:lnTo>
                <a:lnTo>
                  <a:pt x="17747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62" name="task-chain-2">
            <a:extLst xmlns:a="http://schemas.openxmlformats.org/drawingml/2006/main">
              <a:ext uri="{FF2B5EF4-FFF2-40B4-BE49-F238E27FC236}">
                <a16:creationId xmlns:a16="http://schemas.microsoft.com/office/drawing/2014/main" id="{872B99C8-658B-468C-B2A3-8D651E69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5075" y="1066800"/>
            <a:ext cx="200025" cy="76200"/>
          </a:xfrm>
          <a:custGeom xmlns:a="http://schemas.openxmlformats.org/drawingml/2006/main">
            <a:pathLst>
              <a:path w="200025" h="76200">
                <a:moveTo>
                  <a:pt x="0" y="0"/>
                </a:moveTo>
                <a:lnTo>
                  <a:pt x="20002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56B96"/>
            </a:solidFill>
            <a:prstDash val="solid"/>
          </a:ln>
        </p:spPr>
      </p:sp>
      <p:sp>
        <p:nvSpPr>
          <p:cNvPr id="163" name="task-chain-2-arrow">
            <a:extLst xmlns:a="http://schemas.openxmlformats.org/drawingml/2006/main">
              <a:ext uri="{FF2B5EF4-FFF2-40B4-BE49-F238E27FC236}">
                <a16:creationId xmlns:a16="http://schemas.microsoft.com/office/drawing/2014/main" id="{CFF0FCB8-36B8-4281-A6B7-F6CD8963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2132" y="1097554"/>
            <a:ext cx="62968" cy="50202"/>
          </a:xfrm>
          <a:custGeom xmlns:a="http://schemas.openxmlformats.org/drawingml/2006/main">
            <a:pathLst>
              <a:path w="62968" h="50202">
                <a:moveTo>
                  <a:pt x="62968" y="45446"/>
                </a:moveTo>
                <a:lnTo>
                  <a:pt x="0" y="50202"/>
                </a:lnTo>
                <a:lnTo>
                  <a:pt x="19124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64" name="task-chain-3">
            <a:extLst xmlns:a="http://schemas.openxmlformats.org/drawingml/2006/main">
              <a:ext uri="{FF2B5EF4-FFF2-40B4-BE49-F238E27FC236}">
                <a16:creationId xmlns:a16="http://schemas.microsoft.com/office/drawing/2014/main" id="{28CB7279-98C4-4EAE-8AA3-B819AC9D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7100" y="1066800"/>
            <a:ext cx="171450" cy="66675"/>
          </a:xfrm>
          <a:custGeom xmlns:a="http://schemas.openxmlformats.org/drawingml/2006/main">
            <a:pathLst>
              <a:path w="171450" h="66675">
                <a:moveTo>
                  <a:pt x="0" y="0"/>
                </a:moveTo>
                <a:lnTo>
                  <a:pt x="17145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56B96"/>
            </a:solidFill>
            <a:prstDash val="solid"/>
          </a:ln>
        </p:spPr>
      </p:sp>
      <p:sp>
        <p:nvSpPr>
          <p:cNvPr id="165" name="task-chain-3-arrow">
            <a:extLst xmlns:a="http://schemas.openxmlformats.org/drawingml/2006/main">
              <a:ext uri="{FF2B5EF4-FFF2-40B4-BE49-F238E27FC236}">
                <a16:creationId xmlns:a16="http://schemas.microsoft.com/office/drawing/2014/main" id="{2E146B64-EC12-4BD5-A332-0C952CFA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5550" y="1087727"/>
            <a:ext cx="63000" cy="50068"/>
          </a:xfrm>
          <a:custGeom xmlns:a="http://schemas.openxmlformats.org/drawingml/2006/main">
            <a:pathLst>
              <a:path w="63000" h="50068">
                <a:moveTo>
                  <a:pt x="63000" y="45748"/>
                </a:moveTo>
                <a:lnTo>
                  <a:pt x="0" y="50068"/>
                </a:lnTo>
                <a:lnTo>
                  <a:pt x="19471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66" name="task-chain-4">
            <a:extLst xmlns:a="http://schemas.openxmlformats.org/drawingml/2006/main">
              <a:ext uri="{FF2B5EF4-FFF2-40B4-BE49-F238E27FC236}">
                <a16:creationId xmlns:a16="http://schemas.microsoft.com/office/drawing/2014/main" id="{A25FE0CE-287E-48C6-90EB-B72115B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1038225"/>
            <a:ext cx="190500" cy="95250"/>
          </a:xfrm>
          <a:custGeom xmlns:a="http://schemas.openxmlformats.org/drawingml/2006/main">
            <a:pathLst>
              <a:path w="190500" h="95250">
                <a:moveTo>
                  <a:pt x="0" y="0"/>
                </a:moveTo>
                <a:lnTo>
                  <a:pt x="1905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56B96"/>
            </a:solidFill>
            <a:prstDash val="solid"/>
          </a:ln>
        </p:spPr>
      </p:sp>
      <p:sp>
        <p:nvSpPr>
          <p:cNvPr id="167" name="task-chain-4-arrow">
            <a:extLst xmlns:a="http://schemas.openxmlformats.org/drawingml/2006/main">
              <a:ext uri="{FF2B5EF4-FFF2-40B4-BE49-F238E27FC236}">
                <a16:creationId xmlns:a16="http://schemas.microsoft.com/office/drawing/2014/main" id="{C5E9A5C6-AF6A-461F-8A34-0C97F63E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14571" y="1083892"/>
            <a:ext cx="63129" cy="49583"/>
          </a:xfrm>
          <a:custGeom xmlns:a="http://schemas.openxmlformats.org/drawingml/2006/main">
            <a:pathLst>
              <a:path w="63129" h="49583">
                <a:moveTo>
                  <a:pt x="63129" y="49583"/>
                </a:moveTo>
                <a:lnTo>
                  <a:pt x="0" y="48050"/>
                </a:lnTo>
                <a:lnTo>
                  <a:pt x="24025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68" name="select">
            <a:extLst xmlns:a="http://schemas.openxmlformats.org/drawingml/2006/main">
              <a:ext uri="{FF2B5EF4-FFF2-40B4-BE49-F238E27FC236}">
                <a16:creationId xmlns:a16="http://schemas.microsoft.com/office/drawing/2014/main" id="{3EB5D80B-AA58-4A86-980E-0117EACF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314450"/>
            <a:ext cx="457200" cy="190500"/>
          </a:xfrm>
          <a:custGeom xmlns:a="http://schemas.openxmlformats.org/drawingml/2006/main">
            <a:pathLst>
              <a:path w="457200" h="190500">
                <a:moveTo>
                  <a:pt x="47625" y="0"/>
                </a:moveTo>
                <a:lnTo>
                  <a:pt x="409575" y="0"/>
                </a:lnTo>
                <a:cubicBezTo>
                  <a:pt x="435878" y="0"/>
                  <a:pt x="457200" y="21322"/>
                  <a:pt x="457200" y="47625"/>
                </a:cubicBezTo>
                <a:lnTo>
                  <a:pt x="457200" y="142875"/>
                </a:lnTo>
                <a:cubicBezTo>
                  <a:pt x="457200" y="169178"/>
                  <a:pt x="435878" y="190500"/>
                  <a:pt x="409575" y="190500"/>
                </a:cubicBezTo>
                <a:lnTo>
                  <a:pt x="47625" y="190500"/>
                </a:lnTo>
                <a:cubicBezTo>
                  <a:pt x="21322" y="190500"/>
                  <a:pt x="0" y="169178"/>
                  <a:pt x="0" y="14287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1616"/>
            </a:solidFill>
            <a:prstDash val="solid"/>
          </a:ln>
        </p:spPr>
      </p:sp>
      <p:sp>
        <p:nvSpPr>
          <p:cNvPr id="169" name="select-label">
            <a:extLst xmlns:a="http://schemas.openxmlformats.org/drawingml/2006/main">
              <a:ext uri="{FF2B5EF4-FFF2-40B4-BE49-F238E27FC236}">
                <a16:creationId xmlns:a16="http://schemas.microsoft.com/office/drawing/2014/main" id="{AA91044E-E057-48EB-9866-11E1469D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0725" y="1314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Select</a:t>
            </a:r>
          </a:p>
        </p:txBody>
      </p:sp>
      <p:sp>
        <p:nvSpPr>
          <p:cNvPr id="170" name="select-rl">
            <a:extLst xmlns:a="http://schemas.openxmlformats.org/drawingml/2006/main">
              <a:ext uri="{FF2B5EF4-FFF2-40B4-BE49-F238E27FC236}">
                <a16:creationId xmlns:a16="http://schemas.microsoft.com/office/drawing/2014/main" id="{A02C5798-CE72-476E-964C-84C0C736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1476375"/>
            <a:ext cx="962025" cy="171450"/>
          </a:xfrm>
          <a:custGeom xmlns:a="http://schemas.openxmlformats.org/drawingml/2006/main">
            <a:pathLst>
              <a:path w="962025" h="171450">
                <a:moveTo>
                  <a:pt x="962025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171" name="select-rl-arrow">
            <a:extLst xmlns:a="http://schemas.openxmlformats.org/drawingml/2006/main">
              <a:ext uri="{FF2B5EF4-FFF2-40B4-BE49-F238E27FC236}">
                <a16:creationId xmlns:a16="http://schemas.microsoft.com/office/drawing/2014/main" id="{1753D410-5BD3-4538-90D1-CB02CAFA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1605276"/>
            <a:ext cx="71139" cy="61702"/>
          </a:xfrm>
          <a:custGeom xmlns:a="http://schemas.openxmlformats.org/drawingml/2006/main">
            <a:pathLst>
              <a:path w="71139" h="61702">
                <a:moveTo>
                  <a:pt x="0" y="42549"/>
                </a:moveTo>
                <a:lnTo>
                  <a:pt x="60142" y="0"/>
                </a:lnTo>
                <a:lnTo>
                  <a:pt x="71139" y="61702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72" name="select-gradient">
            <a:extLst xmlns:a="http://schemas.openxmlformats.org/drawingml/2006/main">
              <a:ext uri="{FF2B5EF4-FFF2-40B4-BE49-F238E27FC236}">
                <a16:creationId xmlns:a16="http://schemas.microsoft.com/office/drawing/2014/main" id="{5E7E9FD6-F64E-4742-943B-BE0CFD8E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1504950"/>
            <a:ext cx="114300" cy="152400"/>
          </a:xfrm>
          <a:custGeom xmlns:a="http://schemas.openxmlformats.org/drawingml/2006/main">
            <a:pathLst>
              <a:path w="114300" h="152400">
                <a:moveTo>
                  <a:pt x="0" y="0"/>
                </a:moveTo>
                <a:lnTo>
                  <a:pt x="1143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173" name="select-gradient-arrow">
            <a:extLst xmlns:a="http://schemas.openxmlformats.org/drawingml/2006/main">
              <a:ext uri="{FF2B5EF4-FFF2-40B4-BE49-F238E27FC236}">
                <a16:creationId xmlns:a16="http://schemas.microsoft.com/office/drawing/2014/main" id="{BA3EC19A-4B36-4EAB-9AC1-37C85ABB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7125" y="1585208"/>
            <a:ext cx="65075" cy="72142"/>
          </a:xfrm>
          <a:custGeom xmlns:a="http://schemas.openxmlformats.org/drawingml/2006/main">
            <a:pathLst>
              <a:path w="65075" h="72142">
                <a:moveTo>
                  <a:pt x="65075" y="72142"/>
                </a:moveTo>
                <a:lnTo>
                  <a:pt x="0" y="37605"/>
                </a:lnTo>
                <a:lnTo>
                  <a:pt x="50140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74" name="select-primitive">
            <a:extLst xmlns:a="http://schemas.openxmlformats.org/drawingml/2006/main">
              <a:ext uri="{FF2B5EF4-FFF2-40B4-BE49-F238E27FC236}">
                <a16:creationId xmlns:a16="http://schemas.microsoft.com/office/drawing/2014/main" id="{03BC85C9-8528-4105-8732-8E4B92E3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8875" y="1438275"/>
            <a:ext cx="1533525" cy="209550"/>
          </a:xfrm>
          <a:custGeom xmlns:a="http://schemas.openxmlformats.org/drawingml/2006/main">
            <a:pathLst>
              <a:path w="1533525" h="209550">
                <a:moveTo>
                  <a:pt x="0" y="0"/>
                </a:moveTo>
                <a:lnTo>
                  <a:pt x="1533525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175" name="select-primitive-arrow">
            <a:extLst xmlns:a="http://schemas.openxmlformats.org/drawingml/2006/main">
              <a:ext uri="{FF2B5EF4-FFF2-40B4-BE49-F238E27FC236}">
                <a16:creationId xmlns:a16="http://schemas.microsoft.com/office/drawing/2014/main" id="{B7DF838D-65BA-49BF-911C-A1E8B758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2096" y="1607749"/>
            <a:ext cx="70304" cy="62097"/>
          </a:xfrm>
          <a:custGeom xmlns:a="http://schemas.openxmlformats.org/drawingml/2006/main">
            <a:pathLst>
              <a:path w="70304" h="62097">
                <a:moveTo>
                  <a:pt x="70304" y="40076"/>
                </a:moveTo>
                <a:lnTo>
                  <a:pt x="0" y="62097"/>
                </a:lnTo>
                <a:lnTo>
                  <a:pt x="8485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76" name="state-to-llm">
            <a:extLst xmlns:a="http://schemas.openxmlformats.org/drawingml/2006/main">
              <a:ext uri="{FF2B5EF4-FFF2-40B4-BE49-F238E27FC236}">
                <a16:creationId xmlns:a16="http://schemas.microsoft.com/office/drawing/2014/main" id="{8AB2DBA2-E2CC-4C42-95B5-91C791E6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3025" y="2628900"/>
            <a:ext cx="447675" cy="953"/>
          </a:xfrm>
          <a:custGeom xmlns:a="http://schemas.openxmlformats.org/drawingml/2006/main">
            <a:pathLst>
              <a:path w="447675" h="953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177" name="state-to-llm-arrow">
            <a:extLst xmlns:a="http://schemas.openxmlformats.org/drawingml/2006/main">
              <a:ext uri="{FF2B5EF4-FFF2-40B4-BE49-F238E27FC236}">
                <a16:creationId xmlns:a16="http://schemas.microsoft.com/office/drawing/2014/main" id="{F1F791EF-A465-422F-AE4C-3808307D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2597563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78" name="llm-to-reward">
            <a:extLst xmlns:a="http://schemas.openxmlformats.org/drawingml/2006/main">
              <a:ext uri="{FF2B5EF4-FFF2-40B4-BE49-F238E27FC236}">
                <a16:creationId xmlns:a16="http://schemas.microsoft.com/office/drawing/2014/main" id="{33728A28-F088-42C0-B6B9-14F8D7EE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8375" y="2628900"/>
            <a:ext cx="352425" cy="953"/>
          </a:xfrm>
          <a:custGeom xmlns:a="http://schemas.openxmlformats.org/drawingml/2006/main"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56B96"/>
            </a:solidFill>
            <a:prstDash val="solid"/>
          </a:ln>
        </p:spPr>
      </p:sp>
      <p:sp>
        <p:nvSpPr>
          <p:cNvPr id="179" name="llm-to-reward-arrow">
            <a:extLst xmlns:a="http://schemas.openxmlformats.org/drawingml/2006/main">
              <a:ext uri="{FF2B5EF4-FFF2-40B4-BE49-F238E27FC236}">
                <a16:creationId xmlns:a16="http://schemas.microsoft.com/office/drawing/2014/main" id="{87247761-E2AD-4155-85AF-BAB2FE49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125" y="2597563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80" name="rl-to-reward">
            <a:extLst xmlns:a="http://schemas.openxmlformats.org/drawingml/2006/main">
              <a:ext uri="{FF2B5EF4-FFF2-40B4-BE49-F238E27FC236}">
                <a16:creationId xmlns:a16="http://schemas.microsoft.com/office/drawing/2014/main" id="{B48AA927-AF6A-4486-BB5E-9D4062D3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057400"/>
            <a:ext cx="914400" cy="390525"/>
          </a:xfrm>
          <a:custGeom xmlns:a="http://schemas.openxmlformats.org/drawingml/2006/main">
            <a:pathLst>
              <a:path w="914400" h="390525">
                <a:moveTo>
                  <a:pt x="0" y="0"/>
                </a:moveTo>
                <a:cubicBezTo>
                  <a:pt x="219075" y="352425"/>
                  <a:pt x="695325" y="114300"/>
                  <a:pt x="914400" y="390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181" name="gradient-to-reward">
            <a:extLst xmlns:a="http://schemas.openxmlformats.org/drawingml/2006/main">
              <a:ext uri="{FF2B5EF4-FFF2-40B4-BE49-F238E27FC236}">
                <a16:creationId xmlns:a16="http://schemas.microsoft.com/office/drawing/2014/main" id="{3890DA14-0181-4397-9DD7-D4C70FC9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2076450"/>
            <a:ext cx="476250" cy="361950"/>
          </a:xfrm>
          <a:custGeom xmlns:a="http://schemas.openxmlformats.org/drawingml/2006/main">
            <a:pathLst>
              <a:path w="476250" h="361950">
                <a:moveTo>
                  <a:pt x="476250" y="0"/>
                </a:moveTo>
                <a:cubicBezTo>
                  <a:pt x="457200" y="238125"/>
                  <a:pt x="85725" y="295275"/>
                  <a:pt x="0" y="3619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182" name="rl-reward-tip">
            <a:extLst xmlns:a="http://schemas.openxmlformats.org/drawingml/2006/main">
              <a:ext uri="{FF2B5EF4-FFF2-40B4-BE49-F238E27FC236}">
                <a16:creationId xmlns:a16="http://schemas.microsoft.com/office/drawing/2014/main" id="{2F93E98B-3146-4CF1-8618-F82A6AD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362200"/>
            <a:ext cx="57150" cy="85725"/>
          </a:xfrm>
          <a:custGeom xmlns:a="http://schemas.openxmlformats.org/drawingml/2006/main">
            <a:pathLst>
              <a:path w="57150" h="85725">
                <a:moveTo>
                  <a:pt x="0" y="0"/>
                </a:moveTo>
                <a:lnTo>
                  <a:pt x="5715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56B96"/>
            </a:solidFill>
            <a:prstDash val="solid"/>
          </a:ln>
        </p:spPr>
      </p:sp>
      <p:sp>
        <p:nvSpPr>
          <p:cNvPr id="183" name="rl-reward-tip-arrow">
            <a:extLst xmlns:a="http://schemas.openxmlformats.org/drawingml/2006/main">
              <a:ext uri="{FF2B5EF4-FFF2-40B4-BE49-F238E27FC236}">
                <a16:creationId xmlns:a16="http://schemas.microsoft.com/office/drawing/2014/main" id="{763D4B19-CA88-45A4-A3A8-B8A65DB4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9091" y="2375065"/>
            <a:ext cx="63059" cy="72860"/>
          </a:xfrm>
          <a:custGeom xmlns:a="http://schemas.openxmlformats.org/drawingml/2006/main">
            <a:pathLst>
              <a:path w="63059" h="72860">
                <a:moveTo>
                  <a:pt x="63059" y="72860"/>
                </a:moveTo>
                <a:lnTo>
                  <a:pt x="0" y="34766"/>
                </a:lnTo>
                <a:lnTo>
                  <a:pt x="52148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84" name="gradient-reward-tip">
            <a:extLst xmlns:a="http://schemas.openxmlformats.org/drawingml/2006/main">
              <a:ext uri="{FF2B5EF4-FFF2-40B4-BE49-F238E27FC236}">
                <a16:creationId xmlns:a16="http://schemas.microsoft.com/office/drawing/2014/main" id="{29FECAB6-8519-467E-A616-17309EE9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23717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56B96"/>
            </a:solidFill>
            <a:prstDash val="solid"/>
          </a:ln>
        </p:spPr>
      </p:sp>
      <p:sp>
        <p:nvSpPr>
          <p:cNvPr id="185" name="gradient-reward-tip-arrow">
            <a:extLst xmlns:a="http://schemas.openxmlformats.org/drawingml/2006/main">
              <a:ext uri="{FF2B5EF4-FFF2-40B4-BE49-F238E27FC236}">
                <a16:creationId xmlns:a16="http://schemas.microsoft.com/office/drawing/2014/main" id="{26F73035-8D46-4050-A3F0-FFD680B5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2378620"/>
            <a:ext cx="69305" cy="69305"/>
          </a:xfrm>
          <a:custGeom xmlns:a="http://schemas.openxmlformats.org/drawingml/2006/main">
            <a:pathLst>
              <a:path w="69305" h="69305">
                <a:moveTo>
                  <a:pt x="0" y="69305"/>
                </a:moveTo>
                <a:lnTo>
                  <a:pt x="24988" y="0"/>
                </a:lnTo>
                <a:lnTo>
                  <a:pt x="69305" y="44318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86" name="reward-to-learning">
            <a:extLst xmlns:a="http://schemas.openxmlformats.org/drawingml/2006/main">
              <a:ext uri="{FF2B5EF4-FFF2-40B4-BE49-F238E27FC236}">
                <a16:creationId xmlns:a16="http://schemas.microsoft.com/office/drawing/2014/main" id="{1E7B0E0B-1BBA-4685-B778-8192BFA8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8525" y="2590800"/>
            <a:ext cx="619125" cy="1162050"/>
          </a:xfrm>
          <a:custGeom xmlns:a="http://schemas.openxmlformats.org/drawingml/2006/main">
            <a:pathLst>
              <a:path w="619125" h="1162050">
                <a:moveTo>
                  <a:pt x="0" y="0"/>
                </a:moveTo>
                <a:cubicBezTo>
                  <a:pt x="581025" y="133350"/>
                  <a:pt x="628650" y="685800"/>
                  <a:pt x="609600" y="1162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187" name="primitive-to-learning">
            <a:extLst xmlns:a="http://schemas.openxmlformats.org/drawingml/2006/main">
              <a:ext uri="{FF2B5EF4-FFF2-40B4-BE49-F238E27FC236}">
                <a16:creationId xmlns:a16="http://schemas.microsoft.com/office/drawing/2014/main" id="{6B44859F-574A-44A6-BA7E-342FA76C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4325" y="2076450"/>
            <a:ext cx="180975" cy="1676400"/>
          </a:xfrm>
          <a:custGeom xmlns:a="http://schemas.openxmlformats.org/drawingml/2006/main">
            <a:pathLst>
              <a:path w="180975" h="1676400">
                <a:moveTo>
                  <a:pt x="0" y="0"/>
                </a:moveTo>
                <a:cubicBezTo>
                  <a:pt x="400050" y="504825"/>
                  <a:pt x="19050" y="819150"/>
                  <a:pt x="19050" y="16764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B96"/>
            </a:solidFill>
            <a:prstDash val="solid"/>
          </a:ln>
        </p:spPr>
      </p:sp>
      <p:sp>
        <p:nvSpPr>
          <p:cNvPr id="188" name="reward-learning-tip">
            <a:extLst xmlns:a="http://schemas.openxmlformats.org/drawingml/2006/main">
              <a:ext uri="{FF2B5EF4-FFF2-40B4-BE49-F238E27FC236}">
                <a16:creationId xmlns:a16="http://schemas.microsoft.com/office/drawing/2014/main" id="{47CE9E71-9496-4787-9366-B1A3F44A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8125" y="3657600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56B96"/>
            </a:solidFill>
            <a:prstDash val="solid"/>
          </a:ln>
        </p:spPr>
      </p:sp>
      <p:sp>
        <p:nvSpPr>
          <p:cNvPr id="189" name="reward-learning-tip-arrow">
            <a:extLst xmlns:a="http://schemas.openxmlformats.org/drawingml/2006/main">
              <a:ext uri="{FF2B5EF4-FFF2-40B4-BE49-F238E27FC236}">
                <a16:creationId xmlns:a16="http://schemas.microsoft.com/office/drawing/2014/main" id="{D2A00A26-7CD9-4330-8BBD-46710471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2311" y="3714750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76200"/>
                </a:moveTo>
                <a:lnTo>
                  <a:pt x="0" y="0"/>
                </a:lnTo>
                <a:lnTo>
                  <a:pt x="71628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sp>
        <p:nvSpPr>
          <p:cNvPr id="190" name="primitive-learning-tip">
            <a:extLst xmlns:a="http://schemas.openxmlformats.org/drawingml/2006/main">
              <a:ext uri="{FF2B5EF4-FFF2-40B4-BE49-F238E27FC236}">
                <a16:creationId xmlns:a16="http://schemas.microsoft.com/office/drawing/2014/main" id="{842BE0D0-F289-45FD-95ED-5345CF76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3375" y="3657600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356B96"/>
            </a:solidFill>
            <a:prstDash val="solid"/>
          </a:ln>
        </p:spPr>
      </p:sp>
      <p:sp>
        <p:nvSpPr>
          <p:cNvPr id="191" name="primitive-learning-tip-arrow">
            <a:extLst xmlns:a="http://schemas.openxmlformats.org/drawingml/2006/main">
              <a:ext uri="{FF2B5EF4-FFF2-40B4-BE49-F238E27FC236}">
                <a16:creationId xmlns:a16="http://schemas.microsoft.com/office/drawing/2014/main" id="{0E85E8EE-F039-4FB5-B609-D52E6578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7561" y="3714750"/>
            <a:ext cx="71628" cy="76200"/>
          </a:xfrm>
          <a:custGeom xmlns:a="http://schemas.openxmlformats.org/drawingml/2006/main">
            <a:pathLst>
              <a:path w="71628" h="76200">
                <a:moveTo>
                  <a:pt x="35814" y="76200"/>
                </a:moveTo>
                <a:lnTo>
                  <a:pt x="0" y="0"/>
                </a:lnTo>
                <a:lnTo>
                  <a:pt x="71628" y="0"/>
                </a:lnTo>
                <a:close/>
              </a:path>
            </a:pathLst>
          </a:custGeom>
          <a:solidFill xmlns:a="http://schemas.openxmlformats.org/drawingml/2006/main">
            <a:srgbClr val="356B96"/>
          </a:solidFill>
          <a:ln xmlns:a="http://schemas.openxmlformats.org/drawingml/2006/main" w="0">
            <a:solidFill>
              <a:srgbClr val="356B96"/>
            </a:solidFill>
            <a:prstDash val="solid"/>
          </a:ln>
        </p:spPr>
      </p:sp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3287FE9-C206-4CAE-9868-BC4323AEB3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f73a38ecd46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9650" y="38766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3" name="skill-0-0">
            <a:extLst xmlns:a="http://schemas.openxmlformats.org/drawingml/2006/main">
              <a:ext uri="{FF2B5EF4-FFF2-40B4-BE49-F238E27FC236}">
                <a16:creationId xmlns:a16="http://schemas.microsoft.com/office/drawing/2014/main" id="{E6A0CB3B-F5F5-42DB-9502-3969B4F3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3876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97070B2-A088-479A-8AD9-C7DCDC4073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2d198a83f45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38766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5" name="skill-0-1">
            <a:extLst xmlns:a="http://schemas.openxmlformats.org/drawingml/2006/main">
              <a:ext uri="{FF2B5EF4-FFF2-40B4-BE49-F238E27FC236}">
                <a16:creationId xmlns:a16="http://schemas.microsoft.com/office/drawing/2014/main" id="{2DD1C711-833C-4908-8321-F79CF19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3876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6CD6F8C-CFDC-4DE4-8EBB-6DCD50FBFF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8e634a57641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4550" y="38766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7" name="skill-0-2">
            <a:extLst xmlns:a="http://schemas.openxmlformats.org/drawingml/2006/main">
              <a:ext uri="{FF2B5EF4-FFF2-40B4-BE49-F238E27FC236}">
                <a16:creationId xmlns:a16="http://schemas.microsoft.com/office/drawing/2014/main" id="{3583FFA4-9094-421F-B4BD-20F1ED7D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3876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B143317-FC9B-4AC6-9A93-130FD03A61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9d9af1de348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7475" y="38766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9" name="skill-0-3">
            <a:extLst xmlns:a="http://schemas.openxmlformats.org/drawingml/2006/main">
              <a:ext uri="{FF2B5EF4-FFF2-40B4-BE49-F238E27FC236}">
                <a16:creationId xmlns:a16="http://schemas.microsoft.com/office/drawing/2014/main" id="{02FE8DF1-46BD-4F40-8DDA-B78EC1E4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7475" y="3876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C8DEB46-5679-4FF0-858B-6F78EB46A4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927d937734c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29925" y="38766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1" name="skill-0-4">
            <a:extLst xmlns:a="http://schemas.openxmlformats.org/drawingml/2006/main">
              <a:ext uri="{FF2B5EF4-FFF2-40B4-BE49-F238E27FC236}">
                <a16:creationId xmlns:a16="http://schemas.microsoft.com/office/drawing/2014/main" id="{88307874-5163-4BDB-BC8C-A2DE617F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9925" y="3876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A0D0E12-C594-4F6F-B7D1-655C42288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963d7ab8649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82375" y="38766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3" name="skill-0-5">
            <a:extLst xmlns:a="http://schemas.openxmlformats.org/drawingml/2006/main">
              <a:ext uri="{FF2B5EF4-FFF2-40B4-BE49-F238E27FC236}">
                <a16:creationId xmlns:a16="http://schemas.microsoft.com/office/drawing/2014/main" id="{CCCA1DAE-3D16-433E-AAE8-540D185E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2375" y="3876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5E1627A2-D545-464D-BEFD-0EF2DDA33C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550f3fb314c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4371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5" name="skill-1-0">
            <a:extLst xmlns:a="http://schemas.openxmlformats.org/drawingml/2006/main">
              <a:ext uri="{FF2B5EF4-FFF2-40B4-BE49-F238E27FC236}">
                <a16:creationId xmlns:a16="http://schemas.microsoft.com/office/drawing/2014/main" id="{28EF757B-6311-431C-9B76-FCC614AF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4371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6FE63E0-5E52-4D90-8CDE-A4CFF45E59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da039cbd14e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4371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7" name="skill-1-1">
            <a:extLst xmlns:a="http://schemas.openxmlformats.org/drawingml/2006/main">
              <a:ext uri="{FF2B5EF4-FFF2-40B4-BE49-F238E27FC236}">
                <a16:creationId xmlns:a16="http://schemas.microsoft.com/office/drawing/2014/main" id="{0FB3F1CE-0002-452D-A4E9-162611B3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4371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E66ACA9-FB5B-4AEF-93E6-595255571A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01476f7d740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7850" y="4371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9" name="skill-1-2">
            <a:extLst xmlns:a="http://schemas.openxmlformats.org/drawingml/2006/main">
              <a:ext uri="{FF2B5EF4-FFF2-40B4-BE49-F238E27FC236}">
                <a16:creationId xmlns:a16="http://schemas.microsoft.com/office/drawing/2014/main" id="{4A1BF447-0F97-4D78-8D85-3544C93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4371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4B32FC4-3F41-43E0-9495-FEAD2FF4E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73acce9524f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0300" y="4371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11" name="skill-1-3">
            <a:extLst xmlns:a="http://schemas.openxmlformats.org/drawingml/2006/main">
              <a:ext uri="{FF2B5EF4-FFF2-40B4-BE49-F238E27FC236}">
                <a16:creationId xmlns:a16="http://schemas.microsoft.com/office/drawing/2014/main" id="{62017DB0-3852-44AD-91B9-F0AB3FA5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300" y="4371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332C670-7CDA-4D12-BA7D-B16B0CB5D2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a378e69df45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4371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13" name="skill-1-4">
            <a:extLst xmlns:a="http://schemas.openxmlformats.org/drawingml/2006/main">
              <a:ext uri="{FF2B5EF4-FFF2-40B4-BE49-F238E27FC236}">
                <a16:creationId xmlns:a16="http://schemas.microsoft.com/office/drawing/2014/main" id="{676548D4-908E-4341-B0D8-A2056E46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371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54BED75-3CA0-44D1-A356-87431BA244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a94c20bd24b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34725" y="4371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15" name="skill-1-5">
            <a:extLst xmlns:a="http://schemas.openxmlformats.org/drawingml/2006/main">
              <a:ext uri="{FF2B5EF4-FFF2-40B4-BE49-F238E27FC236}">
                <a16:creationId xmlns:a16="http://schemas.microsoft.com/office/drawing/2014/main" id="{42699D11-47C3-4DC2-98C9-01A8A65B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725" y="4371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4FB0E2F-7ABC-448E-B140-BBEBCD21B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2f97c90d74d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77650" y="4371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17" name="skill-1-6">
            <a:extLst xmlns:a="http://schemas.openxmlformats.org/drawingml/2006/main">
              <a:ext uri="{FF2B5EF4-FFF2-40B4-BE49-F238E27FC236}">
                <a16:creationId xmlns:a16="http://schemas.microsoft.com/office/drawing/2014/main" id="{2C16BB89-9977-440C-AEA6-A2FAC505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7650" y="4371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35E603C-F7D4-4BB4-96C2-EE53981714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86ea7a70347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8225" y="48672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19" name="skill-2-0">
            <a:extLst xmlns:a="http://schemas.openxmlformats.org/drawingml/2006/main">
              <a:ext uri="{FF2B5EF4-FFF2-40B4-BE49-F238E27FC236}">
                <a16:creationId xmlns:a16="http://schemas.microsoft.com/office/drawing/2014/main" id="{AD0C8FDD-D620-4C4D-AE9C-4CCEE5C7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4867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DDC45BF-B235-4511-80C1-B2303767D1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07cd8c8d54e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0675" y="48672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1" name="skill-2-1">
            <a:extLst xmlns:a="http://schemas.openxmlformats.org/drawingml/2006/main">
              <a:ext uri="{FF2B5EF4-FFF2-40B4-BE49-F238E27FC236}">
                <a16:creationId xmlns:a16="http://schemas.microsoft.com/office/drawing/2014/main" id="{CDEB87D5-E13F-4FB4-96D7-FC35FFD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0675" y="4867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7B79B154-06B6-49CA-8C7E-42907D783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91b8c8e4b4d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53600" y="48672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3" name="skill-2-2">
            <a:extLst xmlns:a="http://schemas.openxmlformats.org/drawingml/2006/main">
              <a:ext uri="{FF2B5EF4-FFF2-40B4-BE49-F238E27FC236}">
                <a16:creationId xmlns:a16="http://schemas.microsoft.com/office/drawing/2014/main" id="{0CDA6BB7-268A-4632-A2F4-56F455ED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867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10D7112-9523-45CF-BCF0-B09C68DE3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c1ac22b1b48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6050" y="48672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5" name="skill-2-3">
            <a:extLst xmlns:a="http://schemas.openxmlformats.org/drawingml/2006/main">
              <a:ext uri="{FF2B5EF4-FFF2-40B4-BE49-F238E27FC236}">
                <a16:creationId xmlns:a16="http://schemas.microsoft.com/office/drawing/2014/main" id="{27A18667-1252-4D17-AB4E-40FD1787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4867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99BA988-E5C7-4DAE-8F72-723EE9E751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3822e2b0348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8975" y="48672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7" name="skill-2-4">
            <a:extLst xmlns:a="http://schemas.openxmlformats.org/drawingml/2006/main">
              <a:ext uri="{FF2B5EF4-FFF2-40B4-BE49-F238E27FC236}">
                <a16:creationId xmlns:a16="http://schemas.microsoft.com/office/drawing/2014/main" id="{5CC9D953-7111-4867-ACF6-4B27D305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867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2ECFAF3-5CFB-45B2-AFEE-D8CEF70C5F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10097560542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91900" y="48672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29" name="skill-2-5">
            <a:extLst xmlns:a="http://schemas.openxmlformats.org/drawingml/2006/main">
              <a:ext uri="{FF2B5EF4-FFF2-40B4-BE49-F238E27FC236}">
                <a16:creationId xmlns:a16="http://schemas.microsoft.com/office/drawing/2014/main" id="{8A649756-62A0-48D0-B1BD-F5DB06BB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1900" y="4867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74128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2026-10-09T21:46:48.7500000Z</dcterms:created>
  <dcterms:modified xsi:type="dcterms:W3CDTF">2026-10-09T21:46:48.7500000Z</dcterms:modified>
</coreProperties>
</file>