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349b7ccdd74f1f" /><Relationship Type="http://schemas.openxmlformats.org/officeDocument/2006/relationships/extended-properties" Target="/docProps/app.xml" Id="Rc4e57de497c34b0e" /><Relationship Type="http://schemas.openxmlformats.org/officeDocument/2006/relationships/officeDocument" Target="/ppt/presentation.xml" Id="R84983bab16b847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66fd5576114086"/>
  </p:sldMasterIdLst>
  <p:notesMasterIdLst>
    <p:notesMasterId xmlns:r="http://schemas.openxmlformats.org/officeDocument/2006/relationships" r:id="Rc61d04da0b3e41c8"/>
  </p:notesMasterIdLst>
  <p:sldIdLst>
    <p:sldId xmlns:r="http://schemas.openxmlformats.org/officeDocument/2006/relationships" id="256" r:id="R9614c54c5d2d4ab7"/>
  </p:sldIdLst>
  <p:sldSz cx="9686925" cy="4086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609c64b10438e" /><Relationship Type="http://schemas.openxmlformats.org/officeDocument/2006/relationships/slideMaster" Target="/ppt/slideMasters/slideMaster1.xml" Id="R0f66fd5576114086" /><Relationship Type="http://schemas.openxmlformats.org/officeDocument/2006/relationships/notesMaster" Target="/ppt/notesMasters/notesMaster1.xml" Id="Rc61d04da0b3e41c8" /><Relationship Type="http://schemas.openxmlformats.org/officeDocument/2006/relationships/presProps" Target="/ppt/presProps.xml" Id="R23c22a92bdb14e96" /><Relationship Type="http://schemas.openxmlformats.org/officeDocument/2006/relationships/tableStyles" Target="/ppt/tableStyles.xml" Id="Re00da2a0dc814bb0" /><Relationship Type="http://schemas.openxmlformats.org/officeDocument/2006/relationships/slide" Target="/ppt/slides/slide1.xml" Id="R9614c54c5d2d4a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c0d93025ab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993951d81f4cc5" /><Relationship Type="http://schemas.openxmlformats.org/officeDocument/2006/relationships/notesMaster" Target="/ppt/notesMasters/notesMaster1.xml" Id="R63f2770d861d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"Hierarchical Few-Shot Imitation with Skill Transition Models",</a:t>
            </a:r>
          </a:p>
          <a:p xmlns:a="http://schemas.openxmlformats.org/drawingml/2006/main">
            <a:r>
              <a:t>  "paper_url": "https://arxiv.org/pdf/2107.08981v2",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"0e553d99f207eee8fd2333f63d23d34bf309a2d874798593f65bf35190c83064",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131,</a:t>
            </a:r>
          </a:p>
          <a:p xmlns:a="http://schemas.openxmlformats.org/drawingml/2006/main">
            <a:r>
              <a:t>    105,</a:t>
            </a:r>
          </a:p>
          <a:p xmlns:a="http://schemas.openxmlformats.org/drawingml/2006/main">
            <a:r>
              <a:t>    470,</a:t>
            </a:r>
          </a:p>
          <a:p xmlns:a="http://schemas.openxmlformats.org/drawingml/2006/main">
            <a:r>
              <a:t>    248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 reconstruction of all three panels from a flattened source figure. All labels, mathematical notation, modules, arrows, trajectory curves and markers are native editable objects, with no raster assets. Source gradients replaced by close flat fills; font/subscript typography, curve control points and line/dash widths are approximated. Most mathematical labels are typeable text; the compact policy formula uses editable STIX glyph outlines with its LaTeX transcription retained, not a live equation field. Freeform routes are not semantically attached."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c86ccc9c440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3554e718843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fbb51389940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75a6142314d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ecab502204a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c1f6e268248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B98C9C-E772-4A8F-B932-952BC5F50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8693" y="1543685"/>
            <a:ext cx="7749540" cy="59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3CE1A1-F1E9-4F1F-BBC5-AB1430470E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53039" y="2247424"/>
            <a:ext cx="6780848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4C9313-7072-4B5F-819D-74FBF7FC6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8693" y="1702594"/>
            <a:ext cx="774954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0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FB2D2F-4A4D-4ADF-AA3A-57B85606C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4890" y="317818"/>
            <a:ext cx="8597146" cy="499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D4BDE8-D7B2-4F73-BCB9-BC7B31BC3D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4890" y="1135063"/>
            <a:ext cx="8597146" cy="254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20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1pPr>
            <a:lvl2pPr marL="31781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2pPr>
            <a:lvl3pPr marL="49942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3pPr>
            <a:lvl4pPr marL="68103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4pPr>
            <a:lvl5pPr marL="86264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5pPr>
            <a:lvl6pPr marL="104425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6pPr>
            <a:lvl7pPr marL="122586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7pPr>
            <a:lvl8pPr marL="140747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8pPr>
            <a:lvl9pPr marL="158908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5F5F14-923D-4FF3-8C96-89FEC6253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4890" y="317818"/>
            <a:ext cx="8597146" cy="499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4DB4B6-38C6-42A4-8274-F31A8D3FB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4890" y="1135063"/>
            <a:ext cx="3995857" cy="254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20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1pPr>
            <a:lvl2pPr marL="31781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2pPr>
            <a:lvl3pPr marL="49942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3pPr>
            <a:lvl4pPr marL="68103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4pPr>
            <a:lvl5pPr marL="86264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5pPr>
            <a:lvl6pPr marL="104425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6pPr>
            <a:lvl7pPr marL="122586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7pPr>
            <a:lvl8pPr marL="140747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8pPr>
            <a:lvl9pPr marL="158908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F4FADC-D854-41E1-B9D6-F720E58823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46179" y="1135063"/>
            <a:ext cx="3995857" cy="254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20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1pPr>
            <a:lvl2pPr marL="31781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2pPr>
            <a:lvl3pPr marL="49942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3pPr>
            <a:lvl4pPr marL="68103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4pPr>
            <a:lvl5pPr marL="86264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5pPr>
            <a:lvl6pPr marL="104425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6pPr>
            <a:lvl7pPr marL="122586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7pPr>
            <a:lvl8pPr marL="140747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8pPr>
            <a:lvl9pPr marL="158908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06A6CB-B849-4C52-B9F3-7C242B274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4890" y="317818"/>
            <a:ext cx="8597146" cy="499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AF28E4-F61D-44C5-9059-7A4AC50EB9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4890" y="1135063"/>
            <a:ext cx="3995857" cy="254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20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1pPr>
            <a:lvl2pPr marL="31781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2pPr>
            <a:lvl3pPr marL="49942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3pPr>
            <a:lvl4pPr marL="68103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4pPr>
            <a:lvl5pPr marL="86264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5pPr>
            <a:lvl6pPr marL="104425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6pPr>
            <a:lvl7pPr marL="122586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7pPr>
            <a:lvl8pPr marL="1407477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8pPr>
            <a:lvl9pPr marL="1589088" indent="-136207">
              <a:lnSpc>
                <a:spcPct val="110000"/>
              </a:lnSpc>
              <a:spcBef>
                <a:spcPts val="0"/>
              </a:spcBef>
              <a:spcAft>
                <a:spcPts val="71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37ca476aa34188" /><Relationship Type="http://schemas.openxmlformats.org/officeDocument/2006/relationships/slideLayout" Target="/ppt/slideLayouts/slideLayout1.xml" Id="R8d58db48c4a94427" /><Relationship Type="http://schemas.openxmlformats.org/officeDocument/2006/relationships/slideLayout" Target="/ppt/slideLayouts/slideLayout2.xml" Id="R45bf6965e15e451f" /><Relationship Type="http://schemas.openxmlformats.org/officeDocument/2006/relationships/slideLayout" Target="/ppt/slideLayouts/slideLayout3.xml" Id="Rca765f6a57d04672" /><Relationship Type="http://schemas.openxmlformats.org/officeDocument/2006/relationships/slideLayout" Target="/ppt/slideLayouts/slideLayout4.xml" Id="R4a8669d364d34860" /><Relationship Type="http://schemas.openxmlformats.org/officeDocument/2006/relationships/slideLayout" Target="/ppt/slideLayouts/slideLayout5.xml" Id="R49f19eb144bb4c40" /><Relationship Type="http://schemas.openxmlformats.org/officeDocument/2006/relationships/slideLayout" Target="/ppt/slideLayouts/slideLayout6.xml" Id="Rc1202b11571f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8db48c4a94427"/>
    <p:sldLayoutId xmlns:r="http://schemas.openxmlformats.org/officeDocument/2006/relationships" id="2147483650" r:id="R45bf6965e15e451f"/>
    <p:sldLayoutId xmlns:r="http://schemas.openxmlformats.org/officeDocument/2006/relationships" id="2147483651" r:id="Rca765f6a57d04672"/>
    <p:sldLayoutId xmlns:r="http://schemas.openxmlformats.org/officeDocument/2006/relationships" id="2147483652" r:id="R4a8669d364d34860"/>
    <p:sldLayoutId xmlns:r="http://schemas.openxmlformats.org/officeDocument/2006/relationships" id="2147483653" r:id="R49f19eb144bb4c40"/>
    <p:sldLayoutId xmlns:r="http://schemas.openxmlformats.org/officeDocument/2006/relationships" id="2147483654" r:id="Rc1202b11571f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fe44318044306" /><Relationship Type="http://schemas.openxmlformats.org/officeDocument/2006/relationships/notesSlide" Target="/ppt/notesSlides/notesSlide1.xml" Id="Raffcdadf7f094a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left-panel">
            <a:extLst xmlns:a="http://schemas.openxmlformats.org/drawingml/2006/main">
              <a:ext uri="{FF2B5EF4-FFF2-40B4-BE49-F238E27FC236}">
                <a16:creationId xmlns:a16="http://schemas.microsoft.com/office/drawing/2014/main" id="{24D352DD-86B1-4894-B012-AF05BA97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76250" y="76200"/>
                </a:moveTo>
                <a:lnTo>
                  <a:pt x="6162675" y="76200"/>
                </a:lnTo>
                <a:cubicBezTo>
                  <a:pt x="6388877" y="76200"/>
                  <a:pt x="6572250" y="259573"/>
                  <a:pt x="6572250" y="485775"/>
                </a:cubicBezTo>
                <a:lnTo>
                  <a:pt x="6572250" y="3629025"/>
                </a:lnTo>
                <a:cubicBezTo>
                  <a:pt x="6572250" y="3855227"/>
                  <a:pt x="6388877" y="4038600"/>
                  <a:pt x="6162675" y="4038600"/>
                </a:cubicBezTo>
                <a:lnTo>
                  <a:pt x="476250" y="4038600"/>
                </a:lnTo>
                <a:cubicBezTo>
                  <a:pt x="250048" y="4038600"/>
                  <a:pt x="66675" y="3855227"/>
                  <a:pt x="66675" y="3629025"/>
                </a:cubicBezTo>
                <a:lnTo>
                  <a:pt x="66675" y="485775"/>
                </a:lnTo>
                <a:cubicBezTo>
                  <a:pt x="66675" y="259573"/>
                  <a:pt x="250048" y="76200"/>
                  <a:pt x="476250" y="76200"/>
                </a:cubicBezTo>
                <a:close/>
              </a:path>
            </a:pathLst>
          </a:custGeom>
          <a:solidFill xmlns:a="http://schemas.openxmlformats.org/drawingml/2006/main">
            <a:srgbClr val="F6F0E2"/>
          </a:solidFill>
          <a:ln xmlns:a="http://schemas.openxmlformats.org/drawingml/2006/main" w="9525">
            <a:solidFill>
              <a:srgbClr val="D6AF63"/>
            </a:solidFill>
            <a:prstDash val="solid"/>
          </a:ln>
        </p:spPr>
      </p:sp>
      <p:sp>
        <p:nvSpPr>
          <p:cNvPr id="2" name="right-panel">
            <a:extLst xmlns:a="http://schemas.openxmlformats.org/drawingml/2006/main">
              <a:ext uri="{FF2B5EF4-FFF2-40B4-BE49-F238E27FC236}">
                <a16:creationId xmlns:a16="http://schemas.microsoft.com/office/drawing/2014/main" id="{67471636-A58A-4A6A-B583-31FFB37F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6943725" y="76200"/>
                </a:moveTo>
                <a:lnTo>
                  <a:pt x="9363075" y="76200"/>
                </a:lnTo>
                <a:cubicBezTo>
                  <a:pt x="9510369" y="76200"/>
                  <a:pt x="9629775" y="195606"/>
                  <a:pt x="9629775" y="342900"/>
                </a:cubicBezTo>
                <a:lnTo>
                  <a:pt x="9629775" y="3771900"/>
                </a:lnTo>
                <a:cubicBezTo>
                  <a:pt x="9629775" y="3919194"/>
                  <a:pt x="9510369" y="4038600"/>
                  <a:pt x="9363075" y="4038600"/>
                </a:cubicBezTo>
                <a:lnTo>
                  <a:pt x="6943725" y="4038600"/>
                </a:lnTo>
                <a:cubicBezTo>
                  <a:pt x="6796431" y="4038600"/>
                  <a:pt x="6677025" y="3919194"/>
                  <a:pt x="6677025" y="3771900"/>
                </a:cubicBezTo>
                <a:lnTo>
                  <a:pt x="6677025" y="342900"/>
                </a:lnTo>
                <a:cubicBezTo>
                  <a:pt x="6677025" y="195606"/>
                  <a:pt x="6796431" y="76200"/>
                  <a:pt x="6943725" y="76200"/>
                </a:cubicBezTo>
                <a:close/>
              </a:path>
            </a:pathLst>
          </a:custGeom>
          <a:solidFill xmlns:a="http://schemas.openxmlformats.org/drawingml/2006/main">
            <a:srgbClr val="F6F0E2"/>
          </a:solidFill>
          <a:ln xmlns:a="http://schemas.openxmlformats.org/drawingml/2006/main" w="9525">
            <a:solidFill>
              <a:srgbClr val="D6AF63"/>
            </a:solidFill>
            <a:prstDash val="solid"/>
          </a:ln>
        </p:spPr>
      </p:sp>
      <p:sp>
        <p:nvSpPr>
          <p:cNvPr id="3" name="adapt-panel">
            <a:extLst xmlns:a="http://schemas.openxmlformats.org/drawingml/2006/main">
              <a:ext uri="{FF2B5EF4-FFF2-40B4-BE49-F238E27FC236}">
                <a16:creationId xmlns:a16="http://schemas.microsoft.com/office/drawing/2014/main" id="{AB535920-F805-4D9E-88F8-CDE8D211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2095500" y="200025"/>
                </a:moveTo>
                <a:lnTo>
                  <a:pt x="3533775" y="200025"/>
                </a:lnTo>
                <a:cubicBezTo>
                  <a:pt x="3675809" y="200025"/>
                  <a:pt x="3790950" y="315166"/>
                  <a:pt x="3790950" y="457200"/>
                </a:cubicBezTo>
                <a:lnTo>
                  <a:pt x="3790950" y="1390650"/>
                </a:lnTo>
                <a:cubicBezTo>
                  <a:pt x="3790950" y="1532684"/>
                  <a:pt x="3675809" y="1647825"/>
                  <a:pt x="3533775" y="1647825"/>
                </a:cubicBezTo>
                <a:lnTo>
                  <a:pt x="2095500" y="1647825"/>
                </a:lnTo>
                <a:cubicBezTo>
                  <a:pt x="1953466" y="1647825"/>
                  <a:pt x="1838325" y="1532684"/>
                  <a:pt x="1838325" y="1390650"/>
                </a:cubicBezTo>
                <a:lnTo>
                  <a:pt x="1838325" y="457200"/>
                </a:lnTo>
                <a:cubicBezTo>
                  <a:pt x="1838325" y="315166"/>
                  <a:pt x="1953466" y="200025"/>
                  <a:pt x="2095500" y="200025"/>
                </a:cubicBezTo>
                <a:close/>
              </a:path>
            </a:pathLst>
          </a:custGeom>
          <a:solidFill xmlns:a="http://schemas.openxmlformats.org/drawingml/2006/main">
            <a:srgbClr val="FAEBBE"/>
          </a:solidFill>
          <a:ln xmlns:a="http://schemas.openxmlformats.org/drawingml/2006/main" w="9525">
            <a:solidFill>
              <a:srgbClr val="E9B316"/>
            </a:solidFill>
            <a:prstDash val="solid"/>
          </a:ln>
        </p:spPr>
      </p:sp>
      <p:sp>
        <p:nvSpPr>
          <p:cNvPr id="4" name="extraction">
            <a:extLst xmlns:a="http://schemas.openxmlformats.org/drawingml/2006/main">
              <a:ext uri="{FF2B5EF4-FFF2-40B4-BE49-F238E27FC236}">
                <a16:creationId xmlns:a16="http://schemas.microsoft.com/office/drawing/2014/main" id="{651A90A7-3B46-4991-925D-8EEFC4BF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257175"/>
            <a:ext cx="144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(a) Skill Extraction</a:t>
            </a:r>
          </a:p>
        </p:txBody>
      </p:sp>
      <p:sp>
        <p:nvSpPr>
          <p:cNvPr id="5" name="adaptation">
            <a:extLst xmlns:a="http://schemas.openxmlformats.org/drawingml/2006/main">
              <a:ext uri="{FF2B5EF4-FFF2-40B4-BE49-F238E27FC236}">
                <a16:creationId xmlns:a16="http://schemas.microsoft.com/office/drawing/2014/main" id="{76B691B4-CA3E-4A93-8C2A-27123B10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57175"/>
            <a:ext cx="1647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(b) Skill Adaptation</a:t>
            </a:r>
          </a:p>
        </p:txBody>
      </p:sp>
      <p:sp>
        <p:nvSpPr>
          <p:cNvPr id="6" name="few-shot-title">
            <a:extLst xmlns:a="http://schemas.openxmlformats.org/drawingml/2006/main">
              <a:ext uri="{FF2B5EF4-FFF2-40B4-BE49-F238E27FC236}">
                <a16:creationId xmlns:a16="http://schemas.microsoft.com/office/drawing/2014/main" id="{458E041F-9210-4A33-83E1-9F1E8477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57175"/>
            <a:ext cx="1838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(c) Few-Shot Imitation</a:t>
            </a:r>
          </a:p>
        </p:txBody>
      </p:sp>
      <p:sp>
        <p:nvSpPr>
          <p:cNvPr id="7" name="datasetbody">
            <a:extLst xmlns:a="http://schemas.openxmlformats.org/drawingml/2006/main">
              <a:ext uri="{FF2B5EF4-FFF2-40B4-BE49-F238E27FC236}">
                <a16:creationId xmlns:a16="http://schemas.microsoft.com/office/drawing/2014/main" id="{AF4F078E-2CB4-45FD-BDDB-AA276F85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695325" y="742950"/>
                </a:moveTo>
                <a:lnTo>
                  <a:pt x="695325" y="1314450"/>
                </a:lnTo>
                <a:cubicBezTo>
                  <a:pt x="695325" y="1438275"/>
                  <a:pt x="1752600" y="1438275"/>
                  <a:pt x="1752600" y="1314450"/>
                </a:cubicBezTo>
                <a:lnTo>
                  <a:pt x="1752600" y="742950"/>
                </a:lnTo>
                <a:close/>
              </a:path>
            </a:pathLst>
          </a:custGeom>
          <a:solidFill xmlns:a="http://schemas.openxmlformats.org/drawingml/2006/main">
            <a:srgbClr val="FFD2AE"/>
          </a:solidFill>
          <a:ln xmlns:a="http://schemas.openxmlformats.org/drawingml/2006/main" w="9525">
            <a:solidFill>
              <a:srgbClr val="DB783C"/>
            </a:solidFill>
            <a:prstDash val="solid"/>
          </a:ln>
        </p:spPr>
      </p:sp>
      <p:sp>
        <p:nvSpPr>
          <p:cNvPr id="8" name="datasetcap">
            <a:extLst xmlns:a="http://schemas.openxmlformats.org/drawingml/2006/main">
              <a:ext uri="{FF2B5EF4-FFF2-40B4-BE49-F238E27FC236}">
                <a16:creationId xmlns:a16="http://schemas.microsoft.com/office/drawing/2014/main" id="{EFC23704-9227-4023-9F62-5791FDB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647700"/>
            <a:ext cx="1057275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E"/>
          </a:solidFill>
          <a:ln xmlns:a="http://schemas.openxmlformats.org/drawingml/2006/main" w="9525">
            <a:solidFill>
              <a:srgbClr val="DB783C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unlabelled">
            <a:extLst xmlns:a="http://schemas.openxmlformats.org/drawingml/2006/main">
              <a:ext uri="{FF2B5EF4-FFF2-40B4-BE49-F238E27FC236}">
                <a16:creationId xmlns:a16="http://schemas.microsoft.com/office/drawing/2014/main" id="{623B6D81-C5C6-424D-ADCB-1A389527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8953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BD5C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BD5C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D5C15"/>
                </a:solidFill>
                <a:latin typeface="Arial"/>
                <a:ea typeface="Arial"/>
                <a:cs typeface="Arial"/>
              </a:rPr>
              <a:t>Un-labeled</a:t>
            </a:r>
          </a:p>
        </p:txBody>
      </p:sp>
      <p:sp>
        <p:nvSpPr>
          <p:cNvPr id="10" name="offline">
            <a:extLst xmlns:a="http://schemas.openxmlformats.org/drawingml/2006/main">
              <a:ext uri="{FF2B5EF4-FFF2-40B4-BE49-F238E27FC236}">
                <a16:creationId xmlns:a16="http://schemas.microsoft.com/office/drawing/2014/main" id="{674D4924-28D7-4605-B593-8A14AC4C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085850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BD5C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BD5C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D5C15"/>
                </a:solidFill>
                <a:latin typeface="Arial"/>
                <a:ea typeface="Arial"/>
                <a:cs typeface="Arial"/>
              </a:rPr>
              <a:t>offline dataset</a:t>
            </a:r>
          </a:p>
        </p:txBody>
      </p:sp>
      <p:sp>
        <p:nvSpPr>
          <p:cNvPr id="11" name="demosbody">
            <a:extLst xmlns:a="http://schemas.openxmlformats.org/drawingml/2006/main">
              <a:ext uri="{FF2B5EF4-FFF2-40B4-BE49-F238E27FC236}">
                <a16:creationId xmlns:a16="http://schemas.microsoft.com/office/drawing/2014/main" id="{37283815-736B-4119-826F-88EDA9D3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2428875" y="742950"/>
                </a:moveTo>
                <a:lnTo>
                  <a:pt x="2428875" y="1314450"/>
                </a:lnTo>
                <a:cubicBezTo>
                  <a:pt x="2428875" y="1438275"/>
                  <a:pt x="3486150" y="1438275"/>
                  <a:pt x="3486150" y="1314450"/>
                </a:cubicBezTo>
                <a:lnTo>
                  <a:pt x="3486150" y="742950"/>
                </a:lnTo>
                <a:close/>
              </a:path>
            </a:pathLst>
          </a:custGeom>
          <a:solidFill xmlns:a="http://schemas.openxmlformats.org/drawingml/2006/main">
            <a:srgbClr val="DEC4D2"/>
          </a:solidFill>
          <a:ln xmlns:a="http://schemas.openxmlformats.org/drawingml/2006/main" w="9525">
            <a:solidFill>
              <a:srgbClr val="AF65D6"/>
            </a:solidFill>
            <a:prstDash val="solid"/>
          </a:ln>
        </p:spPr>
      </p:sp>
      <p:sp>
        <p:nvSpPr>
          <p:cNvPr id="12" name="demoscap">
            <a:extLst xmlns:a="http://schemas.openxmlformats.org/drawingml/2006/main">
              <a:ext uri="{FF2B5EF4-FFF2-40B4-BE49-F238E27FC236}">
                <a16:creationId xmlns:a16="http://schemas.microsoft.com/office/drawing/2014/main" id="{103FE175-7F98-46E6-BBA7-643FD18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647700"/>
            <a:ext cx="1057275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C4D2"/>
          </a:solidFill>
          <a:ln xmlns:a="http://schemas.openxmlformats.org/drawingml/2006/main" w="9525">
            <a:solidFill>
              <a:srgbClr val="AF65D6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few-shot">
            <a:extLst xmlns:a="http://schemas.openxmlformats.org/drawingml/2006/main">
              <a:ext uri="{FF2B5EF4-FFF2-40B4-BE49-F238E27FC236}">
                <a16:creationId xmlns:a16="http://schemas.microsoft.com/office/drawing/2014/main" id="{2B15124B-2336-4B92-9E81-779C4329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8953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9636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9636D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636DC"/>
                </a:solidFill>
                <a:latin typeface="Arial"/>
                <a:ea typeface="Arial"/>
                <a:cs typeface="Arial"/>
              </a:rPr>
              <a:t>Few-shot</a:t>
            </a:r>
          </a:p>
        </p:txBody>
      </p:sp>
      <p:sp>
        <p:nvSpPr>
          <p:cNvPr id="14" name="demos-label">
            <a:extLst xmlns:a="http://schemas.openxmlformats.org/drawingml/2006/main">
              <a:ext uri="{FF2B5EF4-FFF2-40B4-BE49-F238E27FC236}">
                <a16:creationId xmlns:a16="http://schemas.microsoft.com/office/drawing/2014/main" id="{02C19B28-CA8C-42B0-8151-4AC7E8D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10858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9636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9636D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636DC"/>
                </a:solidFill>
                <a:latin typeface="Arial"/>
                <a:ea typeface="Arial"/>
                <a:cs typeface="Arial"/>
              </a:rPr>
              <a:t>demos</a:t>
            </a:r>
          </a:p>
        </p:txBody>
      </p:sp>
      <p:sp>
        <p:nvSpPr>
          <p:cNvPr id="15" name="plus">
            <a:extLst xmlns:a="http://schemas.openxmlformats.org/drawingml/2006/main">
              <a:ext uri="{FF2B5EF4-FFF2-40B4-BE49-F238E27FC236}">
                <a16:creationId xmlns:a16="http://schemas.microsoft.com/office/drawing/2014/main" id="{A2F12545-0563-46F0-824F-C09AEE8D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2057400" y="847725"/>
                </a:moveTo>
                <a:lnTo>
                  <a:pt x="2171700" y="847725"/>
                </a:lnTo>
                <a:lnTo>
                  <a:pt x="2171700" y="1009650"/>
                </a:lnTo>
                <a:lnTo>
                  <a:pt x="2333625" y="1009650"/>
                </a:lnTo>
                <a:lnTo>
                  <a:pt x="2333625" y="1114425"/>
                </a:lnTo>
                <a:lnTo>
                  <a:pt x="2171700" y="1114425"/>
                </a:lnTo>
                <a:lnTo>
                  <a:pt x="2171700" y="1276350"/>
                </a:lnTo>
                <a:lnTo>
                  <a:pt x="2057400" y="1276350"/>
                </a:lnTo>
                <a:lnTo>
                  <a:pt x="2057400" y="1114425"/>
                </a:lnTo>
                <a:lnTo>
                  <a:pt x="1895475" y="1114425"/>
                </a:lnTo>
                <a:lnTo>
                  <a:pt x="1895475" y="1009650"/>
                </a:lnTo>
                <a:lnTo>
                  <a:pt x="2057400" y="1009650"/>
                </a:lnTo>
                <a:close/>
              </a:path>
            </a:pathLst>
          </a:custGeom>
          <a:solidFill xmlns:a="http://schemas.openxmlformats.org/drawingml/2006/main">
            <a:srgbClr val="DFC0DE"/>
          </a:solidFill>
          <a:ln xmlns:a="http://schemas.openxmlformats.org/drawingml/2006/main" w="9525">
            <a:solidFill>
              <a:srgbClr val="AF6AD6"/>
            </a:solidFill>
            <a:prstDash val="solid"/>
          </a:ln>
        </p:spPr>
      </p:sp>
      <p:sp>
        <p:nvSpPr>
          <p:cNvPr id="16" name="decoder-frame">
            <a:extLst xmlns:a="http://schemas.openxmlformats.org/drawingml/2006/main">
              <a:ext uri="{FF2B5EF4-FFF2-40B4-BE49-F238E27FC236}">
                <a16:creationId xmlns:a16="http://schemas.microsoft.com/office/drawing/2014/main" id="{76566CC1-267F-41FD-84AF-A0B051D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438650" y="200025"/>
                </a:moveTo>
                <a:lnTo>
                  <a:pt x="5895975" y="200025"/>
                </a:lnTo>
                <a:cubicBezTo>
                  <a:pt x="6085353" y="200025"/>
                  <a:pt x="6238875" y="353547"/>
                  <a:pt x="6238875" y="542925"/>
                </a:cubicBezTo>
                <a:lnTo>
                  <a:pt x="6238875" y="3629025"/>
                </a:lnTo>
                <a:cubicBezTo>
                  <a:pt x="6238875" y="3818403"/>
                  <a:pt x="6085353" y="3971925"/>
                  <a:pt x="5895975" y="3971925"/>
                </a:cubicBezTo>
                <a:lnTo>
                  <a:pt x="4438650" y="3971925"/>
                </a:lnTo>
                <a:cubicBezTo>
                  <a:pt x="4249272" y="3971925"/>
                  <a:pt x="4095750" y="3818403"/>
                  <a:pt x="4095750" y="3629025"/>
                </a:cubicBezTo>
                <a:lnTo>
                  <a:pt x="4095750" y="542925"/>
                </a:lnTo>
                <a:cubicBezTo>
                  <a:pt x="4095750" y="353547"/>
                  <a:pt x="4249272" y="200025"/>
                  <a:pt x="4438650" y="20002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7" name="encoder-frame">
            <a:extLst xmlns:a="http://schemas.openxmlformats.org/drawingml/2006/main">
              <a:ext uri="{FF2B5EF4-FFF2-40B4-BE49-F238E27FC236}">
                <a16:creationId xmlns:a16="http://schemas.microsoft.com/office/drawing/2014/main" id="{9D784C9C-DA5D-4F7F-B5D7-17E711A4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14350" y="2352675"/>
                </a:moveTo>
                <a:lnTo>
                  <a:pt x="3867150" y="2352675"/>
                </a:lnTo>
                <a:cubicBezTo>
                  <a:pt x="3925016" y="2352675"/>
                  <a:pt x="3971925" y="2399584"/>
                  <a:pt x="3971925" y="2457450"/>
                </a:cubicBezTo>
                <a:lnTo>
                  <a:pt x="3971925" y="2914650"/>
                </a:lnTo>
                <a:cubicBezTo>
                  <a:pt x="3971925" y="2972516"/>
                  <a:pt x="3925016" y="3019425"/>
                  <a:pt x="3867150" y="3019425"/>
                </a:cubicBezTo>
                <a:lnTo>
                  <a:pt x="514350" y="3019425"/>
                </a:lnTo>
                <a:cubicBezTo>
                  <a:pt x="456484" y="3019425"/>
                  <a:pt x="409575" y="2972516"/>
                  <a:pt x="409575" y="2914650"/>
                </a:cubicBezTo>
                <a:lnTo>
                  <a:pt x="409575" y="2457450"/>
                </a:lnTo>
                <a:cubicBezTo>
                  <a:pt x="409575" y="2399584"/>
                  <a:pt x="456484" y="2352675"/>
                  <a:pt x="514350" y="2352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7736"/>
            </a:solidFill>
            <a:prstDash val="dash"/>
          </a:ln>
        </p:spPr>
      </p:sp>
      <p:sp>
        <p:nvSpPr>
          <p:cNvPr id="18" name="decoder-mlp-frame">
            <a:extLst xmlns:a="http://schemas.openxmlformats.org/drawingml/2006/main">
              <a:ext uri="{FF2B5EF4-FFF2-40B4-BE49-F238E27FC236}">
                <a16:creationId xmlns:a16="http://schemas.microsoft.com/office/drawing/2014/main" id="{29794B3B-0257-4677-8215-CBC0986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333875" y="647700"/>
                </a:moveTo>
                <a:lnTo>
                  <a:pt x="5810250" y="647700"/>
                </a:lnTo>
                <a:cubicBezTo>
                  <a:pt x="5862855" y="647700"/>
                  <a:pt x="5905500" y="690345"/>
                  <a:pt x="5905500" y="742950"/>
                </a:cubicBezTo>
                <a:lnTo>
                  <a:pt x="5905500" y="1219200"/>
                </a:lnTo>
                <a:cubicBezTo>
                  <a:pt x="5905500" y="1271805"/>
                  <a:pt x="5862855" y="1314450"/>
                  <a:pt x="5810250" y="1314450"/>
                </a:cubicBezTo>
                <a:lnTo>
                  <a:pt x="4333875" y="1314450"/>
                </a:lnTo>
                <a:cubicBezTo>
                  <a:pt x="4281270" y="1314450"/>
                  <a:pt x="4238625" y="1271805"/>
                  <a:pt x="4238625" y="1219200"/>
                </a:cubicBezTo>
                <a:lnTo>
                  <a:pt x="4238625" y="742950"/>
                </a:lnTo>
                <a:cubicBezTo>
                  <a:pt x="4238625" y="690345"/>
                  <a:pt x="4281270" y="647700"/>
                  <a:pt x="4333875" y="6477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7736"/>
            </a:solidFill>
            <a:prstDash val="dash"/>
          </a:ln>
        </p:spPr>
      </p:sp>
      <p:sp>
        <p:nvSpPr>
          <p:cNvPr id="19" name="inverse-frame">
            <a:extLst xmlns:a="http://schemas.openxmlformats.org/drawingml/2006/main">
              <a:ext uri="{FF2B5EF4-FFF2-40B4-BE49-F238E27FC236}">
                <a16:creationId xmlns:a16="http://schemas.microsoft.com/office/drawing/2014/main" id="{7DCEB33B-9D20-442F-A101-7707A4C5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429125" y="2352675"/>
                </a:moveTo>
                <a:lnTo>
                  <a:pt x="5734050" y="2352675"/>
                </a:lnTo>
                <a:cubicBezTo>
                  <a:pt x="5786655" y="2352675"/>
                  <a:pt x="5829300" y="2395320"/>
                  <a:pt x="5829300" y="2447925"/>
                </a:cubicBezTo>
                <a:lnTo>
                  <a:pt x="5829300" y="2924175"/>
                </a:lnTo>
                <a:cubicBezTo>
                  <a:pt x="5829300" y="2976780"/>
                  <a:pt x="5786655" y="3019425"/>
                  <a:pt x="5734050" y="3019425"/>
                </a:cubicBezTo>
                <a:lnTo>
                  <a:pt x="4429125" y="3019425"/>
                </a:lnTo>
                <a:cubicBezTo>
                  <a:pt x="4376520" y="3019425"/>
                  <a:pt x="4333875" y="2976780"/>
                  <a:pt x="4333875" y="2924175"/>
                </a:cubicBezTo>
                <a:lnTo>
                  <a:pt x="4333875" y="2447925"/>
                </a:lnTo>
                <a:cubicBezTo>
                  <a:pt x="4333875" y="2395320"/>
                  <a:pt x="4376520" y="2352675"/>
                  <a:pt x="4429125" y="2352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7736"/>
            </a:solidFill>
            <a:prstDash val="dash"/>
          </a:ln>
        </p:spPr>
      </p:sp>
      <p:sp>
        <p:nvSpPr>
          <p:cNvPr id="20" name="encoder-title">
            <a:extLst xmlns:a="http://schemas.openxmlformats.org/drawingml/2006/main">
              <a:ext uri="{FF2B5EF4-FFF2-40B4-BE49-F238E27FC236}">
                <a16:creationId xmlns:a16="http://schemas.microsoft.com/office/drawing/2014/main" id="{C8A739A9-81A4-49CE-85AF-7441413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2085975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Skill Encoder</a:t>
            </a:r>
          </a:p>
        </p:txBody>
      </p:sp>
      <p:sp>
        <p:nvSpPr>
          <p:cNvPr id="21" name="decoder-title">
            <a:extLst xmlns:a="http://schemas.openxmlformats.org/drawingml/2006/main">
              <a:ext uri="{FF2B5EF4-FFF2-40B4-BE49-F238E27FC236}">
                <a16:creationId xmlns:a16="http://schemas.microsoft.com/office/drawing/2014/main" id="{AF0A956D-8557-4D34-AEB4-8A12C51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90525"/>
            <a:ext cx="923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Skill Decoder</a:t>
            </a:r>
          </a:p>
        </p:txBody>
      </p:sp>
      <p:sp>
        <p:nvSpPr>
          <p:cNvPr id="22" name="lstm0">
            <a:extLst xmlns:a="http://schemas.openxmlformats.org/drawingml/2006/main">
              <a:ext uri="{FF2B5EF4-FFF2-40B4-BE49-F238E27FC236}">
                <a16:creationId xmlns:a16="http://schemas.microsoft.com/office/drawing/2014/main" id="{B3AA1BA7-6A68-40AD-9114-BAB8E6FC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2447925"/>
            <a:ext cx="7524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AE7"/>
          </a:solidFill>
          <a:ln xmlns:a="http://schemas.openxmlformats.org/drawingml/2006/main" w="5715">
            <a:solidFill>
              <a:srgbClr val="7EA2C7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LSTM</a:t>
            </a:r>
          </a:p>
        </p:txBody>
      </p:sp>
      <p:sp>
        <p:nvSpPr>
          <p:cNvPr id="23" name="lstm1">
            <a:extLst xmlns:a="http://schemas.openxmlformats.org/drawingml/2006/main">
              <a:ext uri="{FF2B5EF4-FFF2-40B4-BE49-F238E27FC236}">
                <a16:creationId xmlns:a16="http://schemas.microsoft.com/office/drawing/2014/main" id="{49D92E7D-985A-4F50-9AFA-FFD849D3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2447925"/>
            <a:ext cx="7524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AE7"/>
          </a:solidFill>
          <a:ln xmlns:a="http://schemas.openxmlformats.org/drawingml/2006/main" w="5715">
            <a:solidFill>
              <a:srgbClr val="7EA2C7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LSTM</a:t>
            </a:r>
          </a:p>
        </p:txBody>
      </p:sp>
      <p:sp>
        <p:nvSpPr>
          <p:cNvPr id="24" name="lstm2">
            <a:extLst xmlns:a="http://schemas.openxmlformats.org/drawingml/2006/main">
              <a:ext uri="{FF2B5EF4-FFF2-40B4-BE49-F238E27FC236}">
                <a16:creationId xmlns:a16="http://schemas.microsoft.com/office/drawing/2014/main" id="{4F1B842D-7976-4A5C-BAAC-EF4E20D3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2447925"/>
            <a:ext cx="7524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AE7"/>
          </a:solidFill>
          <a:ln xmlns:a="http://schemas.openxmlformats.org/drawingml/2006/main" w="5715">
            <a:solidFill>
              <a:srgbClr val="7EA2C7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LSTM</a:t>
            </a:r>
          </a:p>
        </p:txBody>
      </p:sp>
      <p:sp>
        <p:nvSpPr>
          <p:cNvPr id="25" name="lstm-link1">
            <a:extLst xmlns:a="http://schemas.openxmlformats.org/drawingml/2006/main">
              <a:ext uri="{FF2B5EF4-FFF2-40B4-BE49-F238E27FC236}">
                <a16:creationId xmlns:a16="http://schemas.microsoft.com/office/drawing/2014/main" id="{94A691C1-E766-4E60-B340-D38109EF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1257300" y="2676525"/>
                </a:moveTo>
                <a:lnTo>
                  <a:pt x="1562100" y="2676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EC8E8"/>
            </a:solidFill>
            <a:prstDash val="solid"/>
          </a:ln>
        </p:spPr>
      </p:sp>
      <p:sp>
        <p:nvSpPr>
          <p:cNvPr id="26" name="lstm-link1-head">
            <a:extLst xmlns:a="http://schemas.openxmlformats.org/drawingml/2006/main">
              <a:ext uri="{FF2B5EF4-FFF2-40B4-BE49-F238E27FC236}">
                <a16:creationId xmlns:a16="http://schemas.microsoft.com/office/drawing/2014/main" id="{DB639E5F-4E7A-4D3C-9535-04DCDE6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1562100" y="2676525"/>
                </a:moveTo>
                <a:lnTo>
                  <a:pt x="1504950" y="2647950"/>
                </a:lnTo>
                <a:lnTo>
                  <a:pt x="1504950" y="2705100"/>
                </a:lnTo>
                <a:close/>
              </a:path>
            </a:pathLst>
          </a:custGeom>
          <a:solidFill xmlns:a="http://schemas.openxmlformats.org/drawingml/2006/main">
            <a:srgbClr val="AE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lstm-link2">
            <a:extLst xmlns:a="http://schemas.openxmlformats.org/drawingml/2006/main">
              <a:ext uri="{FF2B5EF4-FFF2-40B4-BE49-F238E27FC236}">
                <a16:creationId xmlns:a16="http://schemas.microsoft.com/office/drawing/2014/main" id="{4C031EA8-AD02-49D1-B292-3243FD98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2809875" y="2676525"/>
                </a:moveTo>
                <a:lnTo>
                  <a:pt x="3105150" y="2676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EC8E8"/>
            </a:solidFill>
            <a:prstDash val="solid"/>
          </a:ln>
        </p:spPr>
      </p:sp>
      <p:sp>
        <p:nvSpPr>
          <p:cNvPr id="28" name="lstm-link2-head">
            <a:extLst xmlns:a="http://schemas.openxmlformats.org/drawingml/2006/main">
              <a:ext uri="{FF2B5EF4-FFF2-40B4-BE49-F238E27FC236}">
                <a16:creationId xmlns:a16="http://schemas.microsoft.com/office/drawing/2014/main" id="{B078547F-EF8E-4587-B09D-65A72B07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3105150" y="2676525"/>
                </a:moveTo>
                <a:lnTo>
                  <a:pt x="3048000" y="2647950"/>
                </a:lnTo>
                <a:lnTo>
                  <a:pt x="3048000" y="2705100"/>
                </a:lnTo>
                <a:close/>
              </a:path>
            </a:pathLst>
          </a:custGeom>
          <a:solidFill xmlns:a="http://schemas.openxmlformats.org/drawingml/2006/main">
            <a:srgbClr val="AEC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stm-dot0">
            <a:extLst xmlns:a="http://schemas.openxmlformats.org/drawingml/2006/main">
              <a:ext uri="{FF2B5EF4-FFF2-40B4-BE49-F238E27FC236}">
                <a16:creationId xmlns:a16="http://schemas.microsoft.com/office/drawing/2014/main" id="{03588344-3F77-4CD0-9370-9652B966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657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D6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lstm-dot1">
            <a:extLst xmlns:a="http://schemas.openxmlformats.org/drawingml/2006/main">
              <a:ext uri="{FF2B5EF4-FFF2-40B4-BE49-F238E27FC236}">
                <a16:creationId xmlns:a16="http://schemas.microsoft.com/office/drawing/2014/main" id="{788F1DAE-AFF5-40F4-97B5-8D5A8FBF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2657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D6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lstm-dot2">
            <a:extLst xmlns:a="http://schemas.openxmlformats.org/drawingml/2006/main">
              <a:ext uri="{FF2B5EF4-FFF2-40B4-BE49-F238E27FC236}">
                <a16:creationId xmlns:a16="http://schemas.microsoft.com/office/drawing/2014/main" id="{835FE83D-8755-46DA-9057-253C44D4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2657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D6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input0">
            <a:extLst xmlns:a="http://schemas.openxmlformats.org/drawingml/2006/main">
              <a:ext uri="{FF2B5EF4-FFF2-40B4-BE49-F238E27FC236}">
                <a16:creationId xmlns:a16="http://schemas.microsoft.com/office/drawing/2014/main" id="{47F24DBD-E001-464B-8F36-F008C01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input-label0">
            <a:extLst xmlns:a="http://schemas.openxmlformats.org/drawingml/2006/main">
              <a:ext uri="{FF2B5EF4-FFF2-40B4-BE49-F238E27FC236}">
                <a16:creationId xmlns:a16="http://schemas.microsoft.com/office/drawing/2014/main" id="{A86416C9-ABA7-4738-9E26-27AA97D6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S₁</a:t>
            </a:r>
          </a:p>
        </p:txBody>
      </p:sp>
      <p:sp>
        <p:nvSpPr>
          <p:cNvPr id="34" name="input-arrow0">
            <a:extLst xmlns:a="http://schemas.openxmlformats.org/drawingml/2006/main">
              <a:ext uri="{FF2B5EF4-FFF2-40B4-BE49-F238E27FC236}">
                <a16:creationId xmlns:a16="http://schemas.microsoft.com/office/drawing/2014/main" id="{0DF7FB96-1315-4C8E-A187-BF73A34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647700" y="3143250"/>
                </a:moveTo>
                <a:lnTo>
                  <a:pt x="64770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35" name="input-arrow0-head">
            <a:extLst xmlns:a="http://schemas.openxmlformats.org/drawingml/2006/main">
              <a:ext uri="{FF2B5EF4-FFF2-40B4-BE49-F238E27FC236}">
                <a16:creationId xmlns:a16="http://schemas.microsoft.com/office/drawing/2014/main" id="{B1353E53-D16E-4544-AFD4-7D795722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647700" y="2914650"/>
                </a:moveTo>
                <a:lnTo>
                  <a:pt x="619125" y="2971800"/>
                </a:lnTo>
                <a:lnTo>
                  <a:pt x="676275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input1">
            <a:extLst xmlns:a="http://schemas.openxmlformats.org/drawingml/2006/main">
              <a:ext uri="{FF2B5EF4-FFF2-40B4-BE49-F238E27FC236}">
                <a16:creationId xmlns:a16="http://schemas.microsoft.com/office/drawing/2014/main" id="{56E156A3-F0D3-43D1-9AE4-CC18F78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input-label1">
            <a:extLst xmlns:a="http://schemas.openxmlformats.org/drawingml/2006/main">
              <a:ext uri="{FF2B5EF4-FFF2-40B4-BE49-F238E27FC236}">
                <a16:creationId xmlns:a16="http://schemas.microsoft.com/office/drawing/2014/main" id="{107C78C3-2523-4819-8D39-EC7ED28E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38" name="input-arrow1">
            <a:extLst xmlns:a="http://schemas.openxmlformats.org/drawingml/2006/main">
              <a:ext uri="{FF2B5EF4-FFF2-40B4-BE49-F238E27FC236}">
                <a16:creationId xmlns:a16="http://schemas.microsoft.com/office/drawing/2014/main" id="{BB87B6B2-474E-4ED0-BC43-E6AC5B8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1123950" y="3143250"/>
                </a:moveTo>
                <a:lnTo>
                  <a:pt x="112395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39" name="input-arrow1-head">
            <a:extLst xmlns:a="http://schemas.openxmlformats.org/drawingml/2006/main">
              <a:ext uri="{FF2B5EF4-FFF2-40B4-BE49-F238E27FC236}">
                <a16:creationId xmlns:a16="http://schemas.microsoft.com/office/drawing/2014/main" id="{19F63F2B-955F-4F19-9D56-30D80AC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1123950" y="2914650"/>
                </a:moveTo>
                <a:lnTo>
                  <a:pt x="1095375" y="2971800"/>
                </a:lnTo>
                <a:lnTo>
                  <a:pt x="1152525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put2">
            <a:extLst xmlns:a="http://schemas.openxmlformats.org/drawingml/2006/main">
              <a:ext uri="{FF2B5EF4-FFF2-40B4-BE49-F238E27FC236}">
                <a16:creationId xmlns:a16="http://schemas.microsoft.com/office/drawing/2014/main" id="{B1EFEAD3-7EC0-4CE7-9FB1-11968FCD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input-label2">
            <a:extLst xmlns:a="http://schemas.openxmlformats.org/drawingml/2006/main">
              <a:ext uri="{FF2B5EF4-FFF2-40B4-BE49-F238E27FC236}">
                <a16:creationId xmlns:a16="http://schemas.microsoft.com/office/drawing/2014/main" id="{39433948-75CC-4DFA-98E9-759ABD69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S₂</a:t>
            </a:r>
          </a:p>
        </p:txBody>
      </p:sp>
      <p:sp>
        <p:nvSpPr>
          <p:cNvPr id="42" name="input-arrow2">
            <a:extLst xmlns:a="http://schemas.openxmlformats.org/drawingml/2006/main">
              <a:ext uri="{FF2B5EF4-FFF2-40B4-BE49-F238E27FC236}">
                <a16:creationId xmlns:a16="http://schemas.microsoft.com/office/drawing/2014/main" id="{59005D7E-D91C-4719-9AFB-7014D4B0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1704975" y="3143250"/>
                </a:moveTo>
                <a:lnTo>
                  <a:pt x="1704975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43" name="input-arrow2-head">
            <a:extLst xmlns:a="http://schemas.openxmlformats.org/drawingml/2006/main">
              <a:ext uri="{FF2B5EF4-FFF2-40B4-BE49-F238E27FC236}">
                <a16:creationId xmlns:a16="http://schemas.microsoft.com/office/drawing/2014/main" id="{BAC2C46F-369D-466B-BBEC-F4953AF9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1704975" y="2914650"/>
                </a:moveTo>
                <a:lnTo>
                  <a:pt x="1676400" y="2971800"/>
                </a:lnTo>
                <a:lnTo>
                  <a:pt x="1733550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input3">
            <a:extLst xmlns:a="http://schemas.openxmlformats.org/drawingml/2006/main">
              <a:ext uri="{FF2B5EF4-FFF2-40B4-BE49-F238E27FC236}">
                <a16:creationId xmlns:a16="http://schemas.microsoft.com/office/drawing/2014/main" id="{72A48EF0-0017-4160-8AE3-8FA4D802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input-label3">
            <a:extLst xmlns:a="http://schemas.openxmlformats.org/drawingml/2006/main">
              <a:ext uri="{FF2B5EF4-FFF2-40B4-BE49-F238E27FC236}">
                <a16:creationId xmlns:a16="http://schemas.microsoft.com/office/drawing/2014/main" id="{FF6ED269-0322-42E0-9363-792FA6E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46" name="input-arrow3">
            <a:extLst xmlns:a="http://schemas.openxmlformats.org/drawingml/2006/main">
              <a:ext uri="{FF2B5EF4-FFF2-40B4-BE49-F238E27FC236}">
                <a16:creationId xmlns:a16="http://schemas.microsoft.com/office/drawing/2014/main" id="{EAACC665-8EC7-40D8-BA14-0B2A6687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2181225" y="3143250"/>
                </a:moveTo>
                <a:lnTo>
                  <a:pt x="2181225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47" name="input-arrow3-head">
            <a:extLst xmlns:a="http://schemas.openxmlformats.org/drawingml/2006/main">
              <a:ext uri="{FF2B5EF4-FFF2-40B4-BE49-F238E27FC236}">
                <a16:creationId xmlns:a16="http://schemas.microsoft.com/office/drawing/2014/main" id="{3651ABD2-CF31-4C72-9661-2802BFB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2181225" y="2914650"/>
                </a:moveTo>
                <a:lnTo>
                  <a:pt x="2152650" y="2971800"/>
                </a:lnTo>
                <a:lnTo>
                  <a:pt x="2209800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input4">
            <a:extLst xmlns:a="http://schemas.openxmlformats.org/drawingml/2006/main">
              <a:ext uri="{FF2B5EF4-FFF2-40B4-BE49-F238E27FC236}">
                <a16:creationId xmlns:a16="http://schemas.microsoft.com/office/drawing/2014/main" id="{29636757-83FC-4D11-A940-99B1B28C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input-label4">
            <a:extLst xmlns:a="http://schemas.openxmlformats.org/drawingml/2006/main">
              <a:ext uri="{FF2B5EF4-FFF2-40B4-BE49-F238E27FC236}">
                <a16:creationId xmlns:a16="http://schemas.microsoft.com/office/drawing/2014/main" id="{5597E9C9-7396-479F-B659-6A28F1C8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0" name="input-arrow4">
            <a:extLst xmlns:a="http://schemas.openxmlformats.org/drawingml/2006/main">
              <a:ext uri="{FF2B5EF4-FFF2-40B4-BE49-F238E27FC236}">
                <a16:creationId xmlns:a16="http://schemas.microsoft.com/office/drawing/2014/main" id="{B540B834-C4D1-45A5-8567-877B410F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3267075" y="3143250"/>
                </a:moveTo>
                <a:lnTo>
                  <a:pt x="3267075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51" name="input-arrow4-head">
            <a:extLst xmlns:a="http://schemas.openxmlformats.org/drawingml/2006/main">
              <a:ext uri="{FF2B5EF4-FFF2-40B4-BE49-F238E27FC236}">
                <a16:creationId xmlns:a16="http://schemas.microsoft.com/office/drawing/2014/main" id="{F1CFBB8D-0DD4-45D7-8A85-EBD3F164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3267075" y="2914650"/>
                </a:moveTo>
                <a:lnTo>
                  <a:pt x="3238500" y="2971800"/>
                </a:lnTo>
                <a:lnTo>
                  <a:pt x="3295650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input5">
            <a:extLst xmlns:a="http://schemas.openxmlformats.org/drawingml/2006/main">
              <a:ext uri="{FF2B5EF4-FFF2-40B4-BE49-F238E27FC236}">
                <a16:creationId xmlns:a16="http://schemas.microsoft.com/office/drawing/2014/main" id="{BB20899D-2004-4850-9A13-E1C12B1D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input-label5">
            <a:extLst xmlns:a="http://schemas.openxmlformats.org/drawingml/2006/main">
              <a:ext uri="{FF2B5EF4-FFF2-40B4-BE49-F238E27FC236}">
                <a16:creationId xmlns:a16="http://schemas.microsoft.com/office/drawing/2014/main" id="{03006C7C-926C-458C-9289-0D711A8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input-arrow5">
            <a:extLst xmlns:a="http://schemas.openxmlformats.org/drawingml/2006/main">
              <a:ext uri="{FF2B5EF4-FFF2-40B4-BE49-F238E27FC236}">
                <a16:creationId xmlns:a16="http://schemas.microsoft.com/office/drawing/2014/main" id="{7E988304-BC1F-474E-B5A3-93624C2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3743325" y="3143250"/>
                </a:moveTo>
                <a:lnTo>
                  <a:pt x="3743325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55" name="input-arrow5-head">
            <a:extLst xmlns:a="http://schemas.openxmlformats.org/drawingml/2006/main">
              <a:ext uri="{FF2B5EF4-FFF2-40B4-BE49-F238E27FC236}">
                <a16:creationId xmlns:a16="http://schemas.microsoft.com/office/drawing/2014/main" id="{695D49F0-F490-4F07-B75B-6492F00E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3743325" y="2914650"/>
                </a:moveTo>
                <a:lnTo>
                  <a:pt x="3714750" y="2971800"/>
                </a:lnTo>
                <a:lnTo>
                  <a:pt x="3771900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input-dot0">
            <a:extLst xmlns:a="http://schemas.openxmlformats.org/drawingml/2006/main">
              <a:ext uri="{FF2B5EF4-FFF2-40B4-BE49-F238E27FC236}">
                <a16:creationId xmlns:a16="http://schemas.microsoft.com/office/drawing/2014/main" id="{093FEE9D-7C82-4ED1-B0D8-C2DB6F52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238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D6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input-dot1">
            <a:extLst xmlns:a="http://schemas.openxmlformats.org/drawingml/2006/main">
              <a:ext uri="{FF2B5EF4-FFF2-40B4-BE49-F238E27FC236}">
                <a16:creationId xmlns:a16="http://schemas.microsoft.com/office/drawing/2014/main" id="{D3AF363F-68FF-41D8-AC56-8E72770A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238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D6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input-dot2">
            <a:extLst xmlns:a="http://schemas.openxmlformats.org/drawingml/2006/main">
              <a:ext uri="{FF2B5EF4-FFF2-40B4-BE49-F238E27FC236}">
                <a16:creationId xmlns:a16="http://schemas.microsoft.com/office/drawing/2014/main" id="{005E2A2E-B792-4FEF-818E-A227B2A8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3238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D6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encode-skill">
            <a:extLst xmlns:a="http://schemas.openxmlformats.org/drawingml/2006/main">
              <a:ext uri="{FF2B5EF4-FFF2-40B4-BE49-F238E27FC236}">
                <a16:creationId xmlns:a16="http://schemas.microsoft.com/office/drawing/2014/main" id="{CD67C518-5F5B-485C-ADCE-0B8425A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3486150" y="2447925"/>
                </a:moveTo>
                <a:lnTo>
                  <a:pt x="3486150" y="1857375"/>
                </a:lnTo>
                <a:lnTo>
                  <a:pt x="4676775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60" name="encode-skill-head">
            <a:extLst xmlns:a="http://schemas.openxmlformats.org/drawingml/2006/main">
              <a:ext uri="{FF2B5EF4-FFF2-40B4-BE49-F238E27FC236}">
                <a16:creationId xmlns:a16="http://schemas.microsoft.com/office/drawing/2014/main" id="{14193326-1EA2-4AC7-B871-0F501D74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676775" y="1857375"/>
                </a:moveTo>
                <a:lnTo>
                  <a:pt x="4619625" y="1828800"/>
                </a:lnTo>
                <a:lnTo>
                  <a:pt x="4619625" y="188595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kill">
            <a:extLst xmlns:a="http://schemas.openxmlformats.org/drawingml/2006/main">
              <a:ext uri="{FF2B5EF4-FFF2-40B4-BE49-F238E27FC236}">
                <a16:creationId xmlns:a16="http://schemas.microsoft.com/office/drawing/2014/main" id="{7669305E-EE05-4FED-AF4B-008465F5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1743075"/>
            <a:ext cx="7524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E9B"/>
          </a:solidFill>
          <a:ln xmlns:a="http://schemas.openxmlformats.org/drawingml/2006/main" w="7620">
            <a:solidFill>
              <a:srgbClr val="97B779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skill-label">
            <a:extLst xmlns:a="http://schemas.openxmlformats.org/drawingml/2006/main">
              <a:ext uri="{FF2B5EF4-FFF2-40B4-BE49-F238E27FC236}">
                <a16:creationId xmlns:a16="http://schemas.microsoft.com/office/drawing/2014/main" id="{84F0AE66-BCC3-4EB8-8330-37F1944B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743075"/>
            <a:ext cx="733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5671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5671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67133"/>
                </a:solidFill>
                <a:latin typeface="Arial"/>
                <a:ea typeface="Arial"/>
                <a:cs typeface="Arial"/>
              </a:rPr>
              <a:t>Skill (z)</a:t>
            </a:r>
          </a:p>
        </p:txBody>
      </p:sp>
      <p:sp>
        <p:nvSpPr>
          <p:cNvPr id="63" name="inverse-mlp">
            <a:extLst xmlns:a="http://schemas.openxmlformats.org/drawingml/2006/main">
              <a:ext uri="{FF2B5EF4-FFF2-40B4-BE49-F238E27FC236}">
                <a16:creationId xmlns:a16="http://schemas.microsoft.com/office/drawing/2014/main" id="{332F75CA-15F7-46BF-90A1-F3365204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543425" y="2447925"/>
                </a:moveTo>
                <a:lnTo>
                  <a:pt x="5562600" y="2447925"/>
                </a:lnTo>
                <a:lnTo>
                  <a:pt x="5676900" y="2914650"/>
                </a:lnTo>
                <a:lnTo>
                  <a:pt x="4438650" y="2914650"/>
                </a:lnTo>
                <a:close/>
              </a:path>
            </a:pathLst>
          </a:custGeom>
          <a:solidFill xmlns:a="http://schemas.openxmlformats.org/drawingml/2006/main">
            <a:srgbClr val="EBCFC5"/>
          </a:solidFill>
          <a:ln xmlns:a="http://schemas.openxmlformats.org/drawingml/2006/main" w="9525">
            <a:solidFill>
              <a:srgbClr val="FF4444"/>
            </a:solidFill>
            <a:prstDash val="solid"/>
          </a:ln>
        </p:spPr>
      </p:sp>
      <p:sp>
        <p:nvSpPr>
          <p:cNvPr id="64" name="inverse-mlp-label">
            <a:extLst xmlns:a="http://schemas.openxmlformats.org/drawingml/2006/main">
              <a:ext uri="{FF2B5EF4-FFF2-40B4-BE49-F238E27FC236}">
                <a16:creationId xmlns:a16="http://schemas.microsoft.com/office/drawing/2014/main" id="{31A52CE8-4913-4883-BAB6-1EAC496C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55270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FF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FF222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2222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65" name="inverse-input0">
            <a:extLst xmlns:a="http://schemas.openxmlformats.org/drawingml/2006/main">
              <a:ext uri="{FF2B5EF4-FFF2-40B4-BE49-F238E27FC236}">
                <a16:creationId xmlns:a16="http://schemas.microsoft.com/office/drawing/2014/main" id="{ECD093EE-208E-4E4E-946D-29A2271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inverse-input-label0">
            <a:extLst xmlns:a="http://schemas.openxmlformats.org/drawingml/2006/main">
              <a:ext uri="{FF2B5EF4-FFF2-40B4-BE49-F238E27FC236}">
                <a16:creationId xmlns:a16="http://schemas.microsoft.com/office/drawing/2014/main" id="{29246A5C-1209-439F-9A5F-7D81452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S₁</a:t>
            </a:r>
          </a:p>
        </p:txBody>
      </p:sp>
      <p:sp>
        <p:nvSpPr>
          <p:cNvPr id="67" name="inverse-input-arrow0">
            <a:extLst xmlns:a="http://schemas.openxmlformats.org/drawingml/2006/main">
              <a:ext uri="{FF2B5EF4-FFF2-40B4-BE49-F238E27FC236}">
                <a16:creationId xmlns:a16="http://schemas.microsoft.com/office/drawing/2014/main" id="{8A86DB85-E413-4CAC-AA2B-6BF2566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791075" y="3143250"/>
                </a:moveTo>
                <a:lnTo>
                  <a:pt x="4791075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68" name="inverse-input-arrow0-head">
            <a:extLst xmlns:a="http://schemas.openxmlformats.org/drawingml/2006/main">
              <a:ext uri="{FF2B5EF4-FFF2-40B4-BE49-F238E27FC236}">
                <a16:creationId xmlns:a16="http://schemas.microsoft.com/office/drawing/2014/main" id="{B69F377D-258A-4054-BBE2-1E4E591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4791075" y="2914650"/>
                </a:moveTo>
                <a:lnTo>
                  <a:pt x="4762500" y="2971800"/>
                </a:lnTo>
                <a:lnTo>
                  <a:pt x="4819650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inverse-input1">
            <a:extLst xmlns:a="http://schemas.openxmlformats.org/drawingml/2006/main">
              <a:ext uri="{FF2B5EF4-FFF2-40B4-BE49-F238E27FC236}">
                <a16:creationId xmlns:a16="http://schemas.microsoft.com/office/drawing/2014/main" id="{614928EC-5F1C-41E3-98FC-96BE9DA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inverse-input-label1">
            <a:extLst xmlns:a="http://schemas.openxmlformats.org/drawingml/2006/main">
              <a:ext uri="{FF2B5EF4-FFF2-40B4-BE49-F238E27FC236}">
                <a16:creationId xmlns:a16="http://schemas.microsoft.com/office/drawing/2014/main" id="{27E43CDC-ED6A-4684-A62C-389E6C5A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527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1" name="inverse-input-arrow1">
            <a:extLst xmlns:a="http://schemas.openxmlformats.org/drawingml/2006/main">
              <a:ext uri="{FF2B5EF4-FFF2-40B4-BE49-F238E27FC236}">
                <a16:creationId xmlns:a16="http://schemas.microsoft.com/office/drawing/2014/main" id="{F8E5D99A-2A4C-4DBF-80D2-93AA4FA4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267325" y="3143250"/>
                </a:moveTo>
                <a:lnTo>
                  <a:pt x="5267325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72" name="inverse-input-arrow1-head">
            <a:extLst xmlns:a="http://schemas.openxmlformats.org/drawingml/2006/main">
              <a:ext uri="{FF2B5EF4-FFF2-40B4-BE49-F238E27FC236}">
                <a16:creationId xmlns:a16="http://schemas.microsoft.com/office/drawing/2014/main" id="{987640A8-5C8C-49D3-A918-616CF3C2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267325" y="2914650"/>
                </a:moveTo>
                <a:lnTo>
                  <a:pt x="5238750" y="2971800"/>
                </a:lnTo>
                <a:lnTo>
                  <a:pt x="5295900" y="29718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inverse-skill">
            <a:extLst xmlns:a="http://schemas.openxmlformats.org/drawingml/2006/main">
              <a:ext uri="{FF2B5EF4-FFF2-40B4-BE49-F238E27FC236}">
                <a16:creationId xmlns:a16="http://schemas.microsoft.com/office/drawing/2014/main" id="{FCDFDBE2-342E-4452-BB76-40FA2868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057775" y="2447925"/>
                </a:moveTo>
                <a:lnTo>
                  <a:pt x="5057775" y="1981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74" name="inverse-skill-head">
            <a:extLst xmlns:a="http://schemas.openxmlformats.org/drawingml/2006/main">
              <a:ext uri="{FF2B5EF4-FFF2-40B4-BE49-F238E27FC236}">
                <a16:creationId xmlns:a16="http://schemas.microsoft.com/office/drawing/2014/main" id="{7479B2F7-CFD8-43C9-A317-D572B9E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057775" y="1981200"/>
                </a:moveTo>
                <a:lnTo>
                  <a:pt x="5029200" y="2038350"/>
                </a:lnTo>
                <a:lnTo>
                  <a:pt x="5086350" y="203835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inverse-title">
            <a:extLst xmlns:a="http://schemas.openxmlformats.org/drawingml/2006/main">
              <a:ext uri="{FF2B5EF4-FFF2-40B4-BE49-F238E27FC236}">
                <a16:creationId xmlns:a16="http://schemas.microsoft.com/office/drawing/2014/main" id="{843ECACF-0615-4145-8A2A-954B482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5337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Inverse Skill Dynamics</a:t>
            </a:r>
          </a:p>
        </p:txBody>
      </p:sp>
      <p:sp>
        <p:nvSpPr>
          <p:cNvPr id="76" name="inverse-formula">
            <a:extLst xmlns:a="http://schemas.openxmlformats.org/drawingml/2006/main">
              <a:ext uri="{FF2B5EF4-FFF2-40B4-BE49-F238E27FC236}">
                <a16:creationId xmlns:a16="http://schemas.microsoft.com/office/drawing/2014/main" id="{0B525A71-7CFB-40C2-9AE3-BCC4346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3733800"/>
            <a:ext cx="130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q(z | s, s′)</a:t>
            </a:r>
          </a:p>
        </p:txBody>
      </p:sp>
      <p:sp>
        <p:nvSpPr>
          <p:cNvPr id="77" name="decoder-mlp">
            <a:extLst xmlns:a="http://schemas.openxmlformats.org/drawingml/2006/main">
              <a:ext uri="{FF2B5EF4-FFF2-40B4-BE49-F238E27FC236}">
                <a16:creationId xmlns:a16="http://schemas.microsoft.com/office/drawing/2014/main" id="{41A34CD2-9C92-4F8A-8753-688A06AF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733425"/>
            <a:ext cx="1457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8D"/>
          </a:solidFill>
          <a:ln xmlns:a="http://schemas.openxmlformats.org/drawingml/2006/main" w="5715">
            <a:solidFill>
              <a:srgbClr val="DAB15E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mlp-label">
            <a:extLst xmlns:a="http://schemas.openxmlformats.org/drawingml/2006/main">
              <a:ext uri="{FF2B5EF4-FFF2-40B4-BE49-F238E27FC236}">
                <a16:creationId xmlns:a16="http://schemas.microsoft.com/office/drawing/2014/main" id="{E8D32B05-8915-4E97-9589-651A8B3D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8477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7C4B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7C4B1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C4B12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79" name="skill-decoder">
            <a:extLst xmlns:a="http://schemas.openxmlformats.org/drawingml/2006/main">
              <a:ext uri="{FF2B5EF4-FFF2-40B4-BE49-F238E27FC236}">
                <a16:creationId xmlns:a16="http://schemas.microsoft.com/office/drawing/2014/main" id="{B702FF36-E0E6-46FC-9E52-6ED6E6C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057775" y="1743075"/>
                </a:moveTo>
                <a:lnTo>
                  <a:pt x="5057775" y="1200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80" name="skill-decoder-head">
            <a:extLst xmlns:a="http://schemas.openxmlformats.org/drawingml/2006/main">
              <a:ext uri="{FF2B5EF4-FFF2-40B4-BE49-F238E27FC236}">
                <a16:creationId xmlns:a16="http://schemas.microsoft.com/office/drawing/2014/main" id="{E32996E1-D3B9-4BF9-B447-5ADAF09E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057775" y="1200150"/>
                </a:moveTo>
                <a:lnTo>
                  <a:pt x="5029200" y="1257300"/>
                </a:lnTo>
                <a:lnTo>
                  <a:pt x="5086350" y="12573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ecoder-state">
            <a:extLst xmlns:a="http://schemas.openxmlformats.org/drawingml/2006/main">
              <a:ext uri="{FF2B5EF4-FFF2-40B4-BE49-F238E27FC236}">
                <a16:creationId xmlns:a16="http://schemas.microsoft.com/office/drawing/2014/main" id="{B738D705-FABC-46BD-8642-F017C3C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14001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decoder-state-label">
            <a:extLst xmlns:a="http://schemas.openxmlformats.org/drawingml/2006/main">
              <a:ext uri="{FF2B5EF4-FFF2-40B4-BE49-F238E27FC236}">
                <a16:creationId xmlns:a16="http://schemas.microsoft.com/office/drawing/2014/main" id="{2C779384-F2C0-44A8-828C-EEFA00BF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1400175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Sₜ</a:t>
            </a:r>
          </a:p>
        </p:txBody>
      </p:sp>
      <p:sp>
        <p:nvSpPr>
          <p:cNvPr id="83" name="state-decoder">
            <a:extLst xmlns:a="http://schemas.openxmlformats.org/drawingml/2006/main">
              <a:ext uri="{FF2B5EF4-FFF2-40B4-BE49-F238E27FC236}">
                <a16:creationId xmlns:a16="http://schemas.microsoft.com/office/drawing/2014/main" id="{BAB9AD35-9D70-4300-8C01-72B97ADC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334000" y="1400175"/>
                </a:moveTo>
                <a:lnTo>
                  <a:pt x="5334000" y="1200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84" name="state-decoder-head">
            <a:extLst xmlns:a="http://schemas.openxmlformats.org/drawingml/2006/main">
              <a:ext uri="{FF2B5EF4-FFF2-40B4-BE49-F238E27FC236}">
                <a16:creationId xmlns:a16="http://schemas.microsoft.com/office/drawing/2014/main" id="{146F16C1-4091-4E5E-A0D0-BBC4E9F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334000" y="1200150"/>
                </a:moveTo>
                <a:lnTo>
                  <a:pt x="5305425" y="1257300"/>
                </a:lnTo>
                <a:lnTo>
                  <a:pt x="5362575" y="12573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action">
            <a:extLst xmlns:a="http://schemas.openxmlformats.org/drawingml/2006/main">
              <a:ext uri="{FF2B5EF4-FFF2-40B4-BE49-F238E27FC236}">
                <a16:creationId xmlns:a16="http://schemas.microsoft.com/office/drawing/2014/main" id="{0634BAF4-6BCB-42D2-8848-FD3E0EB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228600"/>
            <a:ext cx="276225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5"/>
          </a:solidFill>
          <a:ln xmlns:a="http://schemas.openxmlformats.org/drawingml/2006/main" w="9525">
            <a:solidFill>
              <a:srgbClr val="6097E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DEC08538-E7CD-4207-9A14-6A67B52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22860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aₜ</a:t>
            </a:r>
          </a:p>
        </p:txBody>
      </p:sp>
      <p:sp>
        <p:nvSpPr>
          <p:cNvPr id="87" name="decoder-action">
            <a:extLst xmlns:a="http://schemas.openxmlformats.org/drawingml/2006/main">
              <a:ext uri="{FF2B5EF4-FFF2-40B4-BE49-F238E27FC236}">
                <a16:creationId xmlns:a16="http://schemas.microsoft.com/office/drawing/2014/main" id="{FAFD2B85-85AA-4416-8D4F-0C65EDBF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057775" y="733425"/>
                </a:moveTo>
                <a:lnTo>
                  <a:pt x="505777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37ED8"/>
            </a:solidFill>
            <a:prstDash val="solid"/>
          </a:ln>
        </p:spPr>
      </p:sp>
      <p:sp>
        <p:nvSpPr>
          <p:cNvPr id="88" name="decoder-action-head">
            <a:extLst xmlns:a="http://schemas.openxmlformats.org/drawingml/2006/main">
              <a:ext uri="{FF2B5EF4-FFF2-40B4-BE49-F238E27FC236}">
                <a16:creationId xmlns:a16="http://schemas.microsoft.com/office/drawing/2014/main" id="{73C17E6D-D2F2-46A3-9DE2-BDF6B4A2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5057775" y="514350"/>
                </a:moveTo>
                <a:lnTo>
                  <a:pt x="5029200" y="571500"/>
                </a:lnTo>
                <a:lnTo>
                  <a:pt x="5086350" y="571500"/>
                </a:lnTo>
                <a:close/>
              </a:path>
            </a:pathLst>
          </a:custGeom>
          <a:solidFill xmlns:a="http://schemas.openxmlformats.org/drawingml/2006/main">
            <a:srgbClr val="43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trajectories">
            <a:extLst xmlns:a="http://schemas.openxmlformats.org/drawingml/2006/main">
              <a:ext uri="{FF2B5EF4-FFF2-40B4-BE49-F238E27FC236}">
                <a16:creationId xmlns:a16="http://schemas.microsoft.com/office/drawing/2014/main" id="{A3CE7E51-BB9E-437D-9C8F-BF2A698B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70485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9739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9739D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739D8"/>
                </a:solidFill>
                <a:latin typeface="Arial"/>
                <a:ea typeface="Arial"/>
                <a:cs typeface="Arial"/>
              </a:rPr>
              <a:t>Few-shot</a:t>
            </a:r>
          </a:p>
          <a:p xmlns:a="http://schemas.openxmlformats.org/drawingml/2006/main">
            <a:pPr algn="ctr">
              <a:defRPr sz="1050" b="1" i="0">
                <a:solidFill>
                  <a:srgbClr val="9739D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739D8"/>
                </a:solidFill>
                <a:latin typeface="Arial"/>
                <a:ea typeface="Arial"/>
                <a:cs typeface="Arial"/>
              </a:rPr>
              <a:t>trajectories</a:t>
            </a:r>
          </a:p>
        </p:txBody>
      </p:sp>
      <p:sp>
        <p:nvSpPr>
          <p:cNvPr id="90" name="trajectory">
            <a:extLst xmlns:a="http://schemas.openxmlformats.org/drawingml/2006/main">
              <a:ext uri="{FF2B5EF4-FFF2-40B4-BE49-F238E27FC236}">
                <a16:creationId xmlns:a16="http://schemas.microsoft.com/office/drawing/2014/main" id="{AC3A28B2-F795-4EB6-AF1A-D87B8EE7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219950" y="1466850"/>
                </a:moveTo>
                <a:cubicBezTo>
                  <a:pt x="7620000" y="885825"/>
                  <a:pt x="7781925" y="704850"/>
                  <a:pt x="8162925" y="1219200"/>
                </a:cubicBezTo>
                <a:cubicBezTo>
                  <a:pt x="8562975" y="1743075"/>
                  <a:pt x="8648700" y="2266950"/>
                  <a:pt x="9410700" y="1114425"/>
                </a:cubicBezTo>
                <a:cubicBezTo>
                  <a:pt x="9553575" y="1609725"/>
                  <a:pt x="8420100" y="2505075"/>
                  <a:pt x="7753350" y="2028825"/>
                </a:cubicBezTo>
                <a:lnTo>
                  <a:pt x="721995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83ADD"/>
            </a:solidFill>
            <a:prstDash val="solid"/>
          </a:ln>
        </p:spPr>
      </p:sp>
      <p:sp>
        <p:nvSpPr>
          <p:cNvPr id="91" name="tau1">
            <a:extLst xmlns:a="http://schemas.openxmlformats.org/drawingml/2006/main">
              <a:ext uri="{FF2B5EF4-FFF2-40B4-BE49-F238E27FC236}">
                <a16:creationId xmlns:a16="http://schemas.microsoft.com/office/drawing/2014/main" id="{79474A3A-CF28-4C38-82D0-DC5EB111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1104900"/>
            <a:ext cx="352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983A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983A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983ADD"/>
                </a:solidFill>
                <a:latin typeface="Times New Roman"/>
                <a:ea typeface="Times New Roman"/>
                <a:cs typeface="Times New Roman"/>
              </a:rPr>
              <a:t>τ₁</a:t>
            </a:r>
          </a:p>
        </p:txBody>
      </p:sp>
      <p:sp>
        <p:nvSpPr>
          <p:cNvPr id="92" name="tau2">
            <a:extLst xmlns:a="http://schemas.openxmlformats.org/drawingml/2006/main">
              <a:ext uri="{FF2B5EF4-FFF2-40B4-BE49-F238E27FC236}">
                <a16:creationId xmlns:a16="http://schemas.microsoft.com/office/drawing/2014/main" id="{8E1039AD-FBEB-4375-B2F5-74678DA8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175" y="1533525"/>
            <a:ext cx="352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983A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983A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983ADD"/>
                </a:solidFill>
                <a:latin typeface="Times New Roman"/>
                <a:ea typeface="Times New Roman"/>
                <a:cs typeface="Times New Roman"/>
              </a:rPr>
              <a:t>τ₂</a:t>
            </a:r>
          </a:p>
        </p:txBody>
      </p:sp>
      <p:sp>
        <p:nvSpPr>
          <p:cNvPr id="93" name="start-star">
            <a:extLst xmlns:a="http://schemas.openxmlformats.org/drawingml/2006/main">
              <a:ext uri="{FF2B5EF4-FFF2-40B4-BE49-F238E27FC236}">
                <a16:creationId xmlns:a16="http://schemas.microsoft.com/office/drawing/2014/main" id="{73D74F65-3E51-4BFB-91B0-C52FD736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762875" y="1876425"/>
                </a:moveTo>
                <a:lnTo>
                  <a:pt x="7790868" y="1980771"/>
                </a:lnTo>
                <a:lnTo>
                  <a:pt x="7898757" y="1975149"/>
                </a:lnTo>
                <a:lnTo>
                  <a:pt x="7808169" y="2034017"/>
                </a:lnTo>
                <a:lnTo>
                  <a:pt x="7846855" y="2134888"/>
                </a:lnTo>
                <a:lnTo>
                  <a:pt x="7762875" y="2066925"/>
                </a:lnTo>
                <a:lnTo>
                  <a:pt x="7678895" y="2134888"/>
                </a:lnTo>
                <a:lnTo>
                  <a:pt x="7717581" y="2034017"/>
                </a:lnTo>
                <a:lnTo>
                  <a:pt x="7626993" y="1975149"/>
                </a:lnTo>
                <a:lnTo>
                  <a:pt x="7734882" y="1980771"/>
                </a:lnTo>
                <a:close/>
              </a:path>
            </a:pathLst>
          </a:custGeom>
          <a:solidFill xmlns:a="http://schemas.openxmlformats.org/drawingml/2006/main">
            <a:srgbClr val="078D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goal-star">
            <a:extLst xmlns:a="http://schemas.openxmlformats.org/drawingml/2006/main">
              <a:ext uri="{FF2B5EF4-FFF2-40B4-BE49-F238E27FC236}">
                <a16:creationId xmlns:a16="http://schemas.microsoft.com/office/drawing/2014/main" id="{8C51FC02-2B88-465E-B64E-618E615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8524875" y="1924050"/>
                </a:moveTo>
                <a:lnTo>
                  <a:pt x="8552868" y="2028396"/>
                </a:lnTo>
                <a:lnTo>
                  <a:pt x="8660757" y="2022774"/>
                </a:lnTo>
                <a:lnTo>
                  <a:pt x="8570169" y="2081642"/>
                </a:lnTo>
                <a:lnTo>
                  <a:pt x="8608855" y="2182513"/>
                </a:lnTo>
                <a:lnTo>
                  <a:pt x="8524875" y="2114550"/>
                </a:lnTo>
                <a:lnTo>
                  <a:pt x="8440895" y="2182513"/>
                </a:lnTo>
                <a:lnTo>
                  <a:pt x="8479581" y="2081642"/>
                </a:lnTo>
                <a:lnTo>
                  <a:pt x="8388993" y="2022774"/>
                </a:lnTo>
                <a:lnTo>
                  <a:pt x="8496882" y="2028396"/>
                </a:lnTo>
                <a:close/>
              </a:path>
            </a:pathLst>
          </a:custGeom>
          <a:solidFill xmlns:a="http://schemas.openxmlformats.org/drawingml/2006/main">
            <a:srgbClr val="00B7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startx1">
            <a:extLst xmlns:a="http://schemas.openxmlformats.org/drawingml/2006/main">
              <a:ext uri="{FF2B5EF4-FFF2-40B4-BE49-F238E27FC236}">
                <a16:creationId xmlns:a16="http://schemas.microsoft.com/office/drawing/2014/main" id="{E539B06E-A165-40AC-B198-1870F21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239000" y="2695575"/>
                </a:moveTo>
                <a:lnTo>
                  <a:pt x="7410450" y="28670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DCC"/>
            </a:solidFill>
            <a:prstDash val="solid"/>
          </a:ln>
        </p:spPr>
      </p:sp>
      <p:sp>
        <p:nvSpPr>
          <p:cNvPr id="96" name="startx2">
            <a:extLst xmlns:a="http://schemas.openxmlformats.org/drawingml/2006/main">
              <a:ext uri="{FF2B5EF4-FFF2-40B4-BE49-F238E27FC236}">
                <a16:creationId xmlns:a16="http://schemas.microsoft.com/office/drawing/2014/main" id="{4C04DDB0-1C39-42DD-8FD8-03365283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239000" y="2867025"/>
                </a:moveTo>
                <a:lnTo>
                  <a:pt x="7410450" y="26955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78DCC"/>
            </a:solidFill>
            <a:prstDash val="solid"/>
          </a:ln>
        </p:spPr>
      </p:sp>
      <p:sp>
        <p:nvSpPr>
          <p:cNvPr id="97" name="targetx1">
            <a:extLst xmlns:a="http://schemas.openxmlformats.org/drawingml/2006/main">
              <a:ext uri="{FF2B5EF4-FFF2-40B4-BE49-F238E27FC236}">
                <a16:creationId xmlns:a16="http://schemas.microsoft.com/office/drawing/2014/main" id="{641FC429-8000-4246-A59C-0D376A77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915275" y="2333625"/>
                </a:moveTo>
                <a:lnTo>
                  <a:pt x="8086725" y="25050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B765"/>
            </a:solidFill>
            <a:prstDash val="solid"/>
          </a:ln>
        </p:spPr>
      </p:sp>
      <p:sp>
        <p:nvSpPr>
          <p:cNvPr id="98" name="targetx2">
            <a:extLst xmlns:a="http://schemas.openxmlformats.org/drawingml/2006/main">
              <a:ext uri="{FF2B5EF4-FFF2-40B4-BE49-F238E27FC236}">
                <a16:creationId xmlns:a16="http://schemas.microsoft.com/office/drawing/2014/main" id="{FE87D81D-FC12-4810-AFB1-8349F72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915275" y="2505075"/>
                </a:moveTo>
                <a:lnTo>
                  <a:pt x="8086725" y="2333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B765"/>
            </a:solidFill>
            <a:prstDash val="solid"/>
          </a:ln>
        </p:spPr>
      </p:sp>
      <p:sp>
        <p:nvSpPr>
          <p:cNvPr id="99" name="blue-min">
            <a:extLst xmlns:a="http://schemas.openxmlformats.org/drawingml/2006/main">
              <a:ext uri="{FF2B5EF4-FFF2-40B4-BE49-F238E27FC236}">
                <a16:creationId xmlns:a16="http://schemas.microsoft.com/office/drawing/2014/main" id="{C45DF057-6394-499B-8FA4-B61F01F8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753350" y="2085975"/>
                </a:moveTo>
                <a:lnTo>
                  <a:pt x="7334250" y="2724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8DCC"/>
            </a:solidFill>
            <a:prstDash val="dash"/>
          </a:ln>
        </p:spPr>
      </p:sp>
      <p:sp>
        <p:nvSpPr>
          <p:cNvPr id="100" name="blue-min-head">
            <a:extLst xmlns:a="http://schemas.openxmlformats.org/drawingml/2006/main">
              <a:ext uri="{FF2B5EF4-FFF2-40B4-BE49-F238E27FC236}">
                <a16:creationId xmlns:a16="http://schemas.microsoft.com/office/drawing/2014/main" id="{A946747D-6710-4DCD-B10D-6E8CF39E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334250" y="2724150"/>
                </a:moveTo>
                <a:lnTo>
                  <a:pt x="7389506" y="2692066"/>
                </a:lnTo>
                <a:lnTo>
                  <a:pt x="7341736" y="2660694"/>
                </a:lnTo>
                <a:close/>
              </a:path>
            </a:pathLst>
          </a:custGeom>
          <a:solidFill xmlns:a="http://schemas.openxmlformats.org/drawingml/2006/main">
            <a:srgbClr val="078D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green-min">
            <a:extLst xmlns:a="http://schemas.openxmlformats.org/drawingml/2006/main">
              <a:ext uri="{FF2B5EF4-FFF2-40B4-BE49-F238E27FC236}">
                <a16:creationId xmlns:a16="http://schemas.microsoft.com/office/drawing/2014/main" id="{F9C00E1D-1E0A-4C88-958F-0707F395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381875" y="2762250"/>
                </a:moveTo>
                <a:lnTo>
                  <a:pt x="7981950" y="2457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B765"/>
            </a:solidFill>
            <a:prstDash val="dash"/>
          </a:ln>
        </p:spPr>
      </p:sp>
      <p:sp>
        <p:nvSpPr>
          <p:cNvPr id="102" name="green-min-head">
            <a:extLst xmlns:a="http://schemas.openxmlformats.org/drawingml/2006/main">
              <a:ext uri="{FF2B5EF4-FFF2-40B4-BE49-F238E27FC236}">
                <a16:creationId xmlns:a16="http://schemas.microsoft.com/office/drawing/2014/main" id="{75E6AB61-2F84-4B96-96D3-E7F56C69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981950" y="2457450"/>
                </a:moveTo>
                <a:lnTo>
                  <a:pt x="7918056" y="2457854"/>
                </a:lnTo>
                <a:lnTo>
                  <a:pt x="7943937" y="2508808"/>
                </a:lnTo>
                <a:close/>
              </a:path>
            </a:pathLst>
          </a:custGeom>
          <a:solidFill xmlns:a="http://schemas.openxmlformats.org/drawingml/2006/main">
            <a:srgbClr val="00B7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-steps">
            <a:extLst xmlns:a="http://schemas.openxmlformats.org/drawingml/2006/main">
              <a:ext uri="{FF2B5EF4-FFF2-40B4-BE49-F238E27FC236}">
                <a16:creationId xmlns:a16="http://schemas.microsoft.com/office/drawing/2014/main" id="{0F75F25F-95D9-4DF3-A296-24405AC9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7915275" y="2000250"/>
                </a:moveTo>
                <a:lnTo>
                  <a:pt x="8372475" y="2057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B765"/>
            </a:solidFill>
            <a:prstDash val="dash"/>
          </a:ln>
        </p:spPr>
      </p:sp>
      <p:sp>
        <p:nvSpPr>
          <p:cNvPr id="104" name="h-steps-head">
            <a:extLst xmlns:a="http://schemas.openxmlformats.org/drawingml/2006/main">
              <a:ext uri="{FF2B5EF4-FFF2-40B4-BE49-F238E27FC236}">
                <a16:creationId xmlns:a16="http://schemas.microsoft.com/office/drawing/2014/main" id="{DD28033E-2E22-4B74-8BD0-C83EBEEF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8372475" y="2057400"/>
                </a:moveTo>
                <a:lnTo>
                  <a:pt x="8319311" y="2021957"/>
                </a:lnTo>
                <a:lnTo>
                  <a:pt x="8312222" y="2078666"/>
                </a:lnTo>
                <a:close/>
              </a:path>
            </a:pathLst>
          </a:custGeom>
          <a:solidFill xmlns:a="http://schemas.openxmlformats.org/drawingml/2006/main">
            <a:srgbClr val="00B7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-label">
            <a:extLst xmlns:a="http://schemas.openxmlformats.org/drawingml/2006/main">
              <a:ext uri="{FF2B5EF4-FFF2-40B4-BE49-F238E27FC236}">
                <a16:creationId xmlns:a16="http://schemas.microsoft.com/office/drawing/2014/main" id="{9A11B1EC-BA13-422D-89FD-4848A35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17716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00B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0B7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B765"/>
                </a:solidFill>
                <a:latin typeface="Arial"/>
                <a:ea typeface="Arial"/>
                <a:cs typeface="Arial"/>
              </a:rPr>
              <a:t>H steps</a:t>
            </a:r>
          </a:p>
        </p:txBody>
      </p:sp>
      <p:sp>
        <p:nvSpPr>
          <p:cNvPr id="106" name="min-distance">
            <a:extLst xmlns:a="http://schemas.openxmlformats.org/drawingml/2006/main">
              <a:ext uri="{FF2B5EF4-FFF2-40B4-BE49-F238E27FC236}">
                <a16:creationId xmlns:a16="http://schemas.microsoft.com/office/drawing/2014/main" id="{009015FC-3AAB-486B-BE3E-39E68701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2124075"/>
            <a:ext cx="1076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rPr>
              <a:t>min d(s₁, s*)</a:t>
            </a:r>
          </a:p>
        </p:txBody>
      </p:sp>
      <p:sp>
        <p:nvSpPr>
          <p:cNvPr id="107" name="min-s">
            <a:extLst xmlns:a="http://schemas.openxmlformats.org/drawingml/2006/main">
              <a:ext uri="{FF2B5EF4-FFF2-40B4-BE49-F238E27FC236}">
                <a16:creationId xmlns:a16="http://schemas.microsoft.com/office/drawing/2014/main" id="{70343D3D-6365-4BC7-9B2B-7FC5C6AD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26695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rPr>
              <a:t>s*</a:t>
            </a:r>
          </a:p>
        </p:txBody>
      </p:sp>
      <p:sp>
        <p:nvSpPr>
          <p:cNvPr id="108" name="s1">
            <a:extLst xmlns:a="http://schemas.openxmlformats.org/drawingml/2006/main">
              <a:ext uri="{FF2B5EF4-FFF2-40B4-BE49-F238E27FC236}">
                <a16:creationId xmlns:a16="http://schemas.microsoft.com/office/drawing/2014/main" id="{1D5CFB80-D4F2-49FB-BC88-A107174B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28003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78DCC"/>
                </a:solidFill>
                <a:latin typeface="Times New Roman"/>
                <a:ea typeface="Times New Roman"/>
                <a:cs typeface="Times New Roman"/>
              </a:rPr>
              <a:t>s₁</a:t>
            </a:r>
          </a:p>
        </p:txBody>
      </p:sp>
      <p:sp>
        <p:nvSpPr>
          <p:cNvPr id="109" name="goal-label">
            <a:extLst xmlns:a="http://schemas.openxmlformats.org/drawingml/2006/main">
              <a:ext uri="{FF2B5EF4-FFF2-40B4-BE49-F238E27FC236}">
                <a16:creationId xmlns:a16="http://schemas.microsoft.com/office/drawing/2014/main" id="{C2B0E803-9A36-4460-9AE0-8CD8B519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2143125"/>
            <a:ext cx="276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B7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B7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B765"/>
                </a:solidFill>
                <a:latin typeface="Times New Roman"/>
                <a:ea typeface="Times New Roman"/>
                <a:cs typeface="Times New Roman"/>
              </a:rPr>
              <a:t>s*</a:t>
            </a:r>
          </a:p>
        </p:txBody>
      </p:sp>
      <p:sp>
        <p:nvSpPr>
          <p:cNvPr id="110" name="decode-to-policy">
            <a:extLst xmlns:a="http://schemas.openxmlformats.org/drawingml/2006/main">
              <a:ext uri="{FF2B5EF4-FFF2-40B4-BE49-F238E27FC236}">
                <a16:creationId xmlns:a16="http://schemas.microsoft.com/office/drawing/2014/main" id="{B03CF5F9-6413-49EC-A50E-4EF3836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6238875" y="3486150"/>
                </a:moveTo>
                <a:lnTo>
                  <a:pt x="8382000" y="3486150"/>
                </a:lnTo>
                <a:lnTo>
                  <a:pt x="8382000" y="2828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11" name="decode-to-policy-head">
            <a:extLst xmlns:a="http://schemas.openxmlformats.org/drawingml/2006/main">
              <a:ext uri="{FF2B5EF4-FFF2-40B4-BE49-F238E27FC236}">
                <a16:creationId xmlns:a16="http://schemas.microsoft.com/office/drawing/2014/main" id="{7B8AF73D-DC7D-405F-B45E-73F97679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686925" cy="4086225"/>
          </a:xfrm>
          <a:custGeom xmlns:a="http://schemas.openxmlformats.org/drawingml/2006/main">
            <a:pathLst>
              <a:path w="9686925" h="4086225">
                <a:moveTo>
                  <a:pt x="8382000" y="2828925"/>
                </a:moveTo>
                <a:lnTo>
                  <a:pt x="8353425" y="2886075"/>
                </a:lnTo>
                <a:lnTo>
                  <a:pt x="8410575" y="28860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input-label4-H">
            <a:extLst xmlns:a="http://schemas.openxmlformats.org/drawingml/2006/main">
              <a:ext uri="{FF2B5EF4-FFF2-40B4-BE49-F238E27FC236}">
                <a16:creationId xmlns:a16="http://schemas.microsoft.com/office/drawing/2014/main" id="{5D438FED-242B-4226-A4EE-B0127647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29565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3" name="input-label5-H">
            <a:extLst xmlns:a="http://schemas.openxmlformats.org/drawingml/2006/main">
              <a:ext uri="{FF2B5EF4-FFF2-40B4-BE49-F238E27FC236}">
                <a16:creationId xmlns:a16="http://schemas.microsoft.com/office/drawing/2014/main" id="{8C61D626-3F18-4889-A58D-D8DEF2A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29565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4" name="inverse-input-label1-H">
            <a:extLst xmlns:a="http://schemas.openxmlformats.org/drawingml/2006/main">
              <a:ext uri="{FF2B5EF4-FFF2-40B4-BE49-F238E27FC236}">
                <a16:creationId xmlns:a16="http://schemas.microsoft.com/office/drawing/2014/main" id="{34CBFE66-5A0C-4F2E-9FA0-185C87F0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29565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427AD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427ADD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5" name="goal-label-H">
            <a:extLst xmlns:a="http://schemas.openxmlformats.org/drawingml/2006/main">
              <a:ext uri="{FF2B5EF4-FFF2-40B4-BE49-F238E27FC236}">
                <a16:creationId xmlns:a16="http://schemas.microsoft.com/office/drawing/2014/main" id="{C72A60EE-8E58-4B12-8F64-0E927056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228600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00B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00B76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00B765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6" name="policy-formula">
            <a:extLst xmlns:a="http://schemas.openxmlformats.org/drawingml/2006/main">
              <a:ext uri="{FF2B5EF4-FFF2-40B4-BE49-F238E27FC236}">
                <a16:creationId xmlns:a16="http://schemas.microsoft.com/office/drawing/2014/main" id="{67244526-155D-42FE-862D-156AB77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647950"/>
            <a:ext cx="1685925" cy="190500"/>
          </a:xfrm>
          <a:custGeom xmlns:a="http://schemas.openxmlformats.org/drawingml/2006/main">
            <a:pathLst>
              <a:path w="1685925" h="190500">
                <a:moveTo>
                  <a:pt x="78739" y="124902"/>
                </a:moveTo>
                <a:lnTo>
                  <a:pt x="81029" y="126813"/>
                </a:lnTo>
                <a:quadBezTo>
                  <a:pt x="71152" y="138686"/>
                  <a:pt x="66462" y="142371"/>
                </a:quadBezTo>
                <a:quadBezTo>
                  <a:pt x="61800" y="146029"/>
                  <a:pt x="56502" y="146029"/>
                </a:quadBezTo>
                <a:quadBezTo>
                  <a:pt x="49440" y="146029"/>
                  <a:pt x="49440" y="138877"/>
                </a:quadBezTo>
                <a:quadBezTo>
                  <a:pt x="49440" y="134510"/>
                  <a:pt x="53495" y="118787"/>
                </a:quadBezTo>
                <a:quadBezTo>
                  <a:pt x="43618" y="133446"/>
                  <a:pt x="35314" y="139833"/>
                </a:quadBezTo>
                <a:quadBezTo>
                  <a:pt x="27010" y="146193"/>
                  <a:pt x="17657" y="146193"/>
                </a:quadBezTo>
                <a:quadBezTo>
                  <a:pt x="9877" y="146193"/>
                  <a:pt x="4938" y="140870"/>
                </a:quadBezTo>
                <a:quadBezTo>
                  <a:pt x="0" y="135547"/>
                  <a:pt x="0" y="125939"/>
                </a:quadBezTo>
                <a:quadBezTo>
                  <a:pt x="0" y="112673"/>
                  <a:pt x="7670" y="98861"/>
                </a:quadBezTo>
                <a:quadBezTo>
                  <a:pt x="15367" y="85049"/>
                  <a:pt x="27175" y="76151"/>
                </a:quadBezTo>
                <a:quadBezTo>
                  <a:pt x="39011" y="67252"/>
                  <a:pt x="50488" y="67252"/>
                </a:quadBezTo>
                <a:quadBezTo>
                  <a:pt x="62324" y="67252"/>
                  <a:pt x="64614" y="77379"/>
                </a:quadBezTo>
                <a:lnTo>
                  <a:pt x="66572" y="68999"/>
                </a:lnTo>
                <a:lnTo>
                  <a:pt x="67097" y="68453"/>
                </a:lnTo>
                <a:lnTo>
                  <a:pt x="77856" y="67252"/>
                </a:lnTo>
                <a:lnTo>
                  <a:pt x="79098" y="67771"/>
                </a:lnTo>
                <a:quadBezTo>
                  <a:pt x="78932" y="68453"/>
                  <a:pt x="78050" y="71429"/>
                </a:quadBezTo>
                <a:quadBezTo>
                  <a:pt x="62324" y="128041"/>
                  <a:pt x="62324" y="134838"/>
                </a:quadBezTo>
                <a:quadBezTo>
                  <a:pt x="62324" y="137131"/>
                  <a:pt x="64807" y="137131"/>
                </a:quadBezTo>
                <a:quadBezTo>
                  <a:pt x="67455" y="137131"/>
                  <a:pt x="73966" y="129952"/>
                </a:quadBezTo>
                <a:lnTo>
                  <a:pt x="78739" y="124902"/>
                </a:lnTo>
                <a:close/>
                <a:moveTo>
                  <a:pt x="61441" y="81228"/>
                </a:moveTo>
                <a:quadBezTo>
                  <a:pt x="61441" y="76669"/>
                  <a:pt x="58792" y="73885"/>
                </a:quadBezTo>
                <a:quadBezTo>
                  <a:pt x="56144" y="71074"/>
                  <a:pt x="51564" y="71074"/>
                </a:quadBezTo>
                <a:quadBezTo>
                  <a:pt x="39535" y="71074"/>
                  <a:pt x="28417" y="87151"/>
                </a:quadBezTo>
                <a:quadBezTo>
                  <a:pt x="22595" y="95722"/>
                  <a:pt x="18705" y="106204"/>
                </a:quadBezTo>
                <a:quadBezTo>
                  <a:pt x="14815" y="116686"/>
                  <a:pt x="14815" y="124711"/>
                </a:quadBezTo>
                <a:quadBezTo>
                  <a:pt x="14815" y="137649"/>
                  <a:pt x="25410" y="137649"/>
                </a:quadBezTo>
                <a:quadBezTo>
                  <a:pt x="35838" y="137649"/>
                  <a:pt x="47839" y="120534"/>
                </a:quadBezTo>
                <a:quadBezTo>
                  <a:pt x="61441" y="101127"/>
                  <a:pt x="61441" y="81228"/>
                </a:quadBezTo>
                <a:close/>
                <a:moveTo>
                  <a:pt x="217611" y="81037"/>
                </a:moveTo>
                <a:lnTo>
                  <a:pt x="223432" y="81037"/>
                </a:lnTo>
                <a:quadBezTo>
                  <a:pt x="222549" y="93975"/>
                  <a:pt x="214935" y="105330"/>
                </a:quadBezTo>
                <a:quadBezTo>
                  <a:pt x="207348" y="116686"/>
                  <a:pt x="195539" y="116686"/>
                </a:quadBezTo>
                <a:quadBezTo>
                  <a:pt x="188283" y="116686"/>
                  <a:pt x="178820" y="111090"/>
                </a:quadBezTo>
                <a:quadBezTo>
                  <a:pt x="169385" y="105494"/>
                  <a:pt x="160722" y="99926"/>
                </a:quadBezTo>
                <a:quadBezTo>
                  <a:pt x="152087" y="94330"/>
                  <a:pt x="146983" y="94330"/>
                </a:quadBezTo>
                <a:quadBezTo>
                  <a:pt x="138320" y="94330"/>
                  <a:pt x="133022" y="101154"/>
                </a:quadBezTo>
                <a:quadBezTo>
                  <a:pt x="127725" y="107951"/>
                  <a:pt x="125242" y="118433"/>
                </a:quadBezTo>
                <a:lnTo>
                  <a:pt x="119421" y="118433"/>
                </a:lnTo>
                <a:quadBezTo>
                  <a:pt x="120138" y="104266"/>
                  <a:pt x="127974" y="93539"/>
                </a:quadBezTo>
                <a:quadBezTo>
                  <a:pt x="135837" y="82784"/>
                  <a:pt x="148196" y="82784"/>
                </a:quadBezTo>
                <a:quadBezTo>
                  <a:pt x="155452" y="82784"/>
                  <a:pt x="164888" y="88380"/>
                </a:quadBezTo>
                <a:quadBezTo>
                  <a:pt x="174351" y="93975"/>
                  <a:pt x="182986" y="99571"/>
                </a:quadBezTo>
                <a:quadBezTo>
                  <a:pt x="191649" y="105139"/>
                  <a:pt x="196946" y="105139"/>
                </a:quadBezTo>
                <a:quadBezTo>
                  <a:pt x="212479" y="105139"/>
                  <a:pt x="217611" y="81037"/>
                </a:quadBezTo>
                <a:close/>
                <a:moveTo>
                  <a:pt x="352029" y="69518"/>
                </a:moveTo>
                <a:lnTo>
                  <a:pt x="348332" y="82429"/>
                </a:lnTo>
                <a:lnTo>
                  <a:pt x="330317" y="82429"/>
                </a:lnTo>
                <a:quadBezTo>
                  <a:pt x="329792" y="84367"/>
                  <a:pt x="326426" y="95640"/>
                </a:quadBezTo>
                <a:quadBezTo>
                  <a:pt x="323088" y="106886"/>
                  <a:pt x="320771" y="115021"/>
                </a:quadBezTo>
                <a:quadBezTo>
                  <a:pt x="318481" y="123155"/>
                  <a:pt x="318481" y="124711"/>
                </a:quadBezTo>
                <a:quadBezTo>
                  <a:pt x="318481" y="132053"/>
                  <a:pt x="323971" y="132053"/>
                </a:quadBezTo>
                <a:quadBezTo>
                  <a:pt x="331724" y="132053"/>
                  <a:pt x="336496" y="121408"/>
                </a:quadBezTo>
                <a:lnTo>
                  <a:pt x="339338" y="121408"/>
                </a:lnTo>
                <a:quadBezTo>
                  <a:pt x="337021" y="131016"/>
                  <a:pt x="330565" y="138605"/>
                </a:quadBezTo>
                <a:quadBezTo>
                  <a:pt x="324137" y="146193"/>
                  <a:pt x="315143" y="146193"/>
                </a:quadBezTo>
                <a:quadBezTo>
                  <a:pt x="309845" y="146193"/>
                  <a:pt x="307280" y="142453"/>
                </a:quadBezTo>
                <a:quadBezTo>
                  <a:pt x="304714" y="138686"/>
                  <a:pt x="304714" y="133091"/>
                </a:quadBezTo>
                <a:quadBezTo>
                  <a:pt x="304714" y="127167"/>
                  <a:pt x="307721" y="119115"/>
                </a:quadBezTo>
                <a:lnTo>
                  <a:pt x="321129" y="82429"/>
                </a:lnTo>
                <a:lnTo>
                  <a:pt x="302783" y="82429"/>
                </a:lnTo>
                <a:quadBezTo>
                  <a:pt x="300658" y="88025"/>
                  <a:pt x="296051" y="104184"/>
                </a:quadBezTo>
                <a:quadBezTo>
                  <a:pt x="291471" y="120343"/>
                  <a:pt x="286864" y="130306"/>
                </a:quadBezTo>
                <a:quadBezTo>
                  <a:pt x="282284" y="140270"/>
                  <a:pt x="275938" y="145319"/>
                </a:quadBezTo>
                <a:quadBezTo>
                  <a:pt x="272931" y="147421"/>
                  <a:pt x="269593" y="147421"/>
                </a:quadBezTo>
                <a:quadBezTo>
                  <a:pt x="266061" y="147421"/>
                  <a:pt x="263413" y="145156"/>
                </a:quadBezTo>
                <a:quadBezTo>
                  <a:pt x="260764" y="142890"/>
                  <a:pt x="260764" y="139751"/>
                </a:quadBezTo>
                <a:quadBezTo>
                  <a:pt x="260764" y="132572"/>
                  <a:pt x="266061" y="131180"/>
                </a:quadBezTo>
                <a:quadBezTo>
                  <a:pt x="274890" y="128914"/>
                  <a:pt x="278752" y="118951"/>
                </a:quadBezTo>
                <a:lnTo>
                  <a:pt x="293237" y="82429"/>
                </a:lnTo>
                <a:lnTo>
                  <a:pt x="292188" y="82429"/>
                </a:lnTo>
                <a:quadBezTo>
                  <a:pt x="284243" y="82429"/>
                  <a:pt x="279994" y="84012"/>
                </a:quadBezTo>
                <a:quadBezTo>
                  <a:pt x="275773" y="85595"/>
                  <a:pt x="270476" y="92037"/>
                </a:quadBezTo>
                <a:lnTo>
                  <a:pt x="267634" y="92037"/>
                </a:lnTo>
                <a:quadBezTo>
                  <a:pt x="275056" y="79809"/>
                  <a:pt x="283084" y="74677"/>
                </a:quadBezTo>
                <a:quadBezTo>
                  <a:pt x="291112" y="69518"/>
                  <a:pt x="304190" y="69518"/>
                </a:quadBezTo>
                <a:lnTo>
                  <a:pt x="352029" y="69518"/>
                </a:lnTo>
                <a:close/>
                <a:moveTo>
                  <a:pt x="400078" y="172397"/>
                </a:moveTo>
                <a:lnTo>
                  <a:pt x="397954" y="175209"/>
                </a:lnTo>
                <a:quadBezTo>
                  <a:pt x="377455" y="163662"/>
                  <a:pt x="366144" y="143409"/>
                </a:quadBezTo>
                <a:quadBezTo>
                  <a:pt x="354860" y="123155"/>
                  <a:pt x="354860" y="100253"/>
                </a:quadBezTo>
                <a:quadBezTo>
                  <a:pt x="354860" y="51857"/>
                  <a:pt x="398478" y="26199"/>
                </a:quadBezTo>
                <a:lnTo>
                  <a:pt x="400078" y="28983"/>
                </a:lnTo>
                <a:quadBezTo>
                  <a:pt x="382063" y="44187"/>
                  <a:pt x="376048" y="58954"/>
                </a:quadBezTo>
                <a:quadBezTo>
                  <a:pt x="370061" y="73694"/>
                  <a:pt x="370061" y="99735"/>
                </a:quadBezTo>
                <a:quadBezTo>
                  <a:pt x="370061" y="125584"/>
                  <a:pt x="376241" y="141662"/>
                </a:quadBezTo>
                <a:quadBezTo>
                  <a:pt x="382421" y="157739"/>
                  <a:pt x="400078" y="172397"/>
                </a:quadBezTo>
                <a:close/>
                <a:moveTo>
                  <a:pt x="486934" y="124902"/>
                </a:moveTo>
                <a:lnTo>
                  <a:pt x="489224" y="126813"/>
                </a:lnTo>
                <a:quadBezTo>
                  <a:pt x="479347" y="138686"/>
                  <a:pt x="474657" y="142371"/>
                </a:quadBezTo>
                <a:quadBezTo>
                  <a:pt x="469995" y="146029"/>
                  <a:pt x="464697" y="146029"/>
                </a:quadBezTo>
                <a:quadBezTo>
                  <a:pt x="457635" y="146029"/>
                  <a:pt x="457635" y="138877"/>
                </a:quadBezTo>
                <a:quadBezTo>
                  <a:pt x="457635" y="134510"/>
                  <a:pt x="461690" y="118787"/>
                </a:quadBezTo>
                <a:quadBezTo>
                  <a:pt x="451813" y="133446"/>
                  <a:pt x="443509" y="139833"/>
                </a:quadBezTo>
                <a:quadBezTo>
                  <a:pt x="435205" y="146193"/>
                  <a:pt x="425852" y="146193"/>
                </a:quadBezTo>
                <a:quadBezTo>
                  <a:pt x="418072" y="146193"/>
                  <a:pt x="413133" y="140870"/>
                </a:quadBezTo>
                <a:quadBezTo>
                  <a:pt x="408195" y="135547"/>
                  <a:pt x="408195" y="125939"/>
                </a:quadBezTo>
                <a:quadBezTo>
                  <a:pt x="408195" y="112673"/>
                  <a:pt x="415865" y="98861"/>
                </a:quadBezTo>
                <a:quadBezTo>
                  <a:pt x="423562" y="85049"/>
                  <a:pt x="435370" y="76151"/>
                </a:quadBezTo>
                <a:quadBezTo>
                  <a:pt x="447206" y="67252"/>
                  <a:pt x="458683" y="67252"/>
                </a:quadBezTo>
                <a:quadBezTo>
                  <a:pt x="470519" y="67252"/>
                  <a:pt x="472809" y="77379"/>
                </a:quadBezTo>
                <a:lnTo>
                  <a:pt x="474767" y="68999"/>
                </a:lnTo>
                <a:lnTo>
                  <a:pt x="475292" y="68453"/>
                </a:lnTo>
                <a:lnTo>
                  <a:pt x="486051" y="67252"/>
                </a:lnTo>
                <a:lnTo>
                  <a:pt x="487293" y="67771"/>
                </a:lnTo>
                <a:quadBezTo>
                  <a:pt x="487127" y="68453"/>
                  <a:pt x="486245" y="71429"/>
                </a:quadBezTo>
                <a:quadBezTo>
                  <a:pt x="470519" y="128041"/>
                  <a:pt x="470519" y="134838"/>
                </a:quadBezTo>
                <a:quadBezTo>
                  <a:pt x="470519" y="137131"/>
                  <a:pt x="473002" y="137131"/>
                </a:quadBezTo>
                <a:quadBezTo>
                  <a:pt x="475650" y="137131"/>
                  <a:pt x="482161" y="129952"/>
                </a:quadBezTo>
                <a:lnTo>
                  <a:pt x="486934" y="124902"/>
                </a:lnTo>
                <a:close/>
                <a:moveTo>
                  <a:pt x="469636" y="81228"/>
                </a:moveTo>
                <a:quadBezTo>
                  <a:pt x="469636" y="76669"/>
                  <a:pt x="466987" y="73885"/>
                </a:quadBezTo>
                <a:quadBezTo>
                  <a:pt x="464339" y="71074"/>
                  <a:pt x="459759" y="71074"/>
                </a:quadBezTo>
                <a:quadBezTo>
                  <a:pt x="447730" y="71074"/>
                  <a:pt x="436612" y="87151"/>
                </a:quadBezTo>
                <a:quadBezTo>
                  <a:pt x="430790" y="95722"/>
                  <a:pt x="426900" y="106204"/>
                </a:quadBezTo>
                <a:quadBezTo>
                  <a:pt x="423010" y="116686"/>
                  <a:pt x="423010" y="124711"/>
                </a:quadBezTo>
                <a:quadBezTo>
                  <a:pt x="423010" y="137649"/>
                  <a:pt x="433605" y="137649"/>
                </a:quadBezTo>
                <a:quadBezTo>
                  <a:pt x="444033" y="137649"/>
                  <a:pt x="456034" y="120534"/>
                </a:quadBezTo>
                <a:quadBezTo>
                  <a:pt x="469636" y="101127"/>
                  <a:pt x="469636" y="81228"/>
                </a:quadBezTo>
                <a:close/>
                <a:moveTo>
                  <a:pt x="548446" y="177310"/>
                </a:moveTo>
                <a:lnTo>
                  <a:pt x="536803" y="177310"/>
                </a:lnTo>
                <a:lnTo>
                  <a:pt x="536803" y="23742"/>
                </a:lnTo>
                <a:lnTo>
                  <a:pt x="548446" y="23742"/>
                </a:lnTo>
                <a:lnTo>
                  <a:pt x="548446" y="177310"/>
                </a:lnTo>
                <a:close/>
                <a:moveTo>
                  <a:pt x="656224" y="67061"/>
                </a:moveTo>
                <a:lnTo>
                  <a:pt x="652693" y="91519"/>
                </a:lnTo>
                <a:lnTo>
                  <a:pt x="649879" y="91519"/>
                </a:lnTo>
                <a:quadBezTo>
                  <a:pt x="647396" y="71265"/>
                  <a:pt x="634153" y="71265"/>
                </a:quadBezTo>
                <a:quadBezTo>
                  <a:pt x="629408" y="71265"/>
                  <a:pt x="626566" y="73885"/>
                </a:quadBezTo>
                <a:quadBezTo>
                  <a:pt x="623752" y="76506"/>
                  <a:pt x="623752" y="81228"/>
                </a:quadBezTo>
                <a:quadBezTo>
                  <a:pt x="623752" y="87861"/>
                  <a:pt x="633270" y="99025"/>
                </a:quadBezTo>
                <a:quadBezTo>
                  <a:pt x="645299" y="112837"/>
                  <a:pt x="645299" y="122800"/>
                </a:quadBezTo>
                <a:quadBezTo>
                  <a:pt x="645299" y="133446"/>
                  <a:pt x="638126" y="139833"/>
                </a:quadBezTo>
                <a:quadBezTo>
                  <a:pt x="630980" y="146193"/>
                  <a:pt x="619862" y="146193"/>
                </a:quadBezTo>
                <a:quadBezTo>
                  <a:pt x="614730" y="146193"/>
                  <a:pt x="610150" y="144446"/>
                </a:quadBezTo>
                <a:quadBezTo>
                  <a:pt x="606454" y="142890"/>
                  <a:pt x="602370" y="142890"/>
                </a:quadBezTo>
                <a:quadBezTo>
                  <a:pt x="598839" y="142890"/>
                  <a:pt x="597266" y="146548"/>
                </a:quadBezTo>
                <a:lnTo>
                  <a:pt x="594425" y="146548"/>
                </a:lnTo>
                <a:lnTo>
                  <a:pt x="597956" y="118787"/>
                </a:lnTo>
                <a:lnTo>
                  <a:pt x="600798" y="118787"/>
                </a:lnTo>
                <a:quadBezTo>
                  <a:pt x="604329" y="142535"/>
                  <a:pt x="618455" y="142535"/>
                </a:quadBezTo>
                <a:quadBezTo>
                  <a:pt x="624800" y="142535"/>
                  <a:pt x="628332" y="139041"/>
                </a:quadBezTo>
                <a:quadBezTo>
                  <a:pt x="631863" y="135547"/>
                  <a:pt x="631863" y="129078"/>
                </a:quadBezTo>
                <a:quadBezTo>
                  <a:pt x="631863" y="121217"/>
                  <a:pt x="621986" y="108988"/>
                </a:quadBezTo>
                <a:quadBezTo>
                  <a:pt x="610868" y="95204"/>
                  <a:pt x="610868" y="86114"/>
                </a:quadBezTo>
                <a:quadBezTo>
                  <a:pt x="610868" y="77379"/>
                  <a:pt x="616689" y="72329"/>
                </a:quadBezTo>
                <a:quadBezTo>
                  <a:pt x="622510" y="67252"/>
                  <a:pt x="632222" y="67252"/>
                </a:quadBezTo>
                <a:quadBezTo>
                  <a:pt x="635753" y="67252"/>
                  <a:pt x="642099" y="68999"/>
                </a:quadBezTo>
                <a:quadBezTo>
                  <a:pt x="645989" y="70200"/>
                  <a:pt x="648472" y="70200"/>
                </a:quadBezTo>
                <a:quadBezTo>
                  <a:pt x="652003" y="70200"/>
                  <a:pt x="653769" y="67061"/>
                </a:quadBezTo>
                <a:lnTo>
                  <a:pt x="656224" y="67061"/>
                </a:lnTo>
                <a:close/>
                <a:moveTo>
                  <a:pt x="709002" y="167391"/>
                </a:moveTo>
                <a:lnTo>
                  <a:pt x="674877" y="167391"/>
                </a:lnTo>
                <a:lnTo>
                  <a:pt x="674877" y="165557"/>
                </a:lnTo>
                <a:quadBezTo>
                  <a:pt x="681675" y="165194"/>
                  <a:pt x="684147" y="163054"/>
                </a:quadBezTo>
                <a:quadBezTo>
                  <a:pt x="686619" y="160914"/>
                  <a:pt x="686619" y="155774"/>
                </a:quadBezTo>
                <a:lnTo>
                  <a:pt x="686619" y="100859"/>
                </a:lnTo>
                <a:quadBezTo>
                  <a:pt x="686619" y="94879"/>
                  <a:pt x="682911" y="94879"/>
                </a:quadBezTo>
                <a:quadBezTo>
                  <a:pt x="681192" y="94879"/>
                  <a:pt x="677349" y="96350"/>
                </a:quadBezTo>
                <a:lnTo>
                  <a:pt x="674008" y="97573"/>
                </a:lnTo>
                <a:lnTo>
                  <a:pt x="674008" y="95853"/>
                </a:lnTo>
                <a:lnTo>
                  <a:pt x="696140" y="84733"/>
                </a:lnTo>
                <a:lnTo>
                  <a:pt x="697260" y="85096"/>
                </a:lnTo>
                <a:lnTo>
                  <a:pt x="697260" y="158105"/>
                </a:lnTo>
                <a:quadBezTo>
                  <a:pt x="697260" y="162137"/>
                  <a:pt x="699732" y="163856"/>
                </a:quadBezTo>
                <a:quadBezTo>
                  <a:pt x="702204" y="165557"/>
                  <a:pt x="709002" y="165557"/>
                </a:quadBezTo>
                <a:lnTo>
                  <a:pt x="709002" y="167391"/>
                </a:lnTo>
                <a:close/>
                <a:moveTo>
                  <a:pt x="744531" y="168903"/>
                </a:moveTo>
                <a:lnTo>
                  <a:pt x="742766" y="165600"/>
                </a:lnTo>
                <a:quadBezTo>
                  <a:pt x="757416" y="155801"/>
                  <a:pt x="757416" y="146903"/>
                </a:quadBezTo>
                <a:quadBezTo>
                  <a:pt x="757416" y="144637"/>
                  <a:pt x="754960" y="144637"/>
                </a:quadBezTo>
                <a:quadBezTo>
                  <a:pt x="754243" y="144637"/>
                  <a:pt x="752560" y="144965"/>
                </a:quadBezTo>
                <a:quadBezTo>
                  <a:pt x="750904" y="145319"/>
                  <a:pt x="749829" y="145319"/>
                </a:quadBezTo>
                <a:quadBezTo>
                  <a:pt x="739593" y="145319"/>
                  <a:pt x="739593" y="136421"/>
                </a:quadBezTo>
                <a:quadBezTo>
                  <a:pt x="739593" y="131890"/>
                  <a:pt x="742490" y="129187"/>
                </a:quadBezTo>
                <a:quadBezTo>
                  <a:pt x="745414" y="126458"/>
                  <a:pt x="750187" y="126458"/>
                </a:quadBezTo>
                <a:quadBezTo>
                  <a:pt x="756202" y="126458"/>
                  <a:pt x="760257" y="130743"/>
                </a:quadBezTo>
                <a:quadBezTo>
                  <a:pt x="764313" y="135029"/>
                  <a:pt x="764313" y="141662"/>
                </a:quadBezTo>
                <a:quadBezTo>
                  <a:pt x="764313" y="149687"/>
                  <a:pt x="758933" y="157193"/>
                </a:quadBezTo>
                <a:quadBezTo>
                  <a:pt x="753553" y="164727"/>
                  <a:pt x="744531" y="168903"/>
                </a:quadBezTo>
                <a:close/>
                <a:moveTo>
                  <a:pt x="866618" y="71429"/>
                </a:moveTo>
                <a:lnTo>
                  <a:pt x="815578" y="131535"/>
                </a:lnTo>
                <a:quadBezTo>
                  <a:pt x="823717" y="133282"/>
                  <a:pt x="827689" y="135902"/>
                </a:quadBezTo>
                <a:quadBezTo>
                  <a:pt x="831662" y="138523"/>
                  <a:pt x="836766" y="146029"/>
                </a:quadBezTo>
                <a:quadBezTo>
                  <a:pt x="842781" y="154764"/>
                  <a:pt x="849126" y="154764"/>
                </a:quadBezTo>
                <a:quadBezTo>
                  <a:pt x="853899" y="154764"/>
                  <a:pt x="853899" y="152143"/>
                </a:quadBezTo>
                <a:quadBezTo>
                  <a:pt x="853899" y="151270"/>
                  <a:pt x="853016" y="149523"/>
                </a:quadBezTo>
                <a:quadBezTo>
                  <a:pt x="851609" y="146739"/>
                  <a:pt x="851609" y="144637"/>
                </a:quadBezTo>
                <a:quadBezTo>
                  <a:pt x="851775" y="142371"/>
                  <a:pt x="853540" y="140543"/>
                </a:quadBezTo>
                <a:quadBezTo>
                  <a:pt x="855306" y="138686"/>
                  <a:pt x="857430" y="138686"/>
                </a:quadBezTo>
                <a:quadBezTo>
                  <a:pt x="860272" y="138686"/>
                  <a:pt x="861927" y="140433"/>
                </a:quadBezTo>
                <a:quadBezTo>
                  <a:pt x="863610" y="142180"/>
                  <a:pt x="863610" y="145156"/>
                </a:quadBezTo>
                <a:quadBezTo>
                  <a:pt x="863610" y="150560"/>
                  <a:pt x="859003" y="154491"/>
                </a:quadBezTo>
                <a:quadBezTo>
                  <a:pt x="854423" y="158422"/>
                  <a:pt x="847195" y="158422"/>
                </a:quadBezTo>
                <a:quadBezTo>
                  <a:pt x="839773" y="158422"/>
                  <a:pt x="827248" y="150751"/>
                </a:quadBezTo>
                <a:quadBezTo>
                  <a:pt x="815247" y="143409"/>
                  <a:pt x="808708" y="143409"/>
                </a:quadBezTo>
                <a:quadBezTo>
                  <a:pt x="804652" y="143409"/>
                  <a:pt x="800762" y="146548"/>
                </a:quadBezTo>
                <a:lnTo>
                  <a:pt x="799162" y="144992"/>
                </a:lnTo>
                <a:lnTo>
                  <a:pt x="853899" y="80000"/>
                </a:lnTo>
                <a:lnTo>
                  <a:pt x="829896" y="80000"/>
                </a:lnTo>
                <a:quadBezTo>
                  <a:pt x="822834" y="80000"/>
                  <a:pt x="819633" y="82020"/>
                </a:quadBezTo>
                <a:quadBezTo>
                  <a:pt x="816461" y="84012"/>
                  <a:pt x="813812" y="90481"/>
                </a:quadBezTo>
                <a:lnTo>
                  <a:pt x="810998" y="89772"/>
                </a:lnTo>
                <a:lnTo>
                  <a:pt x="816654" y="69518"/>
                </a:lnTo>
                <a:lnTo>
                  <a:pt x="866618" y="69518"/>
                </a:lnTo>
                <a:lnTo>
                  <a:pt x="866618" y="71429"/>
                </a:lnTo>
                <a:close/>
                <a:moveTo>
                  <a:pt x="873338" y="28983"/>
                </a:moveTo>
                <a:lnTo>
                  <a:pt x="875435" y="26199"/>
                </a:lnTo>
                <a:quadBezTo>
                  <a:pt x="895575" y="38073"/>
                  <a:pt x="907052" y="58354"/>
                </a:quadBezTo>
                <a:quadBezTo>
                  <a:pt x="918529" y="78608"/>
                  <a:pt x="918529" y="101127"/>
                </a:quadBezTo>
                <a:quadBezTo>
                  <a:pt x="918529" y="148813"/>
                  <a:pt x="874911" y="175209"/>
                </a:quadBezTo>
                <a:lnTo>
                  <a:pt x="873338" y="172397"/>
                </a:lnTo>
                <a:quadBezTo>
                  <a:pt x="891519" y="157548"/>
                  <a:pt x="897424" y="142808"/>
                </a:quadBezTo>
                <a:quadBezTo>
                  <a:pt x="903355" y="128041"/>
                  <a:pt x="903355" y="101645"/>
                </a:quadBezTo>
                <a:quadBezTo>
                  <a:pt x="903355" y="75114"/>
                  <a:pt x="897424" y="59118"/>
                </a:quadBezTo>
                <a:quadBezTo>
                  <a:pt x="891519" y="43122"/>
                  <a:pt x="873338" y="28983"/>
                </a:quadBezTo>
                <a:close/>
                <a:moveTo>
                  <a:pt x="1033723" y="69518"/>
                </a:moveTo>
                <a:lnTo>
                  <a:pt x="1004589" y="170650"/>
                </a:lnTo>
                <a:quadBezTo>
                  <a:pt x="1004231" y="172070"/>
                  <a:pt x="1004231" y="172588"/>
                </a:quadBezTo>
                <a:quadBezTo>
                  <a:pt x="1004231" y="177993"/>
                  <a:pt x="1014301" y="177993"/>
                </a:quadBezTo>
                <a:lnTo>
                  <a:pt x="1016949" y="177993"/>
                </a:lnTo>
                <a:lnTo>
                  <a:pt x="1016949" y="180804"/>
                </a:lnTo>
                <a:lnTo>
                  <a:pt x="975096" y="180804"/>
                </a:lnTo>
                <a:lnTo>
                  <a:pt x="975096" y="177993"/>
                </a:lnTo>
                <a:quadBezTo>
                  <a:pt x="983208" y="177474"/>
                  <a:pt x="986380" y="175372"/>
                </a:quadBezTo>
                <a:quadBezTo>
                  <a:pt x="989581" y="173271"/>
                  <a:pt x="991153" y="168221"/>
                </a:quadBezTo>
                <a:lnTo>
                  <a:pt x="1007045" y="117559"/>
                </a:lnTo>
                <a:quadBezTo>
                  <a:pt x="996644" y="133964"/>
                  <a:pt x="988698" y="140079"/>
                </a:quadBezTo>
                <a:quadBezTo>
                  <a:pt x="980752" y="146193"/>
                  <a:pt x="970324" y="146193"/>
                </a:quadBezTo>
                <a:quadBezTo>
                  <a:pt x="962019" y="146193"/>
                  <a:pt x="957329" y="140788"/>
                </a:quadBezTo>
                <a:quadBezTo>
                  <a:pt x="952667" y="135384"/>
                  <a:pt x="952667" y="125939"/>
                </a:quadBezTo>
                <a:quadBezTo>
                  <a:pt x="952667" y="112482"/>
                  <a:pt x="960529" y="98698"/>
                </a:quadBezTo>
                <a:quadBezTo>
                  <a:pt x="968392" y="84886"/>
                  <a:pt x="980476" y="76069"/>
                </a:quadBezTo>
                <a:quadBezTo>
                  <a:pt x="992560" y="67252"/>
                  <a:pt x="1004396" y="67252"/>
                </a:quadBezTo>
                <a:quadBezTo>
                  <a:pt x="1015514" y="67252"/>
                  <a:pt x="1017997" y="78062"/>
                </a:quadBezTo>
                <a:lnTo>
                  <a:pt x="1020812" y="69518"/>
                </a:lnTo>
                <a:lnTo>
                  <a:pt x="1033723" y="69518"/>
                </a:lnTo>
                <a:close/>
                <a:moveTo>
                  <a:pt x="1015349" y="81556"/>
                </a:moveTo>
                <a:quadBezTo>
                  <a:pt x="1015349" y="77188"/>
                  <a:pt x="1012342" y="74131"/>
                </a:quadBezTo>
                <a:quadBezTo>
                  <a:pt x="1009335" y="71074"/>
                  <a:pt x="1004920" y="71074"/>
                </a:quadBezTo>
                <a:quadBezTo>
                  <a:pt x="997692" y="71074"/>
                  <a:pt x="988505" y="79645"/>
                </a:quadBezTo>
                <a:quadBezTo>
                  <a:pt x="979511" y="88216"/>
                  <a:pt x="973662" y="100444"/>
                </a:quadBezTo>
                <a:quadBezTo>
                  <a:pt x="967841" y="112673"/>
                  <a:pt x="967841" y="123482"/>
                </a:quadBezTo>
                <a:quadBezTo>
                  <a:pt x="967841" y="136939"/>
                  <a:pt x="977221" y="136939"/>
                </a:quadBezTo>
                <a:quadBezTo>
                  <a:pt x="984449" y="136939"/>
                  <a:pt x="991677" y="130661"/>
                </a:quadBezTo>
                <a:quadBezTo>
                  <a:pt x="1000699" y="122964"/>
                  <a:pt x="1008010" y="107678"/>
                </a:quadBezTo>
                <a:quadBezTo>
                  <a:pt x="1015349" y="92392"/>
                  <a:pt x="1015349" y="81556"/>
                </a:quadBezTo>
                <a:close/>
                <a:moveTo>
                  <a:pt x="1090226" y="172397"/>
                </a:moveTo>
                <a:lnTo>
                  <a:pt x="1088101" y="175209"/>
                </a:lnTo>
                <a:quadBezTo>
                  <a:pt x="1067603" y="163662"/>
                  <a:pt x="1056291" y="143409"/>
                </a:quadBezTo>
                <a:quadBezTo>
                  <a:pt x="1045007" y="123155"/>
                  <a:pt x="1045007" y="100253"/>
                </a:quadBezTo>
                <a:quadBezTo>
                  <a:pt x="1045007" y="51857"/>
                  <a:pt x="1088626" y="26199"/>
                </a:quadBezTo>
                <a:lnTo>
                  <a:pt x="1090226" y="28983"/>
                </a:lnTo>
                <a:quadBezTo>
                  <a:pt x="1072210" y="44187"/>
                  <a:pt x="1066196" y="58954"/>
                </a:quadBezTo>
                <a:quadBezTo>
                  <a:pt x="1060209" y="73694"/>
                  <a:pt x="1060209" y="99735"/>
                </a:quadBezTo>
                <a:quadBezTo>
                  <a:pt x="1060209" y="125584"/>
                  <a:pt x="1066389" y="141662"/>
                </a:quadBezTo>
                <a:quadBezTo>
                  <a:pt x="1072569" y="157739"/>
                  <a:pt x="1090226" y="172397"/>
                </a:quadBezTo>
                <a:close/>
                <a:moveTo>
                  <a:pt x="1162432" y="71429"/>
                </a:moveTo>
                <a:lnTo>
                  <a:pt x="1111392" y="131535"/>
                </a:lnTo>
                <a:quadBezTo>
                  <a:pt x="1119531" y="133282"/>
                  <a:pt x="1123504" y="135902"/>
                </a:quadBezTo>
                <a:quadBezTo>
                  <a:pt x="1127477" y="138523"/>
                  <a:pt x="1132580" y="146029"/>
                </a:quadBezTo>
                <a:quadBezTo>
                  <a:pt x="1138595" y="154764"/>
                  <a:pt x="1144940" y="154764"/>
                </a:quadBezTo>
                <a:quadBezTo>
                  <a:pt x="1149713" y="154764"/>
                  <a:pt x="1149713" y="152143"/>
                </a:quadBezTo>
                <a:quadBezTo>
                  <a:pt x="1149713" y="151270"/>
                  <a:pt x="1148830" y="149523"/>
                </a:quadBezTo>
                <a:quadBezTo>
                  <a:pt x="1147423" y="146739"/>
                  <a:pt x="1147423" y="144637"/>
                </a:quadBezTo>
                <a:quadBezTo>
                  <a:pt x="1147589" y="142371"/>
                  <a:pt x="1149355" y="140543"/>
                </a:quadBezTo>
                <a:quadBezTo>
                  <a:pt x="1151120" y="138686"/>
                  <a:pt x="1153245" y="138686"/>
                </a:quadBezTo>
                <a:quadBezTo>
                  <a:pt x="1156086" y="138686"/>
                  <a:pt x="1157742" y="140433"/>
                </a:quadBezTo>
                <a:quadBezTo>
                  <a:pt x="1159425" y="142180"/>
                  <a:pt x="1159425" y="145156"/>
                </a:quadBezTo>
                <a:quadBezTo>
                  <a:pt x="1159425" y="150560"/>
                  <a:pt x="1154817" y="154491"/>
                </a:quadBezTo>
                <a:quadBezTo>
                  <a:pt x="1150238" y="158422"/>
                  <a:pt x="1143009" y="158422"/>
                </a:quadBezTo>
                <a:quadBezTo>
                  <a:pt x="1135588" y="158422"/>
                  <a:pt x="1123062" y="150751"/>
                </a:quadBezTo>
                <a:quadBezTo>
                  <a:pt x="1111061" y="143409"/>
                  <a:pt x="1104522" y="143409"/>
                </a:quadBezTo>
                <a:quadBezTo>
                  <a:pt x="1100467" y="143409"/>
                  <a:pt x="1096577" y="146548"/>
                </a:quadBezTo>
                <a:lnTo>
                  <a:pt x="1094977" y="144992"/>
                </a:lnTo>
                <a:lnTo>
                  <a:pt x="1149713" y="80000"/>
                </a:lnTo>
                <a:lnTo>
                  <a:pt x="1125711" y="80000"/>
                </a:lnTo>
                <a:quadBezTo>
                  <a:pt x="1118648" y="80000"/>
                  <a:pt x="1115448" y="82020"/>
                </a:quadBezTo>
                <a:quadBezTo>
                  <a:pt x="1112275" y="84012"/>
                  <a:pt x="1109626" y="90481"/>
                </a:quadBezTo>
                <a:lnTo>
                  <a:pt x="1106812" y="89772"/>
                </a:lnTo>
                <a:lnTo>
                  <a:pt x="1112468" y="69518"/>
                </a:lnTo>
                <a:lnTo>
                  <a:pt x="1162432" y="69518"/>
                </a:lnTo>
                <a:lnTo>
                  <a:pt x="1162432" y="71429"/>
                </a:lnTo>
                <a:close/>
                <a:moveTo>
                  <a:pt x="1218817" y="177310"/>
                </a:moveTo>
                <a:lnTo>
                  <a:pt x="1207175" y="177310"/>
                </a:lnTo>
                <a:lnTo>
                  <a:pt x="1207175" y="23742"/>
                </a:lnTo>
                <a:lnTo>
                  <a:pt x="1218817" y="23742"/>
                </a:lnTo>
                <a:lnTo>
                  <a:pt x="1218817" y="177310"/>
                </a:lnTo>
                <a:close/>
                <a:moveTo>
                  <a:pt x="1326596" y="67061"/>
                </a:moveTo>
                <a:lnTo>
                  <a:pt x="1323064" y="91519"/>
                </a:lnTo>
                <a:lnTo>
                  <a:pt x="1320250" y="91519"/>
                </a:lnTo>
                <a:quadBezTo>
                  <a:pt x="1317767" y="71265"/>
                  <a:pt x="1304525" y="71265"/>
                </a:quadBezTo>
                <a:quadBezTo>
                  <a:pt x="1299779" y="71265"/>
                  <a:pt x="1296938" y="73885"/>
                </a:quadBezTo>
                <a:quadBezTo>
                  <a:pt x="1294123" y="76506"/>
                  <a:pt x="1294123" y="81228"/>
                </a:quadBezTo>
                <a:quadBezTo>
                  <a:pt x="1294123" y="87861"/>
                  <a:pt x="1303642" y="99025"/>
                </a:quadBezTo>
                <a:quadBezTo>
                  <a:pt x="1315671" y="112837"/>
                  <a:pt x="1315671" y="122800"/>
                </a:quadBezTo>
                <a:quadBezTo>
                  <a:pt x="1315671" y="133446"/>
                  <a:pt x="1308497" y="139833"/>
                </a:quadBezTo>
                <a:quadBezTo>
                  <a:pt x="1301352" y="146193"/>
                  <a:pt x="1290233" y="146193"/>
                </a:quadBezTo>
                <a:quadBezTo>
                  <a:pt x="1285102" y="146193"/>
                  <a:pt x="1280522" y="144446"/>
                </a:quadBezTo>
                <a:quadBezTo>
                  <a:pt x="1276825" y="142890"/>
                  <a:pt x="1272742" y="142890"/>
                </a:quadBezTo>
                <a:quadBezTo>
                  <a:pt x="1269211" y="142890"/>
                  <a:pt x="1267638" y="146548"/>
                </a:quadBezTo>
                <a:lnTo>
                  <a:pt x="1264796" y="146548"/>
                </a:lnTo>
                <a:lnTo>
                  <a:pt x="1268328" y="118787"/>
                </a:lnTo>
                <a:lnTo>
                  <a:pt x="1271169" y="118787"/>
                </a:lnTo>
                <a:quadBezTo>
                  <a:pt x="1274701" y="142535"/>
                  <a:pt x="1288826" y="142535"/>
                </a:quadBezTo>
                <a:quadBezTo>
                  <a:pt x="1295172" y="142535"/>
                  <a:pt x="1298703" y="139041"/>
                </a:quadBezTo>
                <a:quadBezTo>
                  <a:pt x="1302235" y="135547"/>
                  <a:pt x="1302235" y="129078"/>
                </a:quadBezTo>
                <a:quadBezTo>
                  <a:pt x="1302235" y="121217"/>
                  <a:pt x="1292358" y="108988"/>
                </a:quadBezTo>
                <a:quadBezTo>
                  <a:pt x="1281239" y="95204"/>
                  <a:pt x="1281239" y="86114"/>
                </a:quadBezTo>
                <a:quadBezTo>
                  <a:pt x="1281239" y="77379"/>
                  <a:pt x="1287061" y="72329"/>
                </a:quadBezTo>
                <a:quadBezTo>
                  <a:pt x="1292882" y="67252"/>
                  <a:pt x="1302593" y="67252"/>
                </a:quadBezTo>
                <a:quadBezTo>
                  <a:pt x="1306125" y="67252"/>
                  <a:pt x="1312470" y="68999"/>
                </a:quadBezTo>
                <a:quadBezTo>
                  <a:pt x="1316360" y="70200"/>
                  <a:pt x="1318843" y="70200"/>
                </a:quadBezTo>
                <a:quadBezTo>
                  <a:pt x="1322375" y="70200"/>
                  <a:pt x="1324140" y="67061"/>
                </a:quadBezTo>
                <a:lnTo>
                  <a:pt x="1326596" y="67061"/>
                </a:lnTo>
                <a:close/>
                <a:moveTo>
                  <a:pt x="1379374" y="167391"/>
                </a:moveTo>
                <a:lnTo>
                  <a:pt x="1345249" y="167391"/>
                </a:lnTo>
                <a:lnTo>
                  <a:pt x="1345249" y="165557"/>
                </a:lnTo>
                <a:quadBezTo>
                  <a:pt x="1352047" y="165194"/>
                  <a:pt x="1354519" y="163054"/>
                </a:quadBezTo>
                <a:quadBezTo>
                  <a:pt x="1356991" y="160914"/>
                  <a:pt x="1356991" y="155774"/>
                </a:quadBezTo>
                <a:lnTo>
                  <a:pt x="1356991" y="100859"/>
                </a:lnTo>
                <a:quadBezTo>
                  <a:pt x="1356991" y="94879"/>
                  <a:pt x="1353283" y="94879"/>
                </a:quadBezTo>
                <a:quadBezTo>
                  <a:pt x="1351564" y="94879"/>
                  <a:pt x="1347721" y="96350"/>
                </a:quadBezTo>
                <a:lnTo>
                  <a:pt x="1344380" y="97573"/>
                </a:lnTo>
                <a:lnTo>
                  <a:pt x="1344380" y="95853"/>
                </a:lnTo>
                <a:lnTo>
                  <a:pt x="1366512" y="84733"/>
                </a:lnTo>
                <a:lnTo>
                  <a:pt x="1367632" y="85096"/>
                </a:lnTo>
                <a:lnTo>
                  <a:pt x="1367632" y="158105"/>
                </a:lnTo>
                <a:quadBezTo>
                  <a:pt x="1367632" y="162137"/>
                  <a:pt x="1370104" y="163856"/>
                </a:quadBezTo>
                <a:quadBezTo>
                  <a:pt x="1372576" y="165557"/>
                  <a:pt x="1379374" y="165557"/>
                </a:quadBezTo>
                <a:lnTo>
                  <a:pt x="1379374" y="167391"/>
                </a:lnTo>
                <a:close/>
                <a:moveTo>
                  <a:pt x="1414903" y="168903"/>
                </a:moveTo>
                <a:lnTo>
                  <a:pt x="1413137" y="165600"/>
                </a:lnTo>
                <a:quadBezTo>
                  <a:pt x="1427787" y="155801"/>
                  <a:pt x="1427787" y="146903"/>
                </a:quadBezTo>
                <a:quadBezTo>
                  <a:pt x="1427787" y="144637"/>
                  <a:pt x="1425332" y="144637"/>
                </a:quadBezTo>
                <a:quadBezTo>
                  <a:pt x="1424614" y="144637"/>
                  <a:pt x="1422931" y="144965"/>
                </a:quadBezTo>
                <a:quadBezTo>
                  <a:pt x="1421276" y="145319"/>
                  <a:pt x="1420200" y="145319"/>
                </a:quadBezTo>
                <a:quadBezTo>
                  <a:pt x="1409965" y="145319"/>
                  <a:pt x="1409965" y="136421"/>
                </a:quadBezTo>
                <a:quadBezTo>
                  <a:pt x="1409965" y="131890"/>
                  <a:pt x="1412861" y="129187"/>
                </a:quadBezTo>
                <a:quadBezTo>
                  <a:pt x="1415786" y="126458"/>
                  <a:pt x="1420559" y="126458"/>
                </a:quadBezTo>
                <a:quadBezTo>
                  <a:pt x="1426573" y="126458"/>
                  <a:pt x="1430629" y="130743"/>
                </a:quadBezTo>
                <a:quadBezTo>
                  <a:pt x="1434684" y="135029"/>
                  <a:pt x="1434684" y="141662"/>
                </a:quadBezTo>
                <a:quadBezTo>
                  <a:pt x="1434684" y="149687"/>
                  <a:pt x="1429305" y="157193"/>
                </a:quadBezTo>
                <a:quadBezTo>
                  <a:pt x="1423925" y="164727"/>
                  <a:pt x="1414903" y="168903"/>
                </a:quadBezTo>
                <a:close/>
                <a:moveTo>
                  <a:pt x="1534506" y="67061"/>
                </a:moveTo>
                <a:lnTo>
                  <a:pt x="1530975" y="91519"/>
                </a:lnTo>
                <a:lnTo>
                  <a:pt x="1528161" y="91519"/>
                </a:lnTo>
                <a:quadBezTo>
                  <a:pt x="1525678" y="71265"/>
                  <a:pt x="1512435" y="71265"/>
                </a:quadBezTo>
                <a:quadBezTo>
                  <a:pt x="1507690" y="71265"/>
                  <a:pt x="1504848" y="73885"/>
                </a:quadBezTo>
                <a:quadBezTo>
                  <a:pt x="1502034" y="76506"/>
                  <a:pt x="1502034" y="81228"/>
                </a:quadBezTo>
                <a:quadBezTo>
                  <a:pt x="1502034" y="87861"/>
                  <a:pt x="1511552" y="99025"/>
                </a:quadBezTo>
                <a:quadBezTo>
                  <a:pt x="1523581" y="112837"/>
                  <a:pt x="1523581" y="122800"/>
                </a:quadBezTo>
                <a:quadBezTo>
                  <a:pt x="1523581" y="133446"/>
                  <a:pt x="1516408" y="139833"/>
                </a:quadBezTo>
                <a:quadBezTo>
                  <a:pt x="1509262" y="146193"/>
                  <a:pt x="1498144" y="146193"/>
                </a:quadBezTo>
                <a:quadBezTo>
                  <a:pt x="1493012" y="146193"/>
                  <a:pt x="1488432" y="144446"/>
                </a:quadBezTo>
                <a:quadBezTo>
                  <a:pt x="1484735" y="142890"/>
                  <a:pt x="1480652" y="142890"/>
                </a:quadBezTo>
                <a:quadBezTo>
                  <a:pt x="1477121" y="142890"/>
                  <a:pt x="1475548" y="146548"/>
                </a:quadBezTo>
                <a:lnTo>
                  <a:pt x="1472707" y="146548"/>
                </a:lnTo>
                <a:lnTo>
                  <a:pt x="1476238" y="118787"/>
                </a:lnTo>
                <a:lnTo>
                  <a:pt x="1479080" y="118787"/>
                </a:lnTo>
                <a:quadBezTo>
                  <a:pt x="1482611" y="142535"/>
                  <a:pt x="1496737" y="142535"/>
                </a:quadBezTo>
                <a:quadBezTo>
                  <a:pt x="1503082" y="142535"/>
                  <a:pt x="1506614" y="139041"/>
                </a:quadBezTo>
                <a:quadBezTo>
                  <a:pt x="1510145" y="135547"/>
                  <a:pt x="1510145" y="129078"/>
                </a:quadBezTo>
                <a:quadBezTo>
                  <a:pt x="1510145" y="121217"/>
                  <a:pt x="1500268" y="108988"/>
                </a:quadBezTo>
                <a:quadBezTo>
                  <a:pt x="1489150" y="95204"/>
                  <a:pt x="1489150" y="86114"/>
                </a:quadBezTo>
                <a:quadBezTo>
                  <a:pt x="1489150" y="77379"/>
                  <a:pt x="1494971" y="72329"/>
                </a:quadBezTo>
                <a:quadBezTo>
                  <a:pt x="1500792" y="67252"/>
                  <a:pt x="1510504" y="67252"/>
                </a:quadBezTo>
                <a:quadBezTo>
                  <a:pt x="1514035" y="67252"/>
                  <a:pt x="1520381" y="68999"/>
                </a:quadBezTo>
                <a:quadBezTo>
                  <a:pt x="1524271" y="70200"/>
                  <a:pt x="1526754" y="70200"/>
                </a:quadBezTo>
                <a:quadBezTo>
                  <a:pt x="1530285" y="70200"/>
                  <a:pt x="1532051" y="67061"/>
                </a:quadBezTo>
                <a:lnTo>
                  <a:pt x="1534506" y="67061"/>
                </a:lnTo>
                <a:close/>
                <a:moveTo>
                  <a:pt x="1582639" y="25069"/>
                </a:moveTo>
                <a:lnTo>
                  <a:pt x="1583760" y="25795"/>
                </a:lnTo>
                <a:quadBezTo>
                  <a:pt x="1588337" y="28737"/>
                  <a:pt x="1595617" y="29960"/>
                </a:quadBezTo>
                <a:quadBezTo>
                  <a:pt x="1599827" y="30572"/>
                  <a:pt x="1601430" y="31737"/>
                </a:quadBezTo>
                <a:quadBezTo>
                  <a:pt x="1603033" y="32884"/>
                  <a:pt x="1603033" y="35215"/>
                </a:quadBezTo>
                <a:quadBezTo>
                  <a:pt x="1603033" y="37297"/>
                  <a:pt x="1601797" y="38635"/>
                </a:quadBezTo>
                <a:quadBezTo>
                  <a:pt x="1600561" y="39973"/>
                  <a:pt x="1598591" y="39973"/>
                </a:quadBezTo>
                <a:quadBezTo>
                  <a:pt x="1595501" y="39973"/>
                  <a:pt x="1591176" y="34603"/>
                </a:quadBezTo>
                <a:quadBezTo>
                  <a:pt x="1588337" y="31183"/>
                  <a:pt x="1582639" y="27515"/>
                </a:quadBezTo>
                <a:lnTo>
                  <a:pt x="1581655" y="26903"/>
                </a:lnTo>
                <a:lnTo>
                  <a:pt x="1581655" y="27992"/>
                </a:lnTo>
                <a:quadBezTo>
                  <a:pt x="1581655" y="34852"/>
                  <a:pt x="1584126" y="41444"/>
                </a:quadBezTo>
                <a:quadBezTo>
                  <a:pt x="1585247" y="44501"/>
                  <a:pt x="1585247" y="45475"/>
                </a:quadBezTo>
                <a:quadBezTo>
                  <a:pt x="1585247" y="47310"/>
                  <a:pt x="1583702" y="48781"/>
                </a:quadBezTo>
                <a:quadBezTo>
                  <a:pt x="1582157" y="50252"/>
                  <a:pt x="1580303" y="50252"/>
                </a:quadBezTo>
                <a:quadBezTo>
                  <a:pt x="1578565" y="50252"/>
                  <a:pt x="1577193" y="48915"/>
                </a:quadBezTo>
                <a:quadBezTo>
                  <a:pt x="1575841" y="47558"/>
                  <a:pt x="1575841" y="45858"/>
                </a:quadBezTo>
                <a:quadBezTo>
                  <a:pt x="1575841" y="44138"/>
                  <a:pt x="1577329" y="40106"/>
                </a:quadBezTo>
                <a:quadBezTo>
                  <a:pt x="1579298" y="34852"/>
                  <a:pt x="1579298" y="27992"/>
                </a:quadBezTo>
                <a:lnTo>
                  <a:pt x="1579298" y="26903"/>
                </a:lnTo>
                <a:quadBezTo>
                  <a:pt x="1574354" y="29960"/>
                  <a:pt x="1572887" y="31298"/>
                </a:quadBezTo>
                <a:quadBezTo>
                  <a:pt x="1571400" y="32769"/>
                  <a:pt x="1567808" y="36801"/>
                </a:quadBezTo>
                <a:quadBezTo>
                  <a:pt x="1565084" y="39858"/>
                  <a:pt x="1562497" y="39858"/>
                </a:quadBezTo>
                <a:quadBezTo>
                  <a:pt x="1560392" y="39858"/>
                  <a:pt x="1559156" y="38635"/>
                </a:quadBezTo>
                <a:quadBezTo>
                  <a:pt x="1557920" y="37412"/>
                  <a:pt x="1557920" y="35463"/>
                </a:quadBezTo>
                <a:quadBezTo>
                  <a:pt x="1557920" y="33132"/>
                  <a:pt x="1559716" y="31909"/>
                </a:quadBezTo>
                <a:quadBezTo>
                  <a:pt x="1561512" y="30686"/>
                  <a:pt x="1565702" y="29960"/>
                </a:quadBezTo>
                <a:quadBezTo>
                  <a:pt x="1570028" y="29100"/>
                  <a:pt x="1572307" y="28241"/>
                </a:quadBezTo>
                <a:quadBezTo>
                  <a:pt x="1574605" y="27381"/>
                  <a:pt x="1578449" y="25069"/>
                </a:quadBezTo>
                <a:quadBezTo>
                  <a:pt x="1573118" y="21878"/>
                  <a:pt x="1566456" y="20540"/>
                </a:quadBezTo>
                <a:quadBezTo>
                  <a:pt x="1561879" y="19566"/>
                  <a:pt x="1560025" y="18343"/>
                </a:quadBezTo>
                <a:quadBezTo>
                  <a:pt x="1558171" y="17120"/>
                  <a:pt x="1558171" y="14904"/>
                </a:quadBezTo>
                <a:quadBezTo>
                  <a:pt x="1558171" y="12955"/>
                  <a:pt x="1559271" y="11675"/>
                </a:quadBezTo>
                <a:quadBezTo>
                  <a:pt x="1560392" y="10394"/>
                  <a:pt x="1562246" y="10394"/>
                </a:quadBezTo>
                <a:quadBezTo>
                  <a:pt x="1564718" y="10394"/>
                  <a:pt x="1568310" y="14292"/>
                </a:quadBezTo>
                <a:quadBezTo>
                  <a:pt x="1573505" y="20044"/>
                  <a:pt x="1579298" y="23235"/>
                </a:quadBezTo>
                <a:lnTo>
                  <a:pt x="1579298" y="21629"/>
                </a:lnTo>
                <a:quadBezTo>
                  <a:pt x="1579298" y="16623"/>
                  <a:pt x="1577444" y="10509"/>
                </a:quadBezTo>
                <a:quadBezTo>
                  <a:pt x="1576093" y="6477"/>
                  <a:pt x="1576093" y="4146"/>
                </a:quadBezTo>
                <a:quadBezTo>
                  <a:pt x="1576093" y="2446"/>
                  <a:pt x="1577386" y="1223"/>
                </a:quadBezTo>
                <a:quadBezTo>
                  <a:pt x="1578680" y="0"/>
                  <a:pt x="1580534" y="0"/>
                </a:quadBezTo>
                <a:quadBezTo>
                  <a:pt x="1582388" y="0"/>
                  <a:pt x="1583740" y="1280"/>
                </a:quadBezTo>
                <a:quadBezTo>
                  <a:pt x="1585111" y="2560"/>
                  <a:pt x="1585111" y="4395"/>
                </a:quadBezTo>
                <a:quadBezTo>
                  <a:pt x="1585111" y="6344"/>
                  <a:pt x="1583760" y="10146"/>
                </a:quadBezTo>
                <a:quadBezTo>
                  <a:pt x="1581655" y="15649"/>
                  <a:pt x="1581655" y="20292"/>
                </a:quadBezTo>
                <a:lnTo>
                  <a:pt x="1581655" y="23235"/>
                </a:lnTo>
                <a:quadBezTo>
                  <a:pt x="1585865" y="20789"/>
                  <a:pt x="1588819" y="18095"/>
                </a:quadBezTo>
                <a:quadBezTo>
                  <a:pt x="1589437" y="17483"/>
                  <a:pt x="1591098" y="15706"/>
                </a:quadBezTo>
                <a:quadBezTo>
                  <a:pt x="1592778" y="13929"/>
                  <a:pt x="1593763" y="12955"/>
                </a:quadBezTo>
                <a:quadBezTo>
                  <a:pt x="1594748" y="11980"/>
                  <a:pt x="1596042" y="11063"/>
                </a:quadBezTo>
                <a:quadBezTo>
                  <a:pt x="1597355" y="10146"/>
                  <a:pt x="1598340" y="10146"/>
                </a:quadBezTo>
                <a:quadBezTo>
                  <a:pt x="1600445" y="10146"/>
                  <a:pt x="1601681" y="11426"/>
                </a:quadBezTo>
                <a:quadBezTo>
                  <a:pt x="1602917" y="12706"/>
                  <a:pt x="1602917" y="14789"/>
                </a:quadBezTo>
                <a:quadBezTo>
                  <a:pt x="1602917" y="17235"/>
                  <a:pt x="1601488" y="18400"/>
                </a:quadBezTo>
                <a:quadBezTo>
                  <a:pt x="1600079" y="19566"/>
                  <a:pt x="1596486" y="20044"/>
                </a:quadBezTo>
                <a:quadBezTo>
                  <a:pt x="1589573" y="21152"/>
                  <a:pt x="1582639" y="25069"/>
                </a:quadBezTo>
                <a:close/>
                <a:moveTo>
                  <a:pt x="1633634" y="110651"/>
                </a:moveTo>
                <a:lnTo>
                  <a:pt x="1633634" y="112599"/>
                </a:lnTo>
                <a:quadBezTo>
                  <a:pt x="1628188" y="113574"/>
                  <a:pt x="1626450" y="115045"/>
                </a:quadBezTo>
                <a:quadBezTo>
                  <a:pt x="1624731" y="116516"/>
                  <a:pt x="1623244" y="121656"/>
                </a:quadBezTo>
                <a:lnTo>
                  <a:pt x="1606925" y="180469"/>
                </a:lnTo>
                <a:quadBezTo>
                  <a:pt x="1606558" y="181940"/>
                  <a:pt x="1606558" y="183411"/>
                </a:quadBezTo>
                <a:quadBezTo>
                  <a:pt x="1606558" y="185972"/>
                  <a:pt x="1608412" y="186965"/>
                </a:quadBezTo>
                <a:quadBezTo>
                  <a:pt x="1610266" y="187940"/>
                  <a:pt x="1616330" y="188551"/>
                </a:quadBezTo>
                <a:lnTo>
                  <a:pt x="1616330" y="190500"/>
                </a:lnTo>
                <a:lnTo>
                  <a:pt x="1582456" y="190500"/>
                </a:lnTo>
                <a:lnTo>
                  <a:pt x="1582456" y="188551"/>
                </a:lnTo>
                <a:quadBezTo>
                  <a:pt x="1588752" y="188054"/>
                  <a:pt x="1591282" y="185972"/>
                </a:quadBezTo>
                <a:quadBezTo>
                  <a:pt x="1593831" y="183889"/>
                  <a:pt x="1595067" y="179131"/>
                </a:quadBezTo>
                <a:lnTo>
                  <a:pt x="1602966" y="150642"/>
                </a:lnTo>
                <a:lnTo>
                  <a:pt x="1567740" y="150642"/>
                </a:lnTo>
                <a:lnTo>
                  <a:pt x="1559590" y="180469"/>
                </a:lnTo>
                <a:quadBezTo>
                  <a:pt x="1559223" y="181692"/>
                  <a:pt x="1559223" y="183163"/>
                </a:quadBezTo>
                <a:quadBezTo>
                  <a:pt x="1559223" y="185857"/>
                  <a:pt x="1560768" y="186831"/>
                </a:quadBezTo>
                <a:quadBezTo>
                  <a:pt x="1562313" y="187806"/>
                  <a:pt x="1567875" y="188551"/>
                </a:quadBezTo>
                <a:lnTo>
                  <a:pt x="1567875" y="190500"/>
                </a:lnTo>
                <a:lnTo>
                  <a:pt x="1537593" y="190500"/>
                </a:lnTo>
                <a:lnTo>
                  <a:pt x="1537593" y="188551"/>
                </a:lnTo>
                <a:quadBezTo>
                  <a:pt x="1542653" y="188054"/>
                  <a:pt x="1544565" y="186105"/>
                </a:quadBezTo>
                <a:quadBezTo>
                  <a:pt x="1546496" y="184137"/>
                  <a:pt x="1548215" y="178023"/>
                </a:quadBezTo>
                <a:lnTo>
                  <a:pt x="1562796" y="125440"/>
                </a:lnTo>
                <a:quadBezTo>
                  <a:pt x="1564283" y="119822"/>
                  <a:pt x="1564283" y="117625"/>
                </a:quadBezTo>
                <a:quadBezTo>
                  <a:pt x="1564283" y="115045"/>
                  <a:pt x="1562487" y="114128"/>
                </a:quadBezTo>
                <a:quadBezTo>
                  <a:pt x="1560710" y="113211"/>
                  <a:pt x="1554762" y="112599"/>
                </a:quadBezTo>
                <a:lnTo>
                  <a:pt x="1554762" y="110651"/>
                </a:lnTo>
                <a:lnTo>
                  <a:pt x="1588269" y="110651"/>
                </a:lnTo>
                <a:lnTo>
                  <a:pt x="1588269" y="112599"/>
                </a:lnTo>
                <a:quadBezTo>
                  <a:pt x="1582707" y="112962"/>
                  <a:pt x="1579926" y="114931"/>
                </a:quadBezTo>
                <a:quadBezTo>
                  <a:pt x="1577145" y="116879"/>
                  <a:pt x="1575909" y="121293"/>
                </a:quadBezTo>
                <a:lnTo>
                  <a:pt x="1569227" y="145502"/>
                </a:lnTo>
                <a:lnTo>
                  <a:pt x="1604453" y="145502"/>
                </a:lnTo>
                <a:lnTo>
                  <a:pt x="1610150" y="125440"/>
                </a:lnTo>
                <a:quadBezTo>
                  <a:pt x="1611869" y="119077"/>
                  <a:pt x="1611869" y="117739"/>
                </a:quadBezTo>
                <a:quadBezTo>
                  <a:pt x="1611869" y="115408"/>
                  <a:pt x="1609880" y="114185"/>
                </a:quadBezTo>
                <a:quadBezTo>
                  <a:pt x="1607910" y="112962"/>
                  <a:pt x="1602966" y="112599"/>
                </a:quadBezTo>
                <a:lnTo>
                  <a:pt x="1602966" y="110651"/>
                </a:lnTo>
                <a:lnTo>
                  <a:pt x="1633634" y="110651"/>
                </a:lnTo>
                <a:close/>
                <a:moveTo>
                  <a:pt x="1640734" y="28983"/>
                </a:moveTo>
                <a:lnTo>
                  <a:pt x="1642831" y="26199"/>
                </a:lnTo>
                <a:quadBezTo>
                  <a:pt x="1662971" y="38073"/>
                  <a:pt x="1674448" y="58354"/>
                </a:quadBezTo>
                <a:quadBezTo>
                  <a:pt x="1685925" y="78608"/>
                  <a:pt x="1685925" y="101127"/>
                </a:quadBezTo>
                <a:quadBezTo>
                  <a:pt x="1685925" y="148813"/>
                  <a:pt x="1642307" y="175209"/>
                </a:quadBezTo>
                <a:lnTo>
                  <a:pt x="1640734" y="172397"/>
                </a:lnTo>
                <a:quadBezTo>
                  <a:pt x="1658915" y="157548"/>
                  <a:pt x="1664819" y="142808"/>
                </a:quadBezTo>
                <a:quadBezTo>
                  <a:pt x="1670751" y="128041"/>
                  <a:pt x="1670751" y="101645"/>
                </a:quadBezTo>
                <a:quadBezTo>
                  <a:pt x="1670751" y="75114"/>
                  <a:pt x="1664819" y="59118"/>
                </a:quadBezTo>
                <a:quadBezTo>
                  <a:pt x="1658915" y="43122"/>
                  <a:pt x="1640734" y="28983"/>
                </a:quadBez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8848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2026-10-09T21:34:09.8030000Z</dcterms:created>
  <dcterms:modified xsi:type="dcterms:W3CDTF">2026-10-09T21:34:09.8030000Z</dcterms:modified>
</coreProperties>
</file>