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9ce24dfabb4ae3" /><Relationship Type="http://schemas.openxmlformats.org/officeDocument/2006/relationships/extended-properties" Target="/docProps/app.xml" Id="Rab8fbf3357a84b09" /><Relationship Type="http://schemas.openxmlformats.org/officeDocument/2006/relationships/officeDocument" Target="/ppt/presentation.xml" Id="Rc3a3744a55d54f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912514e14b4601"/>
  </p:sldMasterIdLst>
  <p:notesMasterIdLst>
    <p:notesMasterId xmlns:r="http://schemas.openxmlformats.org/officeDocument/2006/relationships" r:id="R4cecaaab6e6d4e84"/>
  </p:notesMasterIdLst>
  <p:sldIdLst>
    <p:sldId xmlns:r="http://schemas.openxmlformats.org/officeDocument/2006/relationships" id="256" r:id="Rbdda732cac0440b5"/>
  </p:sldIdLst>
  <p:sldSz cx="6391275" cy="2676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90b14463974419" /><Relationship Type="http://schemas.openxmlformats.org/officeDocument/2006/relationships/slideMaster" Target="/ppt/slideMasters/slideMaster1.xml" Id="Rcf912514e14b4601" /><Relationship Type="http://schemas.openxmlformats.org/officeDocument/2006/relationships/notesMaster" Target="/ppt/notesMasters/notesMaster1.xml" Id="R4cecaaab6e6d4e84" /><Relationship Type="http://schemas.openxmlformats.org/officeDocument/2006/relationships/presProps" Target="/ppt/presProps.xml" Id="R0faa7d4ae0b74f52" /><Relationship Type="http://schemas.openxmlformats.org/officeDocument/2006/relationships/tableStyles" Target="/ppt/tableStyles.xml" Id="R85ef08810f304662" /><Relationship Type="http://schemas.openxmlformats.org/officeDocument/2006/relationships/slide" Target="/ppt/slides/slide1.xml" Id="Rbdda732cac0440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0fdec612e543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1346e32f3e4070" /><Relationship Type="http://schemas.openxmlformats.org/officeDocument/2006/relationships/notesMaster" Target="/ppt/notesMasters/notesMaster1.xml" Id="Rcfe0c5a6f23e41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"Unsupervised Skill Discovery as Exploration for Learning Agile Locomotion",</a:t>
            </a:r>
          </a:p>
          <a:p xmlns:a="http://schemas.openxmlformats.org/drawingml/2006/main">
            <a:r>
              <a:t>  "paper_url": "https://arxiv.org/abs/2508.08982v1",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"license": "http://creativecommons.org/licenses/by/4.0/",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"19732e8b2d8a811c612ba64fd4f750e61bca06df613df5573098266081dfe67d",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191.925994873,</a:t>
            </a:r>
          </a:p>
          <a:p xmlns:a="http://schemas.openxmlformats.org/drawingml/2006/main">
            <a:r>
              <a:t>    72.006988525,</a:t>
            </a:r>
          </a:p>
          <a:p xmlns:a="http://schemas.openxmlformats.org/drawingml/2006/main">
            <a:r>
              <a:t>    415.087646484,</a:t>
            </a:r>
          </a:p>
          <a:p xmlns:a="http://schemas.openxmlformats.org/drawingml/2006/main">
            <a:r>
              <a:t>    165.599975586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"Manually reconstructed after inspecting actual source pixels. Original source is a flattened raster. Layout, native panels, labels and connecting geometry are recreated; no whole-figure raster backdrop. Font metrics and curve/arrow geometry approximated. Small original mathematical/photo details retained only where explicitly noted. Independent target-application QA pending. All ordinary labels (Env and multiplication sign) are live text. Nine tiny original formula snippets preserve mathematical typography; main boxes, sums, feedback, gradient curves, and arrowheads are native objects."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3e44334af4d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2029a12aa47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f586946a047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143c6fdaf43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f2c7bff764c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fa69282254e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D9A023-707D-41A3-9A4A-F3F9CB4EC1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9128" y="1011132"/>
            <a:ext cx="5113020" cy="386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CB1B9A-7CC8-4C71-9DFB-A05C5CBC5F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58691" y="1472089"/>
            <a:ext cx="4473892" cy="297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0E6002-AA53-4E98-9C5E-21727D78D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9128" y="1115219"/>
            <a:ext cx="5113020" cy="446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3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622670-76B2-49A9-8120-0183CF551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509" y="208174"/>
            <a:ext cx="5672257" cy="327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E8E067-5DC2-4DAA-B116-BC83F30C49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9509" y="743479"/>
            <a:ext cx="5672257" cy="1665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9218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1pPr>
            <a:lvl2pPr marL="208174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2pPr>
            <a:lvl3pPr marL="327131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3pPr>
            <a:lvl4pPr marL="446088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4pPr>
            <a:lvl5pPr marL="565044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5pPr>
            <a:lvl6pPr marL="684001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6pPr>
            <a:lvl7pPr marL="802958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7pPr>
            <a:lvl8pPr marL="921914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8pPr>
            <a:lvl9pPr marL="1040871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B7DB54-7F00-4ADC-9E36-18FFD4192D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509" y="208174"/>
            <a:ext cx="5672257" cy="327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61D596-25AB-43E6-81F8-2780767CB2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9509" y="743479"/>
            <a:ext cx="2636401" cy="1665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9218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1pPr>
            <a:lvl2pPr marL="208174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2pPr>
            <a:lvl3pPr marL="327131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3pPr>
            <a:lvl4pPr marL="446088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4pPr>
            <a:lvl5pPr marL="565044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5pPr>
            <a:lvl6pPr marL="684001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6pPr>
            <a:lvl7pPr marL="802958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7pPr>
            <a:lvl8pPr marL="921914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8pPr>
            <a:lvl9pPr marL="1040871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60428E-EB18-4F5C-9A84-0E0BFAF782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95365" y="743479"/>
            <a:ext cx="2636401" cy="1665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9218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1pPr>
            <a:lvl2pPr marL="208174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2pPr>
            <a:lvl3pPr marL="327131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3pPr>
            <a:lvl4pPr marL="446088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4pPr>
            <a:lvl5pPr marL="565044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5pPr>
            <a:lvl6pPr marL="684001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6pPr>
            <a:lvl7pPr marL="802958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7pPr>
            <a:lvl8pPr marL="921914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8pPr>
            <a:lvl9pPr marL="1040871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D5461D-9ED6-40B9-8006-ED5921ED8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509" y="208174"/>
            <a:ext cx="5672257" cy="327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E9A132-6282-43DC-86DE-2BF23C8E95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9509" y="743479"/>
            <a:ext cx="2636401" cy="1665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7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9218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1pPr>
            <a:lvl2pPr marL="208174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2pPr>
            <a:lvl3pPr marL="327131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3pPr>
            <a:lvl4pPr marL="446088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4pPr>
            <a:lvl5pPr marL="565044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5pPr>
            <a:lvl6pPr marL="684001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6pPr>
            <a:lvl7pPr marL="802958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7pPr>
            <a:lvl8pPr marL="921914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8pPr>
            <a:lvl9pPr marL="1040871" indent="-89217">
              <a:lnSpc>
                <a:spcPct val="110000"/>
              </a:lnSpc>
              <a:spcBef>
                <a:spcPts val="0"/>
              </a:spcBef>
              <a:spcAft>
                <a:spcPts val="4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20a8b1eb14e1f" /><Relationship Type="http://schemas.openxmlformats.org/officeDocument/2006/relationships/slideLayout" Target="/ppt/slideLayouts/slideLayout1.xml" Id="R5f370400fafe4184" /><Relationship Type="http://schemas.openxmlformats.org/officeDocument/2006/relationships/slideLayout" Target="/ppt/slideLayouts/slideLayout2.xml" Id="Reed718d5225746c6" /><Relationship Type="http://schemas.openxmlformats.org/officeDocument/2006/relationships/slideLayout" Target="/ppt/slideLayouts/slideLayout3.xml" Id="Rcc137225871c4e57" /><Relationship Type="http://schemas.openxmlformats.org/officeDocument/2006/relationships/slideLayout" Target="/ppt/slideLayouts/slideLayout4.xml" Id="R028b7df653eb4575" /><Relationship Type="http://schemas.openxmlformats.org/officeDocument/2006/relationships/slideLayout" Target="/ppt/slideLayouts/slideLayout5.xml" Id="R1b7a79edc8774ed6" /><Relationship Type="http://schemas.openxmlformats.org/officeDocument/2006/relationships/slideLayout" Target="/ppt/slideLayouts/slideLayout6.xml" Id="R59f7c60c712849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370400fafe4184"/>
    <p:sldLayoutId xmlns:r="http://schemas.openxmlformats.org/officeDocument/2006/relationships" id="2147483650" r:id="Reed718d5225746c6"/>
    <p:sldLayoutId xmlns:r="http://schemas.openxmlformats.org/officeDocument/2006/relationships" id="2147483651" r:id="Rcc137225871c4e57"/>
    <p:sldLayoutId xmlns:r="http://schemas.openxmlformats.org/officeDocument/2006/relationships" id="2147483652" r:id="R028b7df653eb4575"/>
    <p:sldLayoutId xmlns:r="http://schemas.openxmlformats.org/officeDocument/2006/relationships" id="2147483653" r:id="R1b7a79edc8774ed6"/>
    <p:sldLayoutId xmlns:r="http://schemas.openxmlformats.org/officeDocument/2006/relationships" id="2147483654" r:id="R59f7c60c712849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c2b803cc14695" /><Relationship Type="http://schemas.openxmlformats.org/officeDocument/2006/relationships/image" Target="/ppt/media/image.png" Id="R4e6b91984756413a" /><Relationship Type="http://schemas.openxmlformats.org/officeDocument/2006/relationships/image" Target="/ppt/media/image2.png" Id="R8aab849d6df44859" /><Relationship Type="http://schemas.openxmlformats.org/officeDocument/2006/relationships/image" Target="/ppt/media/image3.png" Id="R39dadf80bf0d4791" /><Relationship Type="http://schemas.openxmlformats.org/officeDocument/2006/relationships/image" Target="/ppt/media/image4.png" Id="R585bb7ff05fb4f21" /><Relationship Type="http://schemas.openxmlformats.org/officeDocument/2006/relationships/image" Target="/ppt/media/image5.png" Id="R7731fa8e47904d25" /><Relationship Type="http://schemas.openxmlformats.org/officeDocument/2006/relationships/image" Target="/ppt/media/image6.png" Id="Rabe14fc26a564e41" /><Relationship Type="http://schemas.openxmlformats.org/officeDocument/2006/relationships/image" Target="/ppt/media/image7.png" Id="R74896907db65492b" /><Relationship Type="http://schemas.openxmlformats.org/officeDocument/2006/relationships/image" Target="/ppt/media/image8.png" Id="Rac4a9f879da04594" /><Relationship Type="http://schemas.openxmlformats.org/officeDocument/2006/relationships/image" Target="/ppt/media/image9.png" Id="Rd11cbefccefd4a6b" /><Relationship Type="http://schemas.openxmlformats.org/officeDocument/2006/relationships/notesSlide" Target="/ppt/notesSlides/notesSlide1.xml" Id="Redab23d13e2546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olicy">
            <a:extLst xmlns:a="http://schemas.openxmlformats.org/drawingml/2006/main">
              <a:ext uri="{FF2B5EF4-FFF2-40B4-BE49-F238E27FC236}">
                <a16:creationId xmlns:a16="http://schemas.microsoft.com/office/drawing/2014/main" id="{279F84E7-5D4E-4428-8F33-9E89B590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533400"/>
            <a:ext cx="16478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environment">
            <a:extLst xmlns:a="http://schemas.openxmlformats.org/drawingml/2006/main">
              <a:ext uri="{FF2B5EF4-FFF2-40B4-BE49-F238E27FC236}">
                <a16:creationId xmlns:a16="http://schemas.microsoft.com/office/drawing/2014/main" id="{6DD81F1C-1A06-4473-8BE9-812A1136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4925" y="542925"/>
            <a:ext cx="1190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environment-label">
            <a:extLst xmlns:a="http://schemas.openxmlformats.org/drawingml/2006/main">
              <a:ext uri="{FF2B5EF4-FFF2-40B4-BE49-F238E27FC236}">
                <a16:creationId xmlns:a16="http://schemas.microsoft.com/office/drawing/2014/main" id="{7B7914F8-13B9-429C-8DAD-44299C39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685800"/>
            <a:ext cx="109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3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3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Env</a:t>
            </a:r>
          </a:p>
        </p:txBody>
      </p:sp>
      <p:sp>
        <p:nvSpPr>
          <p:cNvPr id="4" name="reward-sum">
            <a:extLst xmlns:a="http://schemas.openxmlformats.org/drawingml/2006/main">
              <a:ext uri="{FF2B5EF4-FFF2-40B4-BE49-F238E27FC236}">
                <a16:creationId xmlns:a16="http://schemas.microsoft.com/office/drawing/2014/main" id="{8C57CFE1-6C25-4D8B-945C-0747B90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475" y="1495425"/>
            <a:ext cx="4191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sum-label">
            <a:extLst xmlns:a="http://schemas.openxmlformats.org/drawingml/2006/main">
              <a:ext uri="{FF2B5EF4-FFF2-40B4-BE49-F238E27FC236}">
                <a16:creationId xmlns:a16="http://schemas.microsoft.com/office/drawing/2014/main" id="{B7C0508D-7440-4672-9285-D4875A79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1476375"/>
            <a:ext cx="352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6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6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6" name="lambda">
            <a:extLst xmlns:a="http://schemas.openxmlformats.org/drawingml/2006/main">
              <a:ext uri="{FF2B5EF4-FFF2-40B4-BE49-F238E27FC236}">
                <a16:creationId xmlns:a16="http://schemas.microsoft.com/office/drawing/2014/main" id="{DCBA4F71-6407-4CEB-87C3-B0BBCD90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3225" y="1809750"/>
            <a:ext cx="8572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000000"/>
            </a:solidFill>
            <a:prstDash val="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multiply">
            <a:extLst xmlns:a="http://schemas.openxmlformats.org/drawingml/2006/main">
              <a:ext uri="{FF2B5EF4-FFF2-40B4-BE49-F238E27FC236}">
                <a16:creationId xmlns:a16="http://schemas.microsoft.com/office/drawing/2014/main" id="{9CD03B11-1905-4BC6-BBAA-742D67B9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2775" y="20097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8" name="lambda-label">
            <a:extLst xmlns:a="http://schemas.openxmlformats.org/drawingml/2006/main">
              <a:ext uri="{FF2B5EF4-FFF2-40B4-BE49-F238E27FC236}">
                <a16:creationId xmlns:a16="http://schemas.microsoft.com/office/drawing/2014/main" id="{364FE289-6AF8-429F-9BA2-C8AF532F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1971675"/>
            <a:ext cx="180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325" b="0" i="0">
                <a:solidFill>
                  <a:srgbClr val="4324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325" b="0" i="0">
                <a:solidFill>
                  <a:srgbClr val="4324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4324FF"/>
                </a:solidFill>
                <a:latin typeface="Times New Roman"/>
                <a:ea typeface="Times New Roman"/>
                <a:cs typeface="Times New Roman"/>
              </a:rPr>
              <a:t>λ</a:t>
            </a:r>
          </a:p>
        </p:txBody>
      </p:sp>
      <p:sp>
        <p:nvSpPr>
          <p:cNvPr id="9" name="representation">
            <a:extLst xmlns:a="http://schemas.openxmlformats.org/drawingml/2006/main">
              <a:ext uri="{FF2B5EF4-FFF2-40B4-BE49-F238E27FC236}">
                <a16:creationId xmlns:a16="http://schemas.microsoft.com/office/drawing/2014/main" id="{256C9CAF-30B8-4B2C-A5E1-428FE60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1876425"/>
            <a:ext cx="8286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000000"/>
            </a:solidFill>
            <a:prstDash val="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action">
            <a:extLst xmlns:a="http://schemas.openxmlformats.org/drawingml/2006/main">
              <a:ext uri="{FF2B5EF4-FFF2-40B4-BE49-F238E27FC236}">
                <a16:creationId xmlns:a16="http://schemas.microsoft.com/office/drawing/2014/main" id="{A66659ED-BC9A-45A2-B730-696CEF6D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314325"/>
            <a:ext cx="4848225" cy="228600"/>
          </a:xfrm>
          <a:custGeom xmlns:a="http://schemas.openxmlformats.org/drawingml/2006/main">
            <a:pathLst>
              <a:path w="4848225" h="228600">
                <a:moveTo>
                  <a:pt x="0" y="219075"/>
                </a:moveTo>
                <a:lnTo>
                  <a:pt x="0" y="0"/>
                </a:lnTo>
                <a:lnTo>
                  <a:pt x="4848225" y="0"/>
                </a:lnTo>
                <a:lnTo>
                  <a:pt x="4848225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0000"/>
            </a:solidFill>
            <a:prstDash val="solid"/>
          </a:ln>
        </p:spPr>
      </p:sp>
      <p:sp>
        <p:nvSpPr>
          <p:cNvPr id="11" name="action-head">
            <a:extLst xmlns:a="http://schemas.openxmlformats.org/drawingml/2006/main">
              <a:ext uri="{FF2B5EF4-FFF2-40B4-BE49-F238E27FC236}">
                <a16:creationId xmlns:a16="http://schemas.microsoft.com/office/drawing/2014/main" id="{5BC6AF0C-21E6-485F-A54E-24B1A21E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0710" y="466725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76200"/>
                </a:moveTo>
                <a:lnTo>
                  <a:pt x="0" y="0"/>
                </a:lnTo>
                <a:lnTo>
                  <a:pt x="685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te-loop">
            <a:extLst xmlns:a="http://schemas.openxmlformats.org/drawingml/2006/main">
              <a:ext uri="{FF2B5EF4-FFF2-40B4-BE49-F238E27FC236}">
                <a16:creationId xmlns:a16="http://schemas.microsoft.com/office/drawing/2014/main" id="{58F0F381-6E81-4605-9781-8B743A2B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1143000"/>
            <a:ext cx="5048250" cy="1438275"/>
          </a:xfrm>
          <a:custGeom xmlns:a="http://schemas.openxmlformats.org/drawingml/2006/main">
            <a:pathLst>
              <a:path w="5048250" h="1438275">
                <a:moveTo>
                  <a:pt x="5048250" y="0"/>
                </a:moveTo>
                <a:lnTo>
                  <a:pt x="5048250" y="1438275"/>
                </a:lnTo>
                <a:lnTo>
                  <a:pt x="0" y="14382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0000"/>
            </a:solidFill>
            <a:prstDash val="solid"/>
          </a:ln>
        </p:spPr>
      </p:sp>
      <p:sp>
        <p:nvSpPr>
          <p:cNvPr id="13" name="state-loop-head">
            <a:extLst xmlns:a="http://schemas.openxmlformats.org/drawingml/2006/main">
              <a:ext uri="{FF2B5EF4-FFF2-40B4-BE49-F238E27FC236}">
                <a16:creationId xmlns:a16="http://schemas.microsoft.com/office/drawing/2014/main" id="{B03F88CF-3A72-4102-ACE8-D33DE45F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" y="114300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sk-reward">
            <a:extLst xmlns:a="http://schemas.openxmlformats.org/drawingml/2006/main">
              <a:ext uri="{FF2B5EF4-FFF2-40B4-BE49-F238E27FC236}">
                <a16:creationId xmlns:a16="http://schemas.microsoft.com/office/drawing/2014/main" id="{2F7AA369-EA70-481B-AAB0-C7A17794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1143000"/>
            <a:ext cx="3352800" cy="552450"/>
          </a:xfrm>
          <a:custGeom xmlns:a="http://schemas.openxmlformats.org/drawingml/2006/main">
            <a:pathLst>
              <a:path w="3352800" h="552450">
                <a:moveTo>
                  <a:pt x="3352800" y="0"/>
                </a:moveTo>
                <a:lnTo>
                  <a:pt x="3352800" y="552450"/>
                </a:ln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0000"/>
            </a:solidFill>
            <a:prstDash val="solid"/>
          </a:ln>
        </p:spPr>
      </p:sp>
      <p:sp>
        <p:nvSpPr>
          <p:cNvPr id="15" name="task-reward-head">
            <a:extLst xmlns:a="http://schemas.openxmlformats.org/drawingml/2006/main">
              <a:ext uri="{FF2B5EF4-FFF2-40B4-BE49-F238E27FC236}">
                <a16:creationId xmlns:a16="http://schemas.microsoft.com/office/drawing/2014/main" id="{63796E18-0594-4553-8FA7-410898A2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1661160"/>
            <a:ext cx="76200" cy="68580"/>
          </a:xfrm>
          <a:custGeom xmlns:a="http://schemas.openxmlformats.org/drawingml/2006/main">
            <a:pathLst>
              <a:path w="76200" h="68580">
                <a:moveTo>
                  <a:pt x="0" y="34290"/>
                </a:moveTo>
                <a:lnTo>
                  <a:pt x="76200" y="0"/>
                </a:lnTo>
                <a:lnTo>
                  <a:pt x="76200" y="68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mmed-reward">
            <a:extLst xmlns:a="http://schemas.openxmlformats.org/drawingml/2006/main">
              <a:ext uri="{FF2B5EF4-FFF2-40B4-BE49-F238E27FC236}">
                <a16:creationId xmlns:a16="http://schemas.microsoft.com/office/drawing/2014/main" id="{D782D2B1-F7A3-4EDA-9C1C-5D5D9F14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1143000"/>
            <a:ext cx="1028700" cy="552450"/>
          </a:xfrm>
          <a:custGeom xmlns:a="http://schemas.openxmlformats.org/drawingml/2006/main">
            <a:pathLst>
              <a:path w="1028700" h="552450">
                <a:moveTo>
                  <a:pt x="1028700" y="552450"/>
                </a:moveTo>
                <a:lnTo>
                  <a:pt x="0" y="5524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0000"/>
            </a:solidFill>
            <a:prstDash val="solid"/>
          </a:ln>
        </p:spPr>
      </p:sp>
      <p:sp>
        <p:nvSpPr>
          <p:cNvPr id="17" name="summed-reward-head">
            <a:extLst xmlns:a="http://schemas.openxmlformats.org/drawingml/2006/main">
              <a:ext uri="{FF2B5EF4-FFF2-40B4-BE49-F238E27FC236}">
                <a16:creationId xmlns:a16="http://schemas.microsoft.com/office/drawing/2014/main" id="{9BEE227C-E3A1-42BC-A093-EDF80E82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" y="114300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iversity-reward">
            <a:extLst xmlns:a="http://schemas.openxmlformats.org/drawingml/2006/main">
              <a:ext uri="{FF2B5EF4-FFF2-40B4-BE49-F238E27FC236}">
                <a16:creationId xmlns:a16="http://schemas.microsoft.com/office/drawing/2014/main" id="{E5032096-085B-4879-86CD-0C6CFB3E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475" y="2162175"/>
            <a:ext cx="809625" cy="95"/>
          </a:xfrm>
          <a:custGeom xmlns:a="http://schemas.openxmlformats.org/drawingml/2006/main">
            <a:pathLst>
              <a:path w="809625" h="95">
                <a:moveTo>
                  <a:pt x="809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dot"/>
          </a:ln>
        </p:spPr>
      </p:sp>
      <p:sp>
        <p:nvSpPr>
          <p:cNvPr id="19" name="diversity-reward-head">
            <a:extLst xmlns:a="http://schemas.openxmlformats.org/drawingml/2006/main">
              <a:ext uri="{FF2B5EF4-FFF2-40B4-BE49-F238E27FC236}">
                <a16:creationId xmlns:a16="http://schemas.microsoft.com/office/drawing/2014/main" id="{ED64414D-AE88-4ECF-B0A0-93D662FD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475" y="2127885"/>
            <a:ext cx="76200" cy="68580"/>
          </a:xfrm>
          <a:custGeom xmlns:a="http://schemas.openxmlformats.org/drawingml/2006/main">
            <a:pathLst>
              <a:path w="76200" h="68580">
                <a:moveTo>
                  <a:pt x="0" y="34290"/>
                </a:moveTo>
                <a:lnTo>
                  <a:pt x="76200" y="0"/>
                </a:lnTo>
                <a:lnTo>
                  <a:pt x="76200" y="68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te-to-representation">
            <a:extLst xmlns:a="http://schemas.openxmlformats.org/drawingml/2006/main">
              <a:ext uri="{FF2B5EF4-FFF2-40B4-BE49-F238E27FC236}">
                <a16:creationId xmlns:a16="http://schemas.microsoft.com/office/drawing/2014/main" id="{0ECC5FF9-2815-47F3-967C-B527448A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300" y="2162175"/>
            <a:ext cx="333375" cy="95"/>
          </a:xfrm>
          <a:custGeom xmlns:a="http://schemas.openxmlformats.org/drawingml/2006/main">
            <a:pathLst>
              <a:path w="333375" h="95">
                <a:moveTo>
                  <a:pt x="333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dot"/>
          </a:ln>
        </p:spPr>
      </p:sp>
      <p:sp>
        <p:nvSpPr>
          <p:cNvPr id="21" name="state-to-representation-head">
            <a:extLst xmlns:a="http://schemas.openxmlformats.org/drawingml/2006/main">
              <a:ext uri="{FF2B5EF4-FFF2-40B4-BE49-F238E27FC236}">
                <a16:creationId xmlns:a16="http://schemas.microsoft.com/office/drawing/2014/main" id="{EE925312-543C-4A21-BAD4-55CF1A92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300" y="2127885"/>
            <a:ext cx="76200" cy="68580"/>
          </a:xfrm>
          <a:custGeom xmlns:a="http://schemas.openxmlformats.org/drawingml/2006/main">
            <a:pathLst>
              <a:path w="76200" h="68580">
                <a:moveTo>
                  <a:pt x="0" y="34290"/>
                </a:moveTo>
                <a:lnTo>
                  <a:pt x="76200" y="0"/>
                </a:lnTo>
                <a:lnTo>
                  <a:pt x="76200" y="68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eighted-diversity">
            <a:extLst xmlns:a="http://schemas.openxmlformats.org/drawingml/2006/main">
              <a:ext uri="{FF2B5EF4-FFF2-40B4-BE49-F238E27FC236}">
                <a16:creationId xmlns:a16="http://schemas.microsoft.com/office/drawing/2014/main" id="{527F66EA-7865-4EC1-BB8F-A0160FCF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895475"/>
            <a:ext cx="838200" cy="266700"/>
          </a:xfrm>
          <a:custGeom xmlns:a="http://schemas.openxmlformats.org/drawingml/2006/main">
            <a:pathLst>
              <a:path w="838200" h="266700">
                <a:moveTo>
                  <a:pt x="838200" y="266700"/>
                </a:moveTo>
                <a:lnTo>
                  <a:pt x="0" y="2667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dot"/>
          </a:ln>
        </p:spPr>
      </p:sp>
      <p:sp>
        <p:nvSpPr>
          <p:cNvPr id="23" name="weighted-diversity-head">
            <a:extLst xmlns:a="http://schemas.openxmlformats.org/drawingml/2006/main">
              <a:ext uri="{FF2B5EF4-FFF2-40B4-BE49-F238E27FC236}">
                <a16:creationId xmlns:a16="http://schemas.microsoft.com/office/drawing/2014/main" id="{2D482688-0FB8-4AC6-B06A-DD24CC58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0735" y="1895475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olicy-gradient">
            <a:extLst xmlns:a="http://schemas.openxmlformats.org/drawingml/2006/main">
              <a:ext uri="{FF2B5EF4-FFF2-40B4-BE49-F238E27FC236}">
                <a16:creationId xmlns:a16="http://schemas.microsoft.com/office/drawing/2014/main" id="{FF6575C1-9633-4CAE-B52A-AFDCE832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676275"/>
            <a:ext cx="695325" cy="857250"/>
          </a:xfrm>
          <a:custGeom xmlns:a="http://schemas.openxmlformats.org/drawingml/2006/main">
            <a:pathLst>
              <a:path w="695325" h="857250">
                <a:moveTo>
                  <a:pt x="238125" y="857250"/>
                </a:moveTo>
                <a:cubicBezTo>
                  <a:pt x="695325" y="400050"/>
                  <a:pt x="628650" y="0"/>
                  <a:pt x="0" y="666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24FF"/>
            </a:solidFill>
            <a:prstDash val="dot"/>
          </a:ln>
        </p:spPr>
      </p:sp>
      <p:sp>
        <p:nvSpPr>
          <p:cNvPr id="25" name="policy-gradient-head">
            <a:extLst xmlns:a="http://schemas.openxmlformats.org/drawingml/2006/main">
              <a:ext uri="{FF2B5EF4-FFF2-40B4-BE49-F238E27FC236}">
                <a16:creationId xmlns:a16="http://schemas.microsoft.com/office/drawing/2014/main" id="{C3AEEFEE-95BA-4114-A29A-F5A3851D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700815"/>
            <a:ext cx="79392" cy="68198"/>
          </a:xfrm>
          <a:custGeom xmlns:a="http://schemas.openxmlformats.org/drawingml/2006/main">
            <a:pathLst>
              <a:path w="79392" h="68198">
                <a:moveTo>
                  <a:pt x="0" y="42135"/>
                </a:moveTo>
                <a:lnTo>
                  <a:pt x="72158" y="0"/>
                </a:lnTo>
                <a:lnTo>
                  <a:pt x="79392" y="68198"/>
                </a:lnTo>
                <a:close/>
              </a:path>
            </a:pathLst>
          </a:custGeom>
          <a:solidFill xmlns:a="http://schemas.openxmlformats.org/drawingml/2006/main">
            <a:srgbClr val="432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mbda-gradient">
            <a:extLst xmlns:a="http://schemas.openxmlformats.org/drawingml/2006/main">
              <a:ext uri="{FF2B5EF4-FFF2-40B4-BE49-F238E27FC236}">
                <a16:creationId xmlns:a16="http://schemas.microsoft.com/office/drawing/2014/main" id="{C381A979-3876-4835-8F87-F12D9051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5175" y="1400175"/>
            <a:ext cx="657225" cy="609600"/>
          </a:xfrm>
          <a:custGeom xmlns:a="http://schemas.openxmlformats.org/drawingml/2006/main">
            <a:pathLst>
              <a:path w="657225" h="609600">
                <a:moveTo>
                  <a:pt x="657225" y="47625"/>
                </a:moveTo>
                <a:cubicBezTo>
                  <a:pt x="114300" y="0"/>
                  <a:pt x="0" y="228600"/>
                  <a:pt x="152400" y="6096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24FF"/>
            </a:solidFill>
            <a:prstDash val="dot"/>
          </a:ln>
        </p:spPr>
      </p:sp>
      <p:sp>
        <p:nvSpPr>
          <p:cNvPr id="27" name="lambda-gradient-head">
            <a:extLst xmlns:a="http://schemas.openxmlformats.org/drawingml/2006/main">
              <a:ext uri="{FF2B5EF4-FFF2-40B4-BE49-F238E27FC236}">
                <a16:creationId xmlns:a16="http://schemas.microsoft.com/office/drawing/2014/main" id="{FB281E7E-0C00-45B0-AD18-26A6F06D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7438" y="1926290"/>
            <a:ext cx="63675" cy="83485"/>
          </a:xfrm>
          <a:custGeom xmlns:a="http://schemas.openxmlformats.org/drawingml/2006/main">
            <a:pathLst>
              <a:path w="63675" h="83485">
                <a:moveTo>
                  <a:pt x="60137" y="83485"/>
                </a:moveTo>
                <a:lnTo>
                  <a:pt x="0" y="25470"/>
                </a:lnTo>
                <a:lnTo>
                  <a:pt x="63675" y="0"/>
                </a:lnTo>
                <a:close/>
              </a:path>
            </a:pathLst>
          </a:custGeom>
          <a:solidFill xmlns:a="http://schemas.openxmlformats.org/drawingml/2006/main">
            <a:srgbClr val="4324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B2F1CD-210E-4EA2-8034-C01EF54BF8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b91984756413a"/>
          <a:srcRect xmlns:a="http://schemas.openxmlformats.org/drawingml/2006/main" l="0" t="509" r="0" b="5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695325"/>
            <a:ext cx="1200150" cy="333375"/>
          </a:xfrm>
          <a:prstGeom xmlns:a="http://schemas.openxmlformats.org/drawingml/2006/main" prst="rect">
            <a:avLst/>
          </a:prstGeom>
        </p:spPr>
      </p:pic>
      <p:sp>
        <p:nvSpPr>
          <p:cNvPr id="29" name="policy-equation">
            <a:extLst xmlns:a="http://schemas.openxmlformats.org/drawingml/2006/main">
              <a:ext uri="{FF2B5EF4-FFF2-40B4-BE49-F238E27FC236}">
                <a16:creationId xmlns:a16="http://schemas.microsoft.com/office/drawing/2014/main" id="{1734EB2A-81D8-4843-A318-9A4DCC2D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695325"/>
            <a:ext cx="1200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89F93B-2290-4F1E-BA24-A32A19E194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b849d6df44859"/>
          <a:srcRect xmlns:a="http://schemas.openxmlformats.org/drawingml/2006/main" l="0" t="393" r="0" b="3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43100" y="447675"/>
            <a:ext cx="1123950" cy="390525"/>
          </a:xfrm>
          <a:prstGeom xmlns:a="http://schemas.openxmlformats.org/drawingml/2006/main" prst="rect">
            <a:avLst/>
          </a:prstGeom>
        </p:spPr>
      </p:pic>
      <p:sp>
        <p:nvSpPr>
          <p:cNvPr id="31" name="gradient-objective">
            <a:extLst xmlns:a="http://schemas.openxmlformats.org/drawingml/2006/main">
              <a:ext uri="{FF2B5EF4-FFF2-40B4-BE49-F238E27FC236}">
                <a16:creationId xmlns:a16="http://schemas.microsoft.com/office/drawing/2014/main" id="{D9592FDF-74C8-41FF-AACD-3AAF4935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447675"/>
            <a:ext cx="1123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8A87DB-5619-4B96-A72B-9D355986C6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adf80bf0d4791"/>
          <a:srcRect xmlns:a="http://schemas.openxmlformats.org/drawingml/2006/main" l="0" t="500" r="0" b="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90850" y="1114425"/>
            <a:ext cx="952500" cy="314325"/>
          </a:xfrm>
          <a:prstGeom xmlns:a="http://schemas.openxmlformats.org/drawingml/2006/main" prst="rect">
            <a:avLst/>
          </a:prstGeom>
        </p:spPr>
      </p:pic>
      <p:sp>
        <p:nvSpPr>
          <p:cNvPr id="33" name="gradient-task">
            <a:extLst xmlns:a="http://schemas.openxmlformats.org/drawingml/2006/main">
              <a:ext uri="{FF2B5EF4-FFF2-40B4-BE49-F238E27FC236}">
                <a16:creationId xmlns:a16="http://schemas.microsoft.com/office/drawing/2014/main" id="{E9BD6808-400B-4744-8D78-9D2DC1C9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11144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ECC2DA-E948-4CAA-B592-3E502C44C2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bb7ff05fb4f21"/>
          <a:srcRect xmlns:a="http://schemas.openxmlformats.org/drawingml/2006/main" l="0" t="423" r="0" b="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4875" y="2009775"/>
            <a:ext cx="590550" cy="285750"/>
          </a:xfrm>
          <a:prstGeom xmlns:a="http://schemas.openxmlformats.org/drawingml/2006/main" prst="rect">
            <a:avLst/>
          </a:prstGeom>
        </p:spPr>
      </p:pic>
      <p:sp>
        <p:nvSpPr>
          <p:cNvPr id="35" name="phi-equation">
            <a:extLst xmlns:a="http://schemas.openxmlformats.org/drawingml/2006/main">
              <a:ext uri="{FF2B5EF4-FFF2-40B4-BE49-F238E27FC236}">
                <a16:creationId xmlns:a16="http://schemas.microsoft.com/office/drawing/2014/main" id="{43CD2823-A57C-43D7-9FE3-F362FE9D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20097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3F6529-A677-47C3-92FA-6976A39EF6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1fa8e47904d25"/>
          <a:srcRect xmlns:a="http://schemas.openxmlformats.org/drawingml/2006/main" l="0" t="183" r="0" b="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1825" y="0"/>
            <a:ext cx="352425" cy="276225"/>
          </a:xfrm>
          <a:prstGeom xmlns:a="http://schemas.openxmlformats.org/drawingml/2006/main" prst="rect">
            <a:avLst/>
          </a:prstGeom>
        </p:spPr>
      </p:pic>
      <p:sp>
        <p:nvSpPr>
          <p:cNvPr id="37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F23A1259-4700-45C7-9C80-38112997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0"/>
            <a:ext cx="352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2F2F8F-1EFB-414D-8FBE-FAD3A87C81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14fc26a564e41"/>
          <a:srcRect xmlns:a="http://schemas.openxmlformats.org/drawingml/2006/main" l="0" t="70" r="0" b="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6850" y="1371600"/>
            <a:ext cx="323850" cy="295275"/>
          </a:xfrm>
          <a:prstGeom xmlns:a="http://schemas.openxmlformats.org/drawingml/2006/main" prst="rect">
            <a:avLst/>
          </a:prstGeom>
        </p:spPr>
      </p:pic>
      <p:sp>
        <p:nvSpPr>
          <p:cNvPr id="39" name="reward-label">
            <a:extLst xmlns:a="http://schemas.openxmlformats.org/drawingml/2006/main">
              <a:ext uri="{FF2B5EF4-FFF2-40B4-BE49-F238E27FC236}">
                <a16:creationId xmlns:a16="http://schemas.microsoft.com/office/drawing/2014/main" id="{E291825C-3A8A-4424-AB07-58AF5F43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13716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034CB8-7D9D-49CE-BE78-45312FCBA0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96907db65492b"/>
          <a:srcRect xmlns:a="http://schemas.openxmlformats.org/drawingml/2006/main" l="0" t="361" r="0" b="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1925" y="1295400"/>
            <a:ext cx="609600" cy="314325"/>
          </a:xfrm>
          <a:prstGeom xmlns:a="http://schemas.openxmlformats.org/drawingml/2006/main" prst="rect">
            <a:avLst/>
          </a:prstGeom>
        </p:spPr>
      </p:pic>
      <p:sp>
        <p:nvSpPr>
          <p:cNvPr id="41" name="task-reward-label">
            <a:extLst xmlns:a="http://schemas.openxmlformats.org/drawingml/2006/main">
              <a:ext uri="{FF2B5EF4-FFF2-40B4-BE49-F238E27FC236}">
                <a16:creationId xmlns:a16="http://schemas.microsoft.com/office/drawing/2014/main" id="{6565ED39-3CA9-4B20-895C-BCDE8A4F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925" y="1295400"/>
            <a:ext cx="609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7B03BB-0238-4142-890A-EA40034BE5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a9f879da04594"/>
          <a:srcRect xmlns:a="http://schemas.openxmlformats.org/drawingml/2006/main" l="0" t="366" r="0" b="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450" y="1790700"/>
            <a:ext cx="581025" cy="304800"/>
          </a:xfrm>
          <a:prstGeom xmlns:a="http://schemas.openxmlformats.org/drawingml/2006/main" prst="rect">
            <a:avLst/>
          </a:prstGeom>
        </p:spPr>
      </p:pic>
      <p:sp>
        <p:nvSpPr>
          <p:cNvPr id="43" name="diversity-reward-label">
            <a:extLst xmlns:a="http://schemas.openxmlformats.org/drawingml/2006/main">
              <a:ext uri="{FF2B5EF4-FFF2-40B4-BE49-F238E27FC236}">
                <a16:creationId xmlns:a16="http://schemas.microsoft.com/office/drawing/2014/main" id="{A83A68B1-6876-4332-B888-ABAAFABD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1790700"/>
            <a:ext cx="58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23FAD5-0CEC-47F0-B9D8-F0EA9390D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cbefccefd4a6b"/>
          <a:srcRect xmlns:a="http://schemas.openxmlformats.org/drawingml/2006/main" l="0" t="43" r="0" b="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1714500"/>
            <a:ext cx="333375" cy="314325"/>
          </a:xfrm>
          <a:prstGeom xmlns:a="http://schemas.openxmlformats.org/drawingml/2006/main" prst="rect">
            <a:avLst/>
          </a:prstGeom>
        </p:spPr>
      </p:pic>
      <p:sp>
        <p:nvSpPr>
          <p:cNvPr id="45" name="state-label">
            <a:extLst xmlns:a="http://schemas.openxmlformats.org/drawingml/2006/main">
              <a:ext uri="{FF2B5EF4-FFF2-40B4-BE49-F238E27FC236}">
                <a16:creationId xmlns:a16="http://schemas.microsoft.com/office/drawing/2014/main" id="{1970C021-D933-4430-B948-7AF0EF20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714500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51265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2026-10-09T20:42:39.3350000Z</dcterms:created>
  <dcterms:modified xsi:type="dcterms:W3CDTF">2026-10-09T20:42:39.3350000Z</dcterms:modified>
</coreProperties>
</file>