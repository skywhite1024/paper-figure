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b00ab97504eb6" /><Relationship Type="http://schemas.openxmlformats.org/officeDocument/2006/relationships/extended-properties" Target="/docProps/app.xml" Id="R9497083a449b47b2" /><Relationship Type="http://schemas.openxmlformats.org/officeDocument/2006/relationships/officeDocument" Target="/ppt/presentation.xml" Id="Rdcb04fdec8774a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3383abc51840a3"/>
  </p:sldMasterIdLst>
  <p:notesMasterIdLst>
    <p:notesMasterId xmlns:r="http://schemas.openxmlformats.org/officeDocument/2006/relationships" r:id="R33a638d977ff4bf2"/>
  </p:notesMasterIdLst>
  <p:sldIdLst>
    <p:sldId xmlns:r="http://schemas.openxmlformats.org/officeDocument/2006/relationships" id="256" r:id="R9e086de9f69e4ffe"/>
  </p:sldIdLst>
  <p:sldSz cx="9334500" cy="5867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66294f3154566" /><Relationship Type="http://schemas.openxmlformats.org/officeDocument/2006/relationships/slideMaster" Target="/ppt/slideMasters/slideMaster1.xml" Id="R813383abc51840a3" /><Relationship Type="http://schemas.openxmlformats.org/officeDocument/2006/relationships/notesMaster" Target="/ppt/notesMasters/notesMaster1.xml" Id="R33a638d977ff4bf2" /><Relationship Type="http://schemas.openxmlformats.org/officeDocument/2006/relationships/presProps" Target="/ppt/presProps.xml" Id="R7dcadd2cddc64195" /><Relationship Type="http://schemas.openxmlformats.org/officeDocument/2006/relationships/tableStyles" Target="/ppt/tableStyles.xml" Id="R5ad81afd272d425c" /><Relationship Type="http://schemas.openxmlformats.org/officeDocument/2006/relationships/slide" Target="/ppt/slides/slide1.xml" Id="R9e086de9f69e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a85923f5a4f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96dee87ea4e2d" /><Relationship Type="http://schemas.openxmlformats.org/officeDocument/2006/relationships/notesMaster" Target="/ppt/notesMasters/notesMaster1.xml" Id="R72d8dde0b09241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Reinforcement Learning for Transferable Manipulation Skill Discovery",</a:t>
            </a:r>
          </a:p>
          <a:p xmlns:a="http://schemas.openxmlformats.org/drawingml/2006/main">
            <a:r>
              <a:t>  "paper_url": "https://arxiv.org/abs/2204.13906v1",</a:t>
            </a:r>
          </a:p>
          <a:p xmlns:a="http://schemas.openxmlformats.org/drawingml/2006/main">
            <a:r>
              <a:t>  "pdf_url": "https://arxiv.org/pdf/2204.13906v1",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"http://creativecommons.org/licenses/by-nc-nd/4.0/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All architecture geometry, residual additions, tensor icons and ordinary/math labels are native editable objects. The source colored glow is approximated by translucent concentric strokes; mathematical text uses Unicode instead of a live equation object. No raster assets are embedded.",</a:t>
            </a:r>
          </a:p>
          <a:p xmlns:a="http://schemas.openxmlformats.org/drawingml/2006/main">
            <a:r>
              <a:t>  "source_sha256": "bcd1a2e008b47f06e38ebb6b942a6b8e2f891e7bfcb017d9fa6bcd4ed81b85a9",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312,</a:t>
            </a:r>
          </a:p>
          <a:p xmlns:a="http://schemas.openxmlformats.org/drawingml/2006/main">
            <a:r>
              <a:t>    50,</a:t>
            </a:r>
          </a:p>
          <a:p xmlns:a="http://schemas.openxmlformats.org/drawingml/2006/main">
            <a:r>
              <a:t>    557,</a:t>
            </a:r>
          </a:p>
          <a:p xmlns:a="http://schemas.openxmlformats.org/drawingml/2006/main">
            <a:r>
              <a:t>    204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669c6a89547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e8f5bbcb54a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ba2e2a92c43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bd2b311e344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a5b2183e744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a9d3510c7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8122D-9EA7-4D08-B6F6-C29BD83A0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2216573"/>
            <a:ext cx="7467600" cy="847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8EA652-BF71-4A2B-B9C1-D5FE44012A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00175" y="3227070"/>
            <a:ext cx="6534150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84D8CE-CB2F-4FE1-9C08-58716D916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2444750"/>
            <a:ext cx="7467600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62423-5F02-46D0-82B8-A1DDFB830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066" y="456353"/>
            <a:ext cx="8284369" cy="71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DE5A31-9E75-4DC0-B396-DD9E6BE106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5066" y="1629833"/>
            <a:ext cx="8284369" cy="36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0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1pPr>
            <a:lvl2pPr marL="40838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2pPr>
            <a:lvl3pPr marL="64174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3pPr>
            <a:lvl4pPr marL="87510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4pPr>
            <a:lvl5pPr marL="110847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5pPr>
            <a:lvl6pPr marL="134183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6pPr>
            <a:lvl7pPr marL="157519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7pPr>
            <a:lvl8pPr marL="180855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8pPr>
            <a:lvl9pPr marL="20419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09A879-2D29-46CA-ADAA-13CA6667C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066" y="456353"/>
            <a:ext cx="8284369" cy="71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159B50-1DE9-4DE8-BFD2-31CA62CF56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5066" y="1629833"/>
            <a:ext cx="3850481" cy="36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0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1pPr>
            <a:lvl2pPr marL="40838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2pPr>
            <a:lvl3pPr marL="64174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3pPr>
            <a:lvl4pPr marL="87510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4pPr>
            <a:lvl5pPr marL="110847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5pPr>
            <a:lvl6pPr marL="134183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6pPr>
            <a:lvl7pPr marL="157519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7pPr>
            <a:lvl8pPr marL="180855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8pPr>
            <a:lvl9pPr marL="20419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A0C368-ABE2-4E5B-A1F7-CF014F7BD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58953" y="1629833"/>
            <a:ext cx="3850481" cy="36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0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1pPr>
            <a:lvl2pPr marL="40838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2pPr>
            <a:lvl3pPr marL="64174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3pPr>
            <a:lvl4pPr marL="87510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4pPr>
            <a:lvl5pPr marL="110847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5pPr>
            <a:lvl6pPr marL="134183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6pPr>
            <a:lvl7pPr marL="157519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7pPr>
            <a:lvl8pPr marL="180855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8pPr>
            <a:lvl9pPr marL="20419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4103E4-5AF6-42A1-8798-A34B229A9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066" y="456353"/>
            <a:ext cx="8284369" cy="71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3229E0-9D85-4772-B02E-BA2453BAC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5066" y="1629833"/>
            <a:ext cx="3850481" cy="36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0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1pPr>
            <a:lvl2pPr marL="40838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2pPr>
            <a:lvl3pPr marL="64174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3pPr>
            <a:lvl4pPr marL="87510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4pPr>
            <a:lvl5pPr marL="110847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5pPr>
            <a:lvl6pPr marL="1341834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6pPr>
            <a:lvl7pPr marL="1575197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7pPr>
            <a:lvl8pPr marL="1808559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8pPr>
            <a:lvl9pPr marL="2041922" indent="-175022">
              <a:lnSpc>
                <a:spcPct val="110000"/>
              </a:lnSpc>
              <a:spcBef>
                <a:spcPts val="0"/>
              </a:spcBef>
              <a:spcAft>
                <a:spcPts val="91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83857f9080488e" /><Relationship Type="http://schemas.openxmlformats.org/officeDocument/2006/relationships/slideLayout" Target="/ppt/slideLayouts/slideLayout1.xml" Id="R57d0aa9281624dcf" /><Relationship Type="http://schemas.openxmlformats.org/officeDocument/2006/relationships/slideLayout" Target="/ppt/slideLayouts/slideLayout2.xml" Id="R607910c61a4e4396" /><Relationship Type="http://schemas.openxmlformats.org/officeDocument/2006/relationships/slideLayout" Target="/ppt/slideLayouts/slideLayout3.xml" Id="R851fd14b596d42e2" /><Relationship Type="http://schemas.openxmlformats.org/officeDocument/2006/relationships/slideLayout" Target="/ppt/slideLayouts/slideLayout4.xml" Id="Rc4e60d3a4bf1454d" /><Relationship Type="http://schemas.openxmlformats.org/officeDocument/2006/relationships/slideLayout" Target="/ppt/slideLayouts/slideLayout5.xml" Id="R735b0309e44643fa" /><Relationship Type="http://schemas.openxmlformats.org/officeDocument/2006/relationships/slideLayout" Target="/ppt/slideLayouts/slideLayout6.xml" Id="Rbd7fb9e8b2aa49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d0aa9281624dcf"/>
    <p:sldLayoutId xmlns:r="http://schemas.openxmlformats.org/officeDocument/2006/relationships" id="2147483650" r:id="R607910c61a4e4396"/>
    <p:sldLayoutId xmlns:r="http://schemas.openxmlformats.org/officeDocument/2006/relationships" id="2147483651" r:id="R851fd14b596d42e2"/>
    <p:sldLayoutId xmlns:r="http://schemas.openxmlformats.org/officeDocument/2006/relationships" id="2147483652" r:id="Rc4e60d3a4bf1454d"/>
    <p:sldLayoutId xmlns:r="http://schemas.openxmlformats.org/officeDocument/2006/relationships" id="2147483653" r:id="R735b0309e44643fa"/>
    <p:sldLayoutId xmlns:r="http://schemas.openxmlformats.org/officeDocument/2006/relationships" id="2147483654" r:id="Rbd7fb9e8b2aa49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afc6319044520" /><Relationship Type="http://schemas.openxmlformats.org/officeDocument/2006/relationships/notesSlide" Target="/ppt/notesSlides/notesSlide1.xml" Id="Ra6da177846fb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encoder-expansion-top">
            <a:extLst xmlns:a="http://schemas.openxmlformats.org/drawingml/2006/main">
              <a:ext uri="{FF2B5EF4-FFF2-40B4-BE49-F238E27FC236}">
                <a16:creationId xmlns:a16="http://schemas.microsoft.com/office/drawing/2014/main" id="{A9462B21-26F1-48DE-89D7-E0ADA36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438150"/>
            <a:ext cx="257175" cy="3467100"/>
          </a:xfrm>
          <a:custGeom xmlns:a="http://schemas.openxmlformats.org/drawingml/2006/main">
            <a:pathLst>
              <a:path w="257175" h="3467100">
                <a:moveTo>
                  <a:pt x="0" y="0"/>
                </a:moveTo>
                <a:lnTo>
                  <a:pt x="257175" y="34671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dash"/>
          </a:ln>
        </p:spPr>
      </p:sp>
      <p:sp>
        <p:nvSpPr>
          <p:cNvPr id="2" name="encoder-expansion-bottom">
            <a:extLst xmlns:a="http://schemas.openxmlformats.org/drawingml/2006/main">
              <a:ext uri="{FF2B5EF4-FFF2-40B4-BE49-F238E27FC236}">
                <a16:creationId xmlns:a16="http://schemas.microsoft.com/office/drawing/2014/main" id="{B347BF7F-FA74-4EED-B9ED-B4E9AD7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438650"/>
            <a:ext cx="190500" cy="276225"/>
          </a:xfrm>
          <a:custGeom xmlns:a="http://schemas.openxmlformats.org/drawingml/2006/main">
            <a:pathLst>
              <a:path w="190500" h="276225">
                <a:moveTo>
                  <a:pt x="0" y="276225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dash"/>
          </a:ln>
        </p:spPr>
      </p:sp>
      <p:sp>
        <p:nvSpPr>
          <p:cNvPr id="3" name="gating-expansion-top">
            <a:extLst xmlns:a="http://schemas.openxmlformats.org/drawingml/2006/main">
              <a:ext uri="{FF2B5EF4-FFF2-40B4-BE49-F238E27FC236}">
                <a16:creationId xmlns:a16="http://schemas.microsoft.com/office/drawing/2014/main" id="{41CD143B-E834-4FA2-8BC0-F3F34A1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1857375"/>
            <a:ext cx="342900" cy="638175"/>
          </a:xfrm>
          <a:custGeom xmlns:a="http://schemas.openxmlformats.org/drawingml/2006/main">
            <a:pathLst>
              <a:path w="342900" h="638175">
                <a:moveTo>
                  <a:pt x="342900" y="0"/>
                </a:moveTo>
                <a:lnTo>
                  <a:pt x="0" y="6381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dash"/>
          </a:ln>
        </p:spPr>
      </p:sp>
      <p:sp>
        <p:nvSpPr>
          <p:cNvPr id="4" name="gating-expansion-bottom">
            <a:extLst xmlns:a="http://schemas.openxmlformats.org/drawingml/2006/main">
              <a:ext uri="{FF2B5EF4-FFF2-40B4-BE49-F238E27FC236}">
                <a16:creationId xmlns:a16="http://schemas.microsoft.com/office/drawing/2014/main" id="{25AE3D58-07A3-424A-8712-739E6F6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3114675"/>
            <a:ext cx="295275" cy="657225"/>
          </a:xfrm>
          <a:custGeom xmlns:a="http://schemas.openxmlformats.org/drawingml/2006/main">
            <a:pathLst>
              <a:path w="295275" h="657225">
                <a:moveTo>
                  <a:pt x="0" y="0"/>
                </a:moveTo>
                <a:lnTo>
                  <a:pt x="295275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dash"/>
          </a:ln>
        </p:spPr>
      </p:sp>
      <p:sp>
        <p:nvSpPr>
          <p:cNvPr id="5" name="pool-glow0">
            <a:extLst xmlns:a="http://schemas.openxmlformats.org/drawingml/2006/main">
              <a:ext uri="{FF2B5EF4-FFF2-40B4-BE49-F238E27FC236}">
                <a16:creationId xmlns:a16="http://schemas.microsoft.com/office/drawing/2014/main" id="{7F836651-A470-42F3-BD2A-5D666811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571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BE4CAE">
                <a:alpha val="8000"/>
              </a:srgbClr>
            </a:solidFill>
            <a:prstDash val="solid"/>
          </a:ln>
        </p:spPr>
      </p:sp>
      <p:sp>
        <p:nvSpPr>
          <p:cNvPr id="6" name="pool-glow1">
            <a:extLst xmlns:a="http://schemas.openxmlformats.org/drawingml/2006/main">
              <a:ext uri="{FF2B5EF4-FFF2-40B4-BE49-F238E27FC236}">
                <a16:creationId xmlns:a16="http://schemas.microsoft.com/office/drawing/2014/main" id="{6CE14672-373F-4D63-9E74-E41BF7C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571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BE4CAE">
                <a:alpha val="13000"/>
              </a:srgbClr>
            </a:solidFill>
            <a:prstDash val="solid"/>
          </a:ln>
        </p:spPr>
      </p:sp>
      <p:sp>
        <p:nvSpPr>
          <p:cNvPr id="7" name="pool-glow2">
            <a:extLst xmlns:a="http://schemas.openxmlformats.org/drawingml/2006/main">
              <a:ext uri="{FF2B5EF4-FFF2-40B4-BE49-F238E27FC236}">
                <a16:creationId xmlns:a16="http://schemas.microsoft.com/office/drawing/2014/main" id="{A80BF8D9-CAB4-4FD9-B6FC-A78870DE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571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E4CAE">
                <a:alpha val="20000"/>
              </a:srgbClr>
            </a:solidFill>
            <a:prstDash val="solid"/>
          </a:ln>
        </p:spPr>
      </p:sp>
      <p:sp>
        <p:nvSpPr>
          <p:cNvPr id="8" name="pool">
            <a:extLst xmlns:a="http://schemas.openxmlformats.org/drawingml/2006/main">
              <a:ext uri="{FF2B5EF4-FFF2-40B4-BE49-F238E27FC236}">
                <a16:creationId xmlns:a16="http://schemas.microsoft.com/office/drawing/2014/main" id="{E5B306B3-070B-4481-BFE7-AF883F2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571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81000"/>
                </a:lnTo>
                <a:cubicBezTo>
                  <a:pt x="2581275" y="423084"/>
                  <a:pt x="2547159" y="457200"/>
                  <a:pt x="2505075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4CAE"/>
            </a:solidFill>
            <a:prstDash val="solid"/>
          </a:ln>
        </p:spPr>
      </p:sp>
      <p:sp>
        <p:nvSpPr>
          <p:cNvPr id="9" name="encoder-mlp-glow0">
            <a:extLst xmlns:a="http://schemas.openxmlformats.org/drawingml/2006/main">
              <a:ext uri="{FF2B5EF4-FFF2-40B4-BE49-F238E27FC236}">
                <a16:creationId xmlns:a16="http://schemas.microsoft.com/office/drawing/2014/main" id="{1DE5C72D-41B5-41F0-8F1C-7F559ED7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266825"/>
            <a:ext cx="2581275" cy="447675"/>
          </a:xfrm>
          <a:custGeom xmlns:a="http://schemas.openxmlformats.org/drawingml/2006/main">
            <a:pathLst>
              <a:path w="2581275" h="447675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61950"/>
                </a:lnTo>
                <a:cubicBezTo>
                  <a:pt x="2581275" y="409295"/>
                  <a:pt x="2542895" y="447675"/>
                  <a:pt x="2495550" y="447675"/>
                </a:cubicBezTo>
                <a:lnTo>
                  <a:pt x="85725" y="447675"/>
                </a:lnTo>
                <a:cubicBezTo>
                  <a:pt x="38380" y="447675"/>
                  <a:pt x="0" y="409295"/>
                  <a:pt x="0" y="3619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10" name="encoder-mlp-glow1">
            <a:extLst xmlns:a="http://schemas.openxmlformats.org/drawingml/2006/main">
              <a:ext uri="{FF2B5EF4-FFF2-40B4-BE49-F238E27FC236}">
                <a16:creationId xmlns:a16="http://schemas.microsoft.com/office/drawing/2014/main" id="{AA64A215-C270-40C1-90CB-D10A95F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266825"/>
            <a:ext cx="2581275" cy="447675"/>
          </a:xfrm>
          <a:custGeom xmlns:a="http://schemas.openxmlformats.org/drawingml/2006/main">
            <a:pathLst>
              <a:path w="2581275" h="447675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61950"/>
                </a:lnTo>
                <a:cubicBezTo>
                  <a:pt x="2581275" y="409295"/>
                  <a:pt x="2542895" y="447675"/>
                  <a:pt x="2495550" y="447675"/>
                </a:cubicBezTo>
                <a:lnTo>
                  <a:pt x="85725" y="447675"/>
                </a:lnTo>
                <a:cubicBezTo>
                  <a:pt x="38380" y="447675"/>
                  <a:pt x="0" y="409295"/>
                  <a:pt x="0" y="3619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11" name="encoder-mlp-glow2">
            <a:extLst xmlns:a="http://schemas.openxmlformats.org/drawingml/2006/main">
              <a:ext uri="{FF2B5EF4-FFF2-40B4-BE49-F238E27FC236}">
                <a16:creationId xmlns:a16="http://schemas.microsoft.com/office/drawing/2014/main" id="{335414E8-4B9E-4A44-9394-88857BA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266825"/>
            <a:ext cx="2581275" cy="447675"/>
          </a:xfrm>
          <a:custGeom xmlns:a="http://schemas.openxmlformats.org/drawingml/2006/main">
            <a:pathLst>
              <a:path w="2581275" h="447675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61950"/>
                </a:lnTo>
                <a:cubicBezTo>
                  <a:pt x="2581275" y="409295"/>
                  <a:pt x="2542895" y="447675"/>
                  <a:pt x="2495550" y="447675"/>
                </a:cubicBezTo>
                <a:lnTo>
                  <a:pt x="85725" y="447675"/>
                </a:lnTo>
                <a:cubicBezTo>
                  <a:pt x="38380" y="447675"/>
                  <a:pt x="0" y="409295"/>
                  <a:pt x="0" y="3619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12" name="encoder-mlp">
            <a:extLst xmlns:a="http://schemas.openxmlformats.org/drawingml/2006/main">
              <a:ext uri="{FF2B5EF4-FFF2-40B4-BE49-F238E27FC236}">
                <a16:creationId xmlns:a16="http://schemas.microsoft.com/office/drawing/2014/main" id="{ACEDACBD-79B0-48C7-9881-F7FA243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266825"/>
            <a:ext cx="2581275" cy="447675"/>
          </a:xfrm>
          <a:custGeom xmlns:a="http://schemas.openxmlformats.org/drawingml/2006/main">
            <a:pathLst>
              <a:path w="2581275" h="447675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71475"/>
                </a:lnTo>
                <a:cubicBezTo>
                  <a:pt x="2581275" y="413559"/>
                  <a:pt x="2547159" y="447675"/>
                  <a:pt x="2505075" y="447675"/>
                </a:cubicBezTo>
                <a:lnTo>
                  <a:pt x="76200" y="447675"/>
                </a:lnTo>
                <a:cubicBezTo>
                  <a:pt x="34116" y="447675"/>
                  <a:pt x="0" y="413559"/>
                  <a:pt x="0" y="3714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13" name="norm1-glow0">
            <a:extLst xmlns:a="http://schemas.openxmlformats.org/drawingml/2006/main">
              <a:ext uri="{FF2B5EF4-FFF2-40B4-BE49-F238E27FC236}">
                <a16:creationId xmlns:a16="http://schemas.microsoft.com/office/drawing/2014/main" id="{C374EDFF-C79D-43DC-93D1-59D5CBB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8954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F8EAB">
                <a:alpha val="8000"/>
              </a:srgbClr>
            </a:solidFill>
            <a:prstDash val="solid"/>
          </a:ln>
        </p:spPr>
      </p:sp>
      <p:sp>
        <p:nvSpPr>
          <p:cNvPr id="14" name="norm1-glow1">
            <a:extLst xmlns:a="http://schemas.openxmlformats.org/drawingml/2006/main">
              <a:ext uri="{FF2B5EF4-FFF2-40B4-BE49-F238E27FC236}">
                <a16:creationId xmlns:a16="http://schemas.microsoft.com/office/drawing/2014/main" id="{9421EE64-32A6-4DD2-B5A6-70570DC5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8954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F8EAB">
                <a:alpha val="13000"/>
              </a:srgbClr>
            </a:solidFill>
            <a:prstDash val="solid"/>
          </a:ln>
        </p:spPr>
      </p:sp>
      <p:sp>
        <p:nvSpPr>
          <p:cNvPr id="15" name="norm1-glow2">
            <a:extLst xmlns:a="http://schemas.openxmlformats.org/drawingml/2006/main">
              <a:ext uri="{FF2B5EF4-FFF2-40B4-BE49-F238E27FC236}">
                <a16:creationId xmlns:a16="http://schemas.microsoft.com/office/drawing/2014/main" id="{9BC1CC00-E308-4C67-A59D-DD93908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8954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F8EAB">
                <a:alpha val="20000"/>
              </a:srgbClr>
            </a:solidFill>
            <a:prstDash val="solid"/>
          </a:ln>
        </p:spPr>
      </p:sp>
      <p:sp>
        <p:nvSpPr>
          <p:cNvPr id="16" name="norm1">
            <a:extLst xmlns:a="http://schemas.openxmlformats.org/drawingml/2006/main">
              <a:ext uri="{FF2B5EF4-FFF2-40B4-BE49-F238E27FC236}">
                <a16:creationId xmlns:a16="http://schemas.microsoft.com/office/drawing/2014/main" id="{920F83A4-FCF1-4D72-9A06-02D6A41C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89547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81000"/>
                </a:lnTo>
                <a:cubicBezTo>
                  <a:pt x="2581275" y="423084"/>
                  <a:pt x="2547159" y="457200"/>
                  <a:pt x="2505075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F8EAB"/>
            </a:solidFill>
            <a:prstDash val="solid"/>
          </a:ln>
        </p:spPr>
      </p:sp>
      <p:sp>
        <p:nvSpPr>
          <p:cNvPr id="17" name="attention-glow0">
            <a:extLst xmlns:a="http://schemas.openxmlformats.org/drawingml/2006/main">
              <a:ext uri="{FF2B5EF4-FFF2-40B4-BE49-F238E27FC236}">
                <a16:creationId xmlns:a16="http://schemas.microsoft.com/office/drawing/2014/main" id="{C4DB9269-9FD8-4482-B4CF-7628FB6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90512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409AC1">
                <a:alpha val="8000"/>
              </a:srgbClr>
            </a:solidFill>
            <a:prstDash val="solid"/>
          </a:ln>
        </p:spPr>
      </p:sp>
      <p:sp>
        <p:nvSpPr>
          <p:cNvPr id="18" name="attention-glow1">
            <a:extLst xmlns:a="http://schemas.openxmlformats.org/drawingml/2006/main">
              <a:ext uri="{FF2B5EF4-FFF2-40B4-BE49-F238E27FC236}">
                <a16:creationId xmlns:a16="http://schemas.microsoft.com/office/drawing/2014/main" id="{1CC952BF-268A-48CC-ACB0-462A6BCF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90512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409AC1">
                <a:alpha val="13000"/>
              </a:srgbClr>
            </a:solidFill>
            <a:prstDash val="solid"/>
          </a:ln>
        </p:spPr>
      </p:sp>
      <p:sp>
        <p:nvSpPr>
          <p:cNvPr id="19" name="attention-glow2">
            <a:extLst xmlns:a="http://schemas.openxmlformats.org/drawingml/2006/main">
              <a:ext uri="{FF2B5EF4-FFF2-40B4-BE49-F238E27FC236}">
                <a16:creationId xmlns:a16="http://schemas.microsoft.com/office/drawing/2014/main" id="{01A86D88-43A4-48A1-90F8-D4C81F7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90512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409AC1">
                <a:alpha val="20000"/>
              </a:srgbClr>
            </a:solidFill>
            <a:prstDash val="solid"/>
          </a:ln>
        </p:spPr>
      </p:sp>
      <p:sp>
        <p:nvSpPr>
          <p:cNvPr id="20" name="attention">
            <a:extLst xmlns:a="http://schemas.openxmlformats.org/drawingml/2006/main">
              <a:ext uri="{FF2B5EF4-FFF2-40B4-BE49-F238E27FC236}">
                <a16:creationId xmlns:a16="http://schemas.microsoft.com/office/drawing/2014/main" id="{5AE10940-6CA3-43F6-B751-D900E3B7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905125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81000"/>
                </a:lnTo>
                <a:cubicBezTo>
                  <a:pt x="2581275" y="423084"/>
                  <a:pt x="2547159" y="457200"/>
                  <a:pt x="2505075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09AC1"/>
            </a:solidFill>
            <a:prstDash val="solid"/>
          </a:ln>
        </p:spPr>
      </p:sp>
      <p:sp>
        <p:nvSpPr>
          <p:cNvPr id="21" name="norm2-glow0">
            <a:extLst xmlns:a="http://schemas.openxmlformats.org/drawingml/2006/main">
              <a:ext uri="{FF2B5EF4-FFF2-40B4-BE49-F238E27FC236}">
                <a16:creationId xmlns:a16="http://schemas.microsoft.com/office/drawing/2014/main" id="{3CD32D70-1438-4202-9329-6AD230E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358140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F8EAB">
                <a:alpha val="8000"/>
              </a:srgbClr>
            </a:solidFill>
            <a:prstDash val="solid"/>
          </a:ln>
        </p:spPr>
      </p:sp>
      <p:sp>
        <p:nvSpPr>
          <p:cNvPr id="22" name="norm2-glow1">
            <a:extLst xmlns:a="http://schemas.openxmlformats.org/drawingml/2006/main">
              <a:ext uri="{FF2B5EF4-FFF2-40B4-BE49-F238E27FC236}">
                <a16:creationId xmlns:a16="http://schemas.microsoft.com/office/drawing/2014/main" id="{BA5199FB-FABE-430C-A200-31C314A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358140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F8EAB">
                <a:alpha val="13000"/>
              </a:srgbClr>
            </a:solidFill>
            <a:prstDash val="solid"/>
          </a:ln>
        </p:spPr>
      </p:sp>
      <p:sp>
        <p:nvSpPr>
          <p:cNvPr id="23" name="norm2-glow2">
            <a:extLst xmlns:a="http://schemas.openxmlformats.org/drawingml/2006/main">
              <a:ext uri="{FF2B5EF4-FFF2-40B4-BE49-F238E27FC236}">
                <a16:creationId xmlns:a16="http://schemas.microsoft.com/office/drawing/2014/main" id="{FCCE4C11-90C1-4A09-ABB9-7C1A19A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358140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F8EAB">
                <a:alpha val="20000"/>
              </a:srgbClr>
            </a:solidFill>
            <a:prstDash val="solid"/>
          </a:ln>
        </p:spPr>
      </p:sp>
      <p:sp>
        <p:nvSpPr>
          <p:cNvPr id="24" name="norm2">
            <a:extLst xmlns:a="http://schemas.openxmlformats.org/drawingml/2006/main">
              <a:ext uri="{FF2B5EF4-FFF2-40B4-BE49-F238E27FC236}">
                <a16:creationId xmlns:a16="http://schemas.microsoft.com/office/drawing/2014/main" id="{9805A006-5F42-464E-A42A-BA37E95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358140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81000"/>
                </a:lnTo>
                <a:cubicBezTo>
                  <a:pt x="2581275" y="423084"/>
                  <a:pt x="2547159" y="457200"/>
                  <a:pt x="2505075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F8EAB"/>
            </a:solidFill>
            <a:prstDash val="solid"/>
          </a:ln>
        </p:spPr>
      </p:sp>
      <p:sp>
        <p:nvSpPr>
          <p:cNvPr id="25" name="embedding-glow0">
            <a:extLst xmlns:a="http://schemas.openxmlformats.org/drawingml/2006/main">
              <a:ext uri="{FF2B5EF4-FFF2-40B4-BE49-F238E27FC236}">
                <a16:creationId xmlns:a16="http://schemas.microsoft.com/office/drawing/2014/main" id="{3E6F8DE6-5CD1-4C66-85EC-AD1B0B0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428625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26" name="embedding-glow1">
            <a:extLst xmlns:a="http://schemas.openxmlformats.org/drawingml/2006/main">
              <a:ext uri="{FF2B5EF4-FFF2-40B4-BE49-F238E27FC236}">
                <a16:creationId xmlns:a16="http://schemas.microsoft.com/office/drawing/2014/main" id="{E03F363E-CCF7-4551-A36B-D30D163D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428625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27" name="embedding-glow2">
            <a:extLst xmlns:a="http://schemas.openxmlformats.org/drawingml/2006/main">
              <a:ext uri="{FF2B5EF4-FFF2-40B4-BE49-F238E27FC236}">
                <a16:creationId xmlns:a16="http://schemas.microsoft.com/office/drawing/2014/main" id="{71386BB2-E3F5-4C54-9BFD-451EFA6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428625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85725" y="0"/>
                </a:moveTo>
                <a:lnTo>
                  <a:pt x="2495550" y="0"/>
                </a:lnTo>
                <a:cubicBezTo>
                  <a:pt x="2542895" y="0"/>
                  <a:pt x="2581275" y="38380"/>
                  <a:pt x="2581275" y="85725"/>
                </a:cubicBezTo>
                <a:lnTo>
                  <a:pt x="2581275" y="371475"/>
                </a:lnTo>
                <a:cubicBezTo>
                  <a:pt x="2581275" y="418820"/>
                  <a:pt x="2542895" y="457200"/>
                  <a:pt x="2495550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28" name="embedding">
            <a:extLst xmlns:a="http://schemas.openxmlformats.org/drawingml/2006/main">
              <a:ext uri="{FF2B5EF4-FFF2-40B4-BE49-F238E27FC236}">
                <a16:creationId xmlns:a16="http://schemas.microsoft.com/office/drawing/2014/main" id="{26F11CB2-3C05-4B7E-8BD3-7CE329A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4286250"/>
            <a:ext cx="2581275" cy="457200"/>
          </a:xfrm>
          <a:custGeom xmlns:a="http://schemas.openxmlformats.org/drawingml/2006/main">
            <a:pathLst>
              <a:path w="2581275" h="457200">
                <a:moveTo>
                  <a:pt x="76200" y="0"/>
                </a:moveTo>
                <a:lnTo>
                  <a:pt x="2505075" y="0"/>
                </a:lnTo>
                <a:cubicBezTo>
                  <a:pt x="2547159" y="0"/>
                  <a:pt x="2581275" y="34116"/>
                  <a:pt x="2581275" y="76200"/>
                </a:cubicBezTo>
                <a:lnTo>
                  <a:pt x="2581275" y="381000"/>
                </a:lnTo>
                <a:cubicBezTo>
                  <a:pt x="2581275" y="423084"/>
                  <a:pt x="2547159" y="457200"/>
                  <a:pt x="2505075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29" name="encoder-glow0">
            <a:extLst xmlns:a="http://schemas.openxmlformats.org/drawingml/2006/main">
              <a:ext uri="{FF2B5EF4-FFF2-40B4-BE49-F238E27FC236}">
                <a16:creationId xmlns:a16="http://schemas.microsoft.com/office/drawing/2014/main" id="{B31D69DC-81B5-4DFC-BBC7-D395448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3933825"/>
            <a:ext cx="1600200" cy="457200"/>
          </a:xfrm>
          <a:custGeom xmlns:a="http://schemas.openxmlformats.org/drawingml/2006/main">
            <a:pathLst>
              <a:path w="1600200" h="457200">
                <a:moveTo>
                  <a:pt x="85725" y="0"/>
                </a:moveTo>
                <a:lnTo>
                  <a:pt x="1514475" y="0"/>
                </a:lnTo>
                <a:cubicBezTo>
                  <a:pt x="1561820" y="0"/>
                  <a:pt x="1600200" y="38380"/>
                  <a:pt x="1600200" y="85725"/>
                </a:cubicBezTo>
                <a:lnTo>
                  <a:pt x="1600200" y="371475"/>
                </a:lnTo>
                <a:cubicBezTo>
                  <a:pt x="1600200" y="418820"/>
                  <a:pt x="1561820" y="457200"/>
                  <a:pt x="1514475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C35555">
                <a:alpha val="8000"/>
              </a:srgbClr>
            </a:solidFill>
            <a:prstDash val="solid"/>
          </a:ln>
        </p:spPr>
      </p:sp>
      <p:sp>
        <p:nvSpPr>
          <p:cNvPr id="30" name="encoder-glow1">
            <a:extLst xmlns:a="http://schemas.openxmlformats.org/drawingml/2006/main">
              <a:ext uri="{FF2B5EF4-FFF2-40B4-BE49-F238E27FC236}">
                <a16:creationId xmlns:a16="http://schemas.microsoft.com/office/drawing/2014/main" id="{0D71BA57-0D61-4097-BFCA-23055373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3933825"/>
            <a:ext cx="1600200" cy="457200"/>
          </a:xfrm>
          <a:custGeom xmlns:a="http://schemas.openxmlformats.org/drawingml/2006/main">
            <a:pathLst>
              <a:path w="1600200" h="457200">
                <a:moveTo>
                  <a:pt x="85725" y="0"/>
                </a:moveTo>
                <a:lnTo>
                  <a:pt x="1514475" y="0"/>
                </a:lnTo>
                <a:cubicBezTo>
                  <a:pt x="1561820" y="0"/>
                  <a:pt x="1600200" y="38380"/>
                  <a:pt x="1600200" y="85725"/>
                </a:cubicBezTo>
                <a:lnTo>
                  <a:pt x="1600200" y="371475"/>
                </a:lnTo>
                <a:cubicBezTo>
                  <a:pt x="1600200" y="418820"/>
                  <a:pt x="1561820" y="457200"/>
                  <a:pt x="1514475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C35555">
                <a:alpha val="13000"/>
              </a:srgbClr>
            </a:solidFill>
            <a:prstDash val="solid"/>
          </a:ln>
        </p:spPr>
      </p:sp>
      <p:sp>
        <p:nvSpPr>
          <p:cNvPr id="31" name="encoder-glow2">
            <a:extLst xmlns:a="http://schemas.openxmlformats.org/drawingml/2006/main">
              <a:ext uri="{FF2B5EF4-FFF2-40B4-BE49-F238E27FC236}">
                <a16:creationId xmlns:a16="http://schemas.microsoft.com/office/drawing/2014/main" id="{CEEA9982-54AE-4165-BC88-3053C85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3933825"/>
            <a:ext cx="1600200" cy="457200"/>
          </a:xfrm>
          <a:custGeom xmlns:a="http://schemas.openxmlformats.org/drawingml/2006/main">
            <a:pathLst>
              <a:path w="1600200" h="457200">
                <a:moveTo>
                  <a:pt x="85725" y="0"/>
                </a:moveTo>
                <a:lnTo>
                  <a:pt x="1514475" y="0"/>
                </a:lnTo>
                <a:cubicBezTo>
                  <a:pt x="1561820" y="0"/>
                  <a:pt x="1600200" y="38380"/>
                  <a:pt x="1600200" y="85725"/>
                </a:cubicBezTo>
                <a:lnTo>
                  <a:pt x="1600200" y="371475"/>
                </a:lnTo>
                <a:cubicBezTo>
                  <a:pt x="1600200" y="418820"/>
                  <a:pt x="1561820" y="457200"/>
                  <a:pt x="1514475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C35555">
                <a:alpha val="20000"/>
              </a:srgbClr>
            </a:solidFill>
            <a:prstDash val="solid"/>
          </a:ln>
        </p:spPr>
      </p:sp>
      <p:sp>
        <p:nvSpPr>
          <p:cNvPr id="32" name="encoder">
            <a:extLst xmlns:a="http://schemas.openxmlformats.org/drawingml/2006/main">
              <a:ext uri="{FF2B5EF4-FFF2-40B4-BE49-F238E27FC236}">
                <a16:creationId xmlns:a16="http://schemas.microsoft.com/office/drawing/2014/main" id="{4BDD331A-4CE8-4C12-BDB4-8215C48C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3933825"/>
            <a:ext cx="1600200" cy="457200"/>
          </a:xfrm>
          <a:custGeom xmlns:a="http://schemas.openxmlformats.org/drawingml/2006/main">
            <a:pathLst>
              <a:path w="1600200" h="457200">
                <a:moveTo>
                  <a:pt x="76200" y="0"/>
                </a:moveTo>
                <a:lnTo>
                  <a:pt x="1524000" y="0"/>
                </a:lnTo>
                <a:cubicBezTo>
                  <a:pt x="1566084" y="0"/>
                  <a:pt x="1600200" y="34116"/>
                  <a:pt x="1600200" y="76200"/>
                </a:cubicBezTo>
                <a:lnTo>
                  <a:pt x="1600200" y="381000"/>
                </a:lnTo>
                <a:cubicBezTo>
                  <a:pt x="1600200" y="423084"/>
                  <a:pt x="1566084" y="457200"/>
                  <a:pt x="15240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35555"/>
            </a:solidFill>
            <a:prstDash val="solid"/>
          </a:ln>
        </p:spPr>
      </p:sp>
      <p:sp>
        <p:nvSpPr>
          <p:cNvPr id="33" name="policy-mlp-glow0">
            <a:extLst xmlns:a="http://schemas.openxmlformats.org/drawingml/2006/main">
              <a:ext uri="{FF2B5EF4-FFF2-40B4-BE49-F238E27FC236}">
                <a16:creationId xmlns:a16="http://schemas.microsoft.com/office/drawing/2014/main" id="{AB3AE96D-6460-4AF7-BA79-ED90559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505075"/>
            <a:ext cx="1609725" cy="600075"/>
          </a:xfrm>
          <a:custGeom xmlns:a="http://schemas.openxmlformats.org/drawingml/2006/main">
            <a:pathLst>
              <a:path w="1609725" h="600075">
                <a:moveTo>
                  <a:pt x="85725" y="0"/>
                </a:moveTo>
                <a:lnTo>
                  <a:pt x="1524000" y="0"/>
                </a:lnTo>
                <a:cubicBezTo>
                  <a:pt x="1571345" y="0"/>
                  <a:pt x="1609725" y="38380"/>
                  <a:pt x="1609725" y="85725"/>
                </a:cubicBezTo>
                <a:lnTo>
                  <a:pt x="1609725" y="514350"/>
                </a:lnTo>
                <a:cubicBezTo>
                  <a:pt x="1609725" y="561695"/>
                  <a:pt x="1571345" y="600075"/>
                  <a:pt x="15240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34" name="policy-mlp-glow1">
            <a:extLst xmlns:a="http://schemas.openxmlformats.org/drawingml/2006/main">
              <a:ext uri="{FF2B5EF4-FFF2-40B4-BE49-F238E27FC236}">
                <a16:creationId xmlns:a16="http://schemas.microsoft.com/office/drawing/2014/main" id="{7C3B90F3-083E-4FBC-8F25-1973948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505075"/>
            <a:ext cx="1609725" cy="600075"/>
          </a:xfrm>
          <a:custGeom xmlns:a="http://schemas.openxmlformats.org/drawingml/2006/main">
            <a:pathLst>
              <a:path w="1609725" h="600075">
                <a:moveTo>
                  <a:pt x="85725" y="0"/>
                </a:moveTo>
                <a:lnTo>
                  <a:pt x="1524000" y="0"/>
                </a:lnTo>
                <a:cubicBezTo>
                  <a:pt x="1571345" y="0"/>
                  <a:pt x="1609725" y="38380"/>
                  <a:pt x="1609725" y="85725"/>
                </a:cubicBezTo>
                <a:lnTo>
                  <a:pt x="1609725" y="514350"/>
                </a:lnTo>
                <a:cubicBezTo>
                  <a:pt x="1609725" y="561695"/>
                  <a:pt x="1571345" y="600075"/>
                  <a:pt x="15240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35" name="policy-mlp-glow2">
            <a:extLst xmlns:a="http://schemas.openxmlformats.org/drawingml/2006/main">
              <a:ext uri="{FF2B5EF4-FFF2-40B4-BE49-F238E27FC236}">
                <a16:creationId xmlns:a16="http://schemas.microsoft.com/office/drawing/2014/main" id="{9ABB2838-6B3A-47D0-9CBF-CB8204F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505075"/>
            <a:ext cx="1609725" cy="600075"/>
          </a:xfrm>
          <a:custGeom xmlns:a="http://schemas.openxmlformats.org/drawingml/2006/main">
            <a:pathLst>
              <a:path w="1609725" h="600075">
                <a:moveTo>
                  <a:pt x="85725" y="0"/>
                </a:moveTo>
                <a:lnTo>
                  <a:pt x="1524000" y="0"/>
                </a:lnTo>
                <a:cubicBezTo>
                  <a:pt x="1571345" y="0"/>
                  <a:pt x="1609725" y="38380"/>
                  <a:pt x="1609725" y="85725"/>
                </a:cubicBezTo>
                <a:lnTo>
                  <a:pt x="1609725" y="514350"/>
                </a:lnTo>
                <a:cubicBezTo>
                  <a:pt x="1609725" y="561695"/>
                  <a:pt x="1571345" y="600075"/>
                  <a:pt x="15240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36" name="policy-mlp">
            <a:extLst xmlns:a="http://schemas.openxmlformats.org/drawingml/2006/main">
              <a:ext uri="{FF2B5EF4-FFF2-40B4-BE49-F238E27FC236}">
                <a16:creationId xmlns:a16="http://schemas.microsoft.com/office/drawing/2014/main" id="{C972E23C-7ED6-41A7-A73A-7321DE9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505075"/>
            <a:ext cx="1609725" cy="600075"/>
          </a:xfrm>
          <a:custGeom xmlns:a="http://schemas.openxmlformats.org/drawingml/2006/main">
            <a:pathLst>
              <a:path w="1609725" h="600075">
                <a:moveTo>
                  <a:pt x="76200" y="0"/>
                </a:moveTo>
                <a:lnTo>
                  <a:pt x="1533525" y="0"/>
                </a:lnTo>
                <a:cubicBezTo>
                  <a:pt x="1575609" y="0"/>
                  <a:pt x="1609725" y="34116"/>
                  <a:pt x="1609725" y="76200"/>
                </a:cubicBezTo>
                <a:lnTo>
                  <a:pt x="1609725" y="523875"/>
                </a:lnTo>
                <a:cubicBezTo>
                  <a:pt x="1609725" y="565959"/>
                  <a:pt x="1575609" y="600075"/>
                  <a:pt x="1533525" y="600075"/>
                </a:cubicBezTo>
                <a:lnTo>
                  <a:pt x="76200" y="600075"/>
                </a:lnTo>
                <a:cubicBezTo>
                  <a:pt x="34116" y="600075"/>
                  <a:pt x="0" y="565959"/>
                  <a:pt x="0" y="523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37" name="gating-glow0">
            <a:extLst xmlns:a="http://schemas.openxmlformats.org/drawingml/2006/main">
              <a:ext uri="{FF2B5EF4-FFF2-40B4-BE49-F238E27FC236}">
                <a16:creationId xmlns:a16="http://schemas.microsoft.com/office/drawing/2014/main" id="{188CEAF0-95FB-47E9-97C3-E25DB8B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14600"/>
            <a:ext cx="1343025" cy="600075"/>
          </a:xfrm>
          <a:custGeom xmlns:a="http://schemas.openxmlformats.org/drawingml/2006/main">
            <a:pathLst>
              <a:path w="1343025" h="60007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514350"/>
                </a:lnTo>
                <a:cubicBezTo>
                  <a:pt x="1343025" y="561695"/>
                  <a:pt x="1304645" y="600075"/>
                  <a:pt x="12573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C5804B">
                <a:alpha val="8000"/>
              </a:srgbClr>
            </a:solidFill>
            <a:prstDash val="solid"/>
          </a:ln>
        </p:spPr>
      </p:sp>
      <p:sp>
        <p:nvSpPr>
          <p:cNvPr id="38" name="gating-glow1">
            <a:extLst xmlns:a="http://schemas.openxmlformats.org/drawingml/2006/main">
              <a:ext uri="{FF2B5EF4-FFF2-40B4-BE49-F238E27FC236}">
                <a16:creationId xmlns:a16="http://schemas.microsoft.com/office/drawing/2014/main" id="{D2F51AB0-6E8D-4A52-9251-A63578B7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14600"/>
            <a:ext cx="1343025" cy="600075"/>
          </a:xfrm>
          <a:custGeom xmlns:a="http://schemas.openxmlformats.org/drawingml/2006/main">
            <a:pathLst>
              <a:path w="1343025" h="60007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514350"/>
                </a:lnTo>
                <a:cubicBezTo>
                  <a:pt x="1343025" y="561695"/>
                  <a:pt x="1304645" y="600075"/>
                  <a:pt x="12573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C5804B">
                <a:alpha val="13000"/>
              </a:srgbClr>
            </a:solidFill>
            <a:prstDash val="solid"/>
          </a:ln>
        </p:spPr>
      </p:sp>
      <p:sp>
        <p:nvSpPr>
          <p:cNvPr id="39" name="gating-glow2">
            <a:extLst xmlns:a="http://schemas.openxmlformats.org/drawingml/2006/main">
              <a:ext uri="{FF2B5EF4-FFF2-40B4-BE49-F238E27FC236}">
                <a16:creationId xmlns:a16="http://schemas.microsoft.com/office/drawing/2014/main" id="{6C387A23-6E5C-4D96-AB76-FC0926E0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14600"/>
            <a:ext cx="1343025" cy="600075"/>
          </a:xfrm>
          <a:custGeom xmlns:a="http://schemas.openxmlformats.org/drawingml/2006/main">
            <a:pathLst>
              <a:path w="1343025" h="60007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514350"/>
                </a:lnTo>
                <a:cubicBezTo>
                  <a:pt x="1343025" y="561695"/>
                  <a:pt x="1304645" y="600075"/>
                  <a:pt x="1257300" y="600075"/>
                </a:cubicBezTo>
                <a:lnTo>
                  <a:pt x="85725" y="600075"/>
                </a:lnTo>
                <a:cubicBezTo>
                  <a:pt x="38380" y="600075"/>
                  <a:pt x="0" y="561695"/>
                  <a:pt x="0" y="5143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C5804B">
                <a:alpha val="20000"/>
              </a:srgbClr>
            </a:solidFill>
            <a:prstDash val="solid"/>
          </a:ln>
        </p:spPr>
      </p:sp>
      <p:sp>
        <p:nvSpPr>
          <p:cNvPr id="40" name="gating">
            <a:extLst xmlns:a="http://schemas.openxmlformats.org/drawingml/2006/main">
              <a:ext uri="{FF2B5EF4-FFF2-40B4-BE49-F238E27FC236}">
                <a16:creationId xmlns:a16="http://schemas.microsoft.com/office/drawing/2014/main" id="{C279BB17-EE8E-441C-9B32-E825356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14600"/>
            <a:ext cx="1343025" cy="600075"/>
          </a:xfrm>
          <a:custGeom xmlns:a="http://schemas.openxmlformats.org/drawingml/2006/main">
            <a:pathLst>
              <a:path w="1343025" h="600075">
                <a:moveTo>
                  <a:pt x="76200" y="0"/>
                </a:moveTo>
                <a:lnTo>
                  <a:pt x="1266825" y="0"/>
                </a:lnTo>
                <a:cubicBezTo>
                  <a:pt x="1308909" y="0"/>
                  <a:pt x="1343025" y="34116"/>
                  <a:pt x="1343025" y="76200"/>
                </a:cubicBezTo>
                <a:lnTo>
                  <a:pt x="1343025" y="523875"/>
                </a:lnTo>
                <a:cubicBezTo>
                  <a:pt x="1343025" y="565959"/>
                  <a:pt x="1308909" y="600075"/>
                  <a:pt x="1266825" y="600075"/>
                </a:cubicBezTo>
                <a:lnTo>
                  <a:pt x="76200" y="600075"/>
                </a:lnTo>
                <a:cubicBezTo>
                  <a:pt x="34116" y="600075"/>
                  <a:pt x="0" y="565959"/>
                  <a:pt x="0" y="523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5804B"/>
            </a:solidFill>
            <a:prstDash val="solid"/>
          </a:ln>
        </p:spPr>
      </p:sp>
      <p:sp>
        <p:nvSpPr>
          <p:cNvPr id="41" name="gating-mlp-left-glow0">
            <a:extLst xmlns:a="http://schemas.openxmlformats.org/drawingml/2006/main">
              <a:ext uri="{FF2B5EF4-FFF2-40B4-BE49-F238E27FC236}">
                <a16:creationId xmlns:a16="http://schemas.microsoft.com/office/drawing/2014/main" id="{4351A078-ECEE-4A3F-9F8C-69C2DDA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42" name="gating-mlp-left-glow1">
            <a:extLst xmlns:a="http://schemas.openxmlformats.org/drawingml/2006/main">
              <a:ext uri="{FF2B5EF4-FFF2-40B4-BE49-F238E27FC236}">
                <a16:creationId xmlns:a16="http://schemas.microsoft.com/office/drawing/2014/main" id="{FCA34406-0861-4757-9F1B-01BBDA0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43" name="gating-mlp-left-glow2">
            <a:extLst xmlns:a="http://schemas.openxmlformats.org/drawingml/2006/main">
              <a:ext uri="{FF2B5EF4-FFF2-40B4-BE49-F238E27FC236}">
                <a16:creationId xmlns:a16="http://schemas.microsoft.com/office/drawing/2014/main" id="{4C2789D5-21D7-4BFB-9ADF-CEA20FC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44" name="gating-mlp-left">
            <a:extLst xmlns:a="http://schemas.openxmlformats.org/drawingml/2006/main">
              <a:ext uri="{FF2B5EF4-FFF2-40B4-BE49-F238E27FC236}">
                <a16:creationId xmlns:a16="http://schemas.microsoft.com/office/drawing/2014/main" id="{9BE8324B-940E-4B46-864F-FB6B6F64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76200" y="0"/>
                </a:moveTo>
                <a:lnTo>
                  <a:pt x="1276350" y="0"/>
                </a:lnTo>
                <a:cubicBezTo>
                  <a:pt x="1318434" y="0"/>
                  <a:pt x="1352550" y="34116"/>
                  <a:pt x="1352550" y="76200"/>
                </a:cubicBezTo>
                <a:lnTo>
                  <a:pt x="1352550" y="504825"/>
                </a:lnTo>
                <a:cubicBezTo>
                  <a:pt x="1352550" y="546909"/>
                  <a:pt x="1318434" y="581025"/>
                  <a:pt x="1276350" y="581025"/>
                </a:cubicBezTo>
                <a:lnTo>
                  <a:pt x="76200" y="581025"/>
                </a:lnTo>
                <a:cubicBezTo>
                  <a:pt x="34116" y="581025"/>
                  <a:pt x="0" y="546909"/>
                  <a:pt x="0" y="5048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45" name="gating-mlp-right-glow0">
            <a:extLst xmlns:a="http://schemas.openxmlformats.org/drawingml/2006/main">
              <a:ext uri="{FF2B5EF4-FFF2-40B4-BE49-F238E27FC236}">
                <a16:creationId xmlns:a16="http://schemas.microsoft.com/office/drawing/2014/main" id="{E20EF8F1-0F56-456F-B2B6-8A41266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46" name="gating-mlp-right-glow1">
            <a:extLst xmlns:a="http://schemas.openxmlformats.org/drawingml/2006/main">
              <a:ext uri="{FF2B5EF4-FFF2-40B4-BE49-F238E27FC236}">
                <a16:creationId xmlns:a16="http://schemas.microsoft.com/office/drawing/2014/main" id="{A2ECC225-BDA4-492E-A37D-5C05CD4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47" name="gating-mlp-right-glow2">
            <a:extLst xmlns:a="http://schemas.openxmlformats.org/drawingml/2006/main">
              <a:ext uri="{FF2B5EF4-FFF2-40B4-BE49-F238E27FC236}">
                <a16:creationId xmlns:a16="http://schemas.microsoft.com/office/drawing/2014/main" id="{2DBF6943-B0A0-4BBA-9405-5DAC8C3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85725" y="0"/>
                </a:moveTo>
                <a:lnTo>
                  <a:pt x="1266825" y="0"/>
                </a:lnTo>
                <a:cubicBezTo>
                  <a:pt x="1314170" y="0"/>
                  <a:pt x="1352550" y="38380"/>
                  <a:pt x="1352550" y="85725"/>
                </a:cubicBezTo>
                <a:lnTo>
                  <a:pt x="1352550" y="495300"/>
                </a:lnTo>
                <a:cubicBezTo>
                  <a:pt x="1352550" y="542645"/>
                  <a:pt x="1314170" y="581025"/>
                  <a:pt x="1266825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48" name="gating-mlp-right">
            <a:extLst xmlns:a="http://schemas.openxmlformats.org/drawingml/2006/main">
              <a:ext uri="{FF2B5EF4-FFF2-40B4-BE49-F238E27FC236}">
                <a16:creationId xmlns:a16="http://schemas.microsoft.com/office/drawing/2014/main" id="{9CD73890-F96A-4A46-A807-F43860C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981325"/>
            <a:ext cx="1352550" cy="581025"/>
          </a:xfrm>
          <a:custGeom xmlns:a="http://schemas.openxmlformats.org/drawingml/2006/main">
            <a:pathLst>
              <a:path w="1352550" h="581025">
                <a:moveTo>
                  <a:pt x="76200" y="0"/>
                </a:moveTo>
                <a:lnTo>
                  <a:pt x="1276350" y="0"/>
                </a:lnTo>
                <a:cubicBezTo>
                  <a:pt x="1318434" y="0"/>
                  <a:pt x="1352550" y="34116"/>
                  <a:pt x="1352550" y="76200"/>
                </a:cubicBezTo>
                <a:lnTo>
                  <a:pt x="1352550" y="504825"/>
                </a:lnTo>
                <a:cubicBezTo>
                  <a:pt x="1352550" y="546909"/>
                  <a:pt x="1318434" y="581025"/>
                  <a:pt x="1276350" y="581025"/>
                </a:cubicBezTo>
                <a:lnTo>
                  <a:pt x="76200" y="581025"/>
                </a:lnTo>
                <a:cubicBezTo>
                  <a:pt x="34116" y="581025"/>
                  <a:pt x="0" y="546909"/>
                  <a:pt x="0" y="5048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49" name="gating-mlp-final-glow0">
            <a:extLst xmlns:a="http://schemas.openxmlformats.org/drawingml/2006/main">
              <a:ext uri="{FF2B5EF4-FFF2-40B4-BE49-F238E27FC236}">
                <a16:creationId xmlns:a16="http://schemas.microsoft.com/office/drawing/2014/main" id="{009219F3-47B9-4078-B08F-81E2423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152650"/>
            <a:ext cx="1343025" cy="581025"/>
          </a:xfrm>
          <a:custGeom xmlns:a="http://schemas.openxmlformats.org/drawingml/2006/main">
            <a:pathLst>
              <a:path w="1343025" h="58102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495300"/>
                </a:lnTo>
                <a:cubicBezTo>
                  <a:pt x="1343025" y="542645"/>
                  <a:pt x="1304645" y="581025"/>
                  <a:pt x="1257300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6DA54D">
                <a:alpha val="8000"/>
              </a:srgbClr>
            </a:solidFill>
            <a:prstDash val="solid"/>
          </a:ln>
        </p:spPr>
      </p:sp>
      <p:sp>
        <p:nvSpPr>
          <p:cNvPr id="50" name="gating-mlp-final-glow1">
            <a:extLst xmlns:a="http://schemas.openxmlformats.org/drawingml/2006/main">
              <a:ext uri="{FF2B5EF4-FFF2-40B4-BE49-F238E27FC236}">
                <a16:creationId xmlns:a16="http://schemas.microsoft.com/office/drawing/2014/main" id="{C15FED1D-9DC1-4A75-9F79-B95DD7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152650"/>
            <a:ext cx="1343025" cy="581025"/>
          </a:xfrm>
          <a:custGeom xmlns:a="http://schemas.openxmlformats.org/drawingml/2006/main">
            <a:pathLst>
              <a:path w="1343025" h="58102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495300"/>
                </a:lnTo>
                <a:cubicBezTo>
                  <a:pt x="1343025" y="542645"/>
                  <a:pt x="1304645" y="581025"/>
                  <a:pt x="1257300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6DA54D">
                <a:alpha val="13000"/>
              </a:srgbClr>
            </a:solidFill>
            <a:prstDash val="solid"/>
          </a:ln>
        </p:spPr>
      </p:sp>
      <p:sp>
        <p:nvSpPr>
          <p:cNvPr id="51" name="gating-mlp-final-glow2">
            <a:extLst xmlns:a="http://schemas.openxmlformats.org/drawingml/2006/main">
              <a:ext uri="{FF2B5EF4-FFF2-40B4-BE49-F238E27FC236}">
                <a16:creationId xmlns:a16="http://schemas.microsoft.com/office/drawing/2014/main" id="{E06A7EB1-3FC9-4762-AF59-B3A461D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152650"/>
            <a:ext cx="1343025" cy="581025"/>
          </a:xfrm>
          <a:custGeom xmlns:a="http://schemas.openxmlformats.org/drawingml/2006/main">
            <a:pathLst>
              <a:path w="1343025" h="581025">
                <a:moveTo>
                  <a:pt x="85725" y="0"/>
                </a:moveTo>
                <a:lnTo>
                  <a:pt x="1257300" y="0"/>
                </a:lnTo>
                <a:cubicBezTo>
                  <a:pt x="1304645" y="0"/>
                  <a:pt x="1343025" y="38380"/>
                  <a:pt x="1343025" y="85725"/>
                </a:cubicBezTo>
                <a:lnTo>
                  <a:pt x="1343025" y="495300"/>
                </a:lnTo>
                <a:cubicBezTo>
                  <a:pt x="1343025" y="542645"/>
                  <a:pt x="1304645" y="581025"/>
                  <a:pt x="1257300" y="581025"/>
                </a:cubicBezTo>
                <a:lnTo>
                  <a:pt x="85725" y="581025"/>
                </a:lnTo>
                <a:cubicBezTo>
                  <a:pt x="38380" y="581025"/>
                  <a:pt x="0" y="542645"/>
                  <a:pt x="0" y="4953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6DA54D">
                <a:alpha val="20000"/>
              </a:srgbClr>
            </a:solidFill>
            <a:prstDash val="solid"/>
          </a:ln>
        </p:spPr>
      </p:sp>
      <p:sp>
        <p:nvSpPr>
          <p:cNvPr id="52" name="gating-mlp-final">
            <a:extLst xmlns:a="http://schemas.openxmlformats.org/drawingml/2006/main">
              <a:ext uri="{FF2B5EF4-FFF2-40B4-BE49-F238E27FC236}">
                <a16:creationId xmlns:a16="http://schemas.microsoft.com/office/drawing/2014/main" id="{C5C183BB-0B56-4C47-9279-24186EEB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152650"/>
            <a:ext cx="1343025" cy="581025"/>
          </a:xfrm>
          <a:custGeom xmlns:a="http://schemas.openxmlformats.org/drawingml/2006/main">
            <a:pathLst>
              <a:path w="1343025" h="581025">
                <a:moveTo>
                  <a:pt x="76200" y="0"/>
                </a:moveTo>
                <a:lnTo>
                  <a:pt x="1266825" y="0"/>
                </a:lnTo>
                <a:cubicBezTo>
                  <a:pt x="1308909" y="0"/>
                  <a:pt x="1343025" y="34116"/>
                  <a:pt x="1343025" y="76200"/>
                </a:cubicBezTo>
                <a:lnTo>
                  <a:pt x="1343025" y="504825"/>
                </a:lnTo>
                <a:cubicBezTo>
                  <a:pt x="1343025" y="546909"/>
                  <a:pt x="1308909" y="581025"/>
                  <a:pt x="1266825" y="581025"/>
                </a:cubicBezTo>
                <a:lnTo>
                  <a:pt x="76200" y="581025"/>
                </a:lnTo>
                <a:cubicBezTo>
                  <a:pt x="34116" y="581025"/>
                  <a:pt x="0" y="546909"/>
                  <a:pt x="0" y="5048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A54D"/>
            </a:solidFill>
            <a:prstDash val="solid"/>
          </a:ln>
        </p:spPr>
      </p:sp>
      <p:sp>
        <p:nvSpPr>
          <p:cNvPr id="53" name="pool-label">
            <a:extLst xmlns:a="http://schemas.openxmlformats.org/drawingml/2006/main">
              <a:ext uri="{FF2B5EF4-FFF2-40B4-BE49-F238E27FC236}">
                <a16:creationId xmlns:a16="http://schemas.microsoft.com/office/drawing/2014/main" id="{244F0A8A-1D40-4C55-A451-575F89CB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95275"/>
            <a:ext cx="2466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Average Pooling</a:t>
            </a:r>
          </a:p>
        </p:txBody>
      </p:sp>
      <p:sp>
        <p:nvSpPr>
          <p:cNvPr id="54" name="encoder-mlp-label">
            <a:extLst xmlns:a="http://schemas.openxmlformats.org/drawingml/2006/main">
              <a:ext uri="{FF2B5EF4-FFF2-40B4-BE49-F238E27FC236}">
                <a16:creationId xmlns:a16="http://schemas.microsoft.com/office/drawing/2014/main" id="{EACB891F-7CED-4397-9752-51F1ACFD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323975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MLP(256-Relu,128-Relu)</a:t>
            </a:r>
          </a:p>
        </p:txBody>
      </p:sp>
      <p:sp>
        <p:nvSpPr>
          <p:cNvPr id="55" name="norm1-label">
            <a:extLst xmlns:a="http://schemas.openxmlformats.org/drawingml/2006/main">
              <a:ext uri="{FF2B5EF4-FFF2-40B4-BE49-F238E27FC236}">
                <a16:creationId xmlns:a16="http://schemas.microsoft.com/office/drawing/2014/main" id="{420C246F-0EA9-4F7B-A6E1-2357AF5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943100"/>
            <a:ext cx="2447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LayerNorm</a:t>
            </a:r>
          </a:p>
        </p:txBody>
      </p:sp>
      <p:sp>
        <p:nvSpPr>
          <p:cNvPr id="56" name="attention-label">
            <a:extLst xmlns:a="http://schemas.openxmlformats.org/drawingml/2006/main">
              <a:ext uri="{FF2B5EF4-FFF2-40B4-BE49-F238E27FC236}">
                <a16:creationId xmlns:a16="http://schemas.microsoft.com/office/drawing/2014/main" id="{318EEEDD-81E7-47F1-96A2-604F9C4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962275"/>
            <a:ext cx="2486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42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MultiHeadAttention(Relu)</a:t>
            </a:r>
          </a:p>
        </p:txBody>
      </p:sp>
      <p:sp>
        <p:nvSpPr>
          <p:cNvPr id="57" name="norm2-label">
            <a:extLst xmlns:a="http://schemas.openxmlformats.org/drawingml/2006/main">
              <a:ext uri="{FF2B5EF4-FFF2-40B4-BE49-F238E27FC236}">
                <a16:creationId xmlns:a16="http://schemas.microsoft.com/office/drawing/2014/main" id="{123598A2-E3F5-4D9F-95F0-2E9C337C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3638550"/>
            <a:ext cx="2466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LayerNorm</a:t>
            </a:r>
          </a:p>
        </p:txBody>
      </p:sp>
      <p:sp>
        <p:nvSpPr>
          <p:cNvPr id="58" name="embedding-label">
            <a:extLst xmlns:a="http://schemas.openxmlformats.org/drawingml/2006/main">
              <a:ext uri="{FF2B5EF4-FFF2-40B4-BE49-F238E27FC236}">
                <a16:creationId xmlns:a16="http://schemas.microsoft.com/office/drawing/2014/main" id="{A6921E7D-BAA1-4779-9DEA-5E21E80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43434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MLP(128)</a:t>
            </a:r>
          </a:p>
        </p:txBody>
      </p:sp>
      <p:sp>
        <p:nvSpPr>
          <p:cNvPr id="59" name="encoder-label">
            <a:extLst xmlns:a="http://schemas.openxmlformats.org/drawingml/2006/main">
              <a:ext uri="{FF2B5EF4-FFF2-40B4-BE49-F238E27FC236}">
                <a16:creationId xmlns:a16="http://schemas.microsoft.com/office/drawing/2014/main" id="{196FE037-7E8E-4E3E-AA2C-D2694F8A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39909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Encoder</a:t>
            </a:r>
          </a:p>
        </p:txBody>
      </p:sp>
      <p:sp>
        <p:nvSpPr>
          <p:cNvPr id="60" name="policy-mlp-title">
            <a:extLst xmlns:a="http://schemas.openxmlformats.org/drawingml/2006/main">
              <a:ext uri="{FF2B5EF4-FFF2-40B4-BE49-F238E27FC236}">
                <a16:creationId xmlns:a16="http://schemas.microsoft.com/office/drawing/2014/main" id="{E6A4A0C7-B2DF-44BB-A1C8-B0F15A81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6003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</a:t>
            </a:r>
          </a:p>
        </p:txBody>
      </p:sp>
      <p:sp>
        <p:nvSpPr>
          <p:cNvPr id="61" name="policy-mlp-detail">
            <a:extLst xmlns:a="http://schemas.openxmlformats.org/drawingml/2006/main">
              <a:ext uri="{FF2B5EF4-FFF2-40B4-BE49-F238E27FC236}">
                <a16:creationId xmlns:a16="http://schemas.microsoft.com/office/drawing/2014/main" id="{66D950B2-4BEB-4462-8561-84482F8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2876550"/>
            <a:ext cx="1495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(256-Relu, 256-Relu, 4)</a:t>
            </a:r>
          </a:p>
        </p:txBody>
      </p:sp>
      <p:sp>
        <p:nvSpPr>
          <p:cNvPr id="62" name="gating-title">
            <a:extLst xmlns:a="http://schemas.openxmlformats.org/drawingml/2006/main">
              <a:ext uri="{FF2B5EF4-FFF2-40B4-BE49-F238E27FC236}">
                <a16:creationId xmlns:a16="http://schemas.microsoft.com/office/drawing/2014/main" id="{A3C5B375-63AD-4F22-BB0F-5BFCE428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28900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Gating Net</a:t>
            </a:r>
          </a:p>
        </p:txBody>
      </p:sp>
      <p:sp>
        <p:nvSpPr>
          <p:cNvPr id="63" name="gating-mlp-left-title">
            <a:extLst xmlns:a="http://schemas.openxmlformats.org/drawingml/2006/main">
              <a:ext uri="{FF2B5EF4-FFF2-40B4-BE49-F238E27FC236}">
                <a16:creationId xmlns:a16="http://schemas.microsoft.com/office/drawing/2014/main" id="{1A036FDA-E624-411D-BA3B-1C1A8248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304800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</a:t>
            </a:r>
          </a:p>
        </p:txBody>
      </p:sp>
      <p:sp>
        <p:nvSpPr>
          <p:cNvPr id="64" name="gating-mlp-left-detail">
            <a:extLst xmlns:a="http://schemas.openxmlformats.org/drawingml/2006/main">
              <a:ext uri="{FF2B5EF4-FFF2-40B4-BE49-F238E27FC236}">
                <a16:creationId xmlns:a16="http://schemas.microsoft.com/office/drawing/2014/main" id="{4F10A323-20B6-4BFD-85BA-628997B7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3337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(256-Relu,128-Relu)</a:t>
            </a:r>
          </a:p>
        </p:txBody>
      </p:sp>
      <p:sp>
        <p:nvSpPr>
          <p:cNvPr id="65" name="gating-mlp-right-title">
            <a:extLst xmlns:a="http://schemas.openxmlformats.org/drawingml/2006/main">
              <a:ext uri="{FF2B5EF4-FFF2-40B4-BE49-F238E27FC236}">
                <a16:creationId xmlns:a16="http://schemas.microsoft.com/office/drawing/2014/main" id="{6E61B582-F090-4F9E-B31C-AB7AE9E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304800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</a:t>
            </a:r>
          </a:p>
        </p:txBody>
      </p:sp>
      <p:sp>
        <p:nvSpPr>
          <p:cNvPr id="66" name="gating-mlp-right-detail">
            <a:extLst xmlns:a="http://schemas.openxmlformats.org/drawingml/2006/main">
              <a:ext uri="{FF2B5EF4-FFF2-40B4-BE49-F238E27FC236}">
                <a16:creationId xmlns:a16="http://schemas.microsoft.com/office/drawing/2014/main" id="{2919628B-8D3E-4DD1-9874-6817D19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3333750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(256-Relu,128-Relu)</a:t>
            </a:r>
          </a:p>
        </p:txBody>
      </p:sp>
      <p:sp>
        <p:nvSpPr>
          <p:cNvPr id="67" name="gating-final-title">
            <a:extLst xmlns:a="http://schemas.openxmlformats.org/drawingml/2006/main">
              <a:ext uri="{FF2B5EF4-FFF2-40B4-BE49-F238E27FC236}">
                <a16:creationId xmlns:a16="http://schemas.microsoft.com/office/drawing/2014/main" id="{028111E6-B09B-408B-9BE6-E95ECB9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20980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15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MLP</a:t>
            </a:r>
          </a:p>
        </p:txBody>
      </p:sp>
      <p:sp>
        <p:nvSpPr>
          <p:cNvPr id="68" name="gating-final-detail">
            <a:extLst xmlns:a="http://schemas.openxmlformats.org/drawingml/2006/main">
              <a:ext uri="{FF2B5EF4-FFF2-40B4-BE49-F238E27FC236}">
                <a16:creationId xmlns:a16="http://schemas.microsoft.com/office/drawing/2014/main" id="{702E5845-9CBF-46D8-A0D8-A29CC6C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48602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defRPr>
            </a:pPr>
            <a:r>
              <a:rPr sz="975" b="1" i="0">
                <a:solidFill>
                  <a:srgbClr val="000000"/>
                </a:solidFill>
                <a:latin typeface="Nimbus Sans Narrow"/>
                <a:ea typeface="Nimbus Sans Narrow"/>
                <a:cs typeface="Nimbus Sans Narrow"/>
              </a:rPr>
              <a:t>(# Primitives-Sigmoid)</a:t>
            </a:r>
          </a:p>
        </p:txBody>
      </p:sp>
      <p:sp>
        <p:nvSpPr>
          <p:cNvPr id="69" name="residual-lower">
            <a:extLst xmlns:a="http://schemas.openxmlformats.org/drawingml/2006/main">
              <a:ext uri="{FF2B5EF4-FFF2-40B4-BE49-F238E27FC236}">
                <a16:creationId xmlns:a16="http://schemas.microsoft.com/office/drawing/2014/main" id="{BD75366B-4EE6-4E37-8A80-9811922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495550"/>
            <a:ext cx="209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9ED"/>
          </a:solidFill>
          <a:ln xmlns:a="http://schemas.openxmlformats.org/drawingml/2006/main" w="11430">
            <a:solidFill>
              <a:srgbClr val="687D9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residual-lower-plus">
            <a:extLst xmlns:a="http://schemas.openxmlformats.org/drawingml/2006/main">
              <a:ext uri="{FF2B5EF4-FFF2-40B4-BE49-F238E27FC236}">
                <a16:creationId xmlns:a16="http://schemas.microsoft.com/office/drawing/2014/main" id="{EF4792AF-21E0-4943-B9AD-A673139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2486025"/>
            <a:ext cx="17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1" name="residual-upper">
            <a:extLst xmlns:a="http://schemas.openxmlformats.org/drawingml/2006/main">
              <a:ext uri="{FF2B5EF4-FFF2-40B4-BE49-F238E27FC236}">
                <a16:creationId xmlns:a16="http://schemas.microsoft.com/office/drawing/2014/main" id="{DB96D6D1-A532-4EC7-9618-026E9C8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819150"/>
            <a:ext cx="209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9ED"/>
          </a:solidFill>
          <a:ln xmlns:a="http://schemas.openxmlformats.org/drawingml/2006/main" w="11430">
            <a:solidFill>
              <a:srgbClr val="687D9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residual-upper-plus">
            <a:extLst xmlns:a="http://schemas.openxmlformats.org/drawingml/2006/main">
              <a:ext uri="{FF2B5EF4-FFF2-40B4-BE49-F238E27FC236}">
                <a16:creationId xmlns:a16="http://schemas.microsoft.com/office/drawing/2014/main" id="{09109C97-436F-4D2B-B890-054F83D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809625"/>
            <a:ext cx="17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467CB3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3" name="lower-residual">
            <a:extLst xmlns:a="http://schemas.openxmlformats.org/drawingml/2006/main">
              <a:ext uri="{FF2B5EF4-FFF2-40B4-BE49-F238E27FC236}">
                <a16:creationId xmlns:a16="http://schemas.microsoft.com/office/drawing/2014/main" id="{625178E6-510E-4294-AE00-74477F9F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2638425"/>
            <a:ext cx="1390650" cy="1543050"/>
          </a:xfrm>
          <a:custGeom xmlns:a="http://schemas.openxmlformats.org/drawingml/2006/main">
            <a:pathLst>
              <a:path w="1390650" h="1543050">
                <a:moveTo>
                  <a:pt x="1390650" y="1543050"/>
                </a:moveTo>
                <a:lnTo>
                  <a:pt x="0" y="1543050"/>
                </a:lnTo>
                <a:lnTo>
                  <a:pt x="0" y="0"/>
                </a:ln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0000"/>
            </a:solidFill>
            <a:prstDash val="solid"/>
          </a:ln>
        </p:spPr>
      </p:sp>
      <p:sp>
        <p:nvSpPr>
          <p:cNvPr id="74" name="lower-residual-arrow">
            <a:extLst xmlns:a="http://schemas.openxmlformats.org/drawingml/2006/main">
              <a:ext uri="{FF2B5EF4-FFF2-40B4-BE49-F238E27FC236}">
                <a16:creationId xmlns:a16="http://schemas.microsoft.com/office/drawing/2014/main" id="{99ECDD9E-C810-4CC1-A216-80E9442F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2602611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5" name="upper-residual">
            <a:extLst xmlns:a="http://schemas.openxmlformats.org/drawingml/2006/main">
              <a:ext uri="{FF2B5EF4-FFF2-40B4-BE49-F238E27FC236}">
                <a16:creationId xmlns:a16="http://schemas.microsoft.com/office/drawing/2014/main" id="{FA8170F7-37D5-4EA3-BC1A-BE0B1D35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962025"/>
            <a:ext cx="1390650" cy="1514475"/>
          </a:xfrm>
          <a:custGeom xmlns:a="http://schemas.openxmlformats.org/drawingml/2006/main">
            <a:pathLst>
              <a:path w="1390650" h="1514475">
                <a:moveTo>
                  <a:pt x="1390650" y="1514475"/>
                </a:moveTo>
                <a:lnTo>
                  <a:pt x="0" y="1514475"/>
                </a:lnTo>
                <a:lnTo>
                  <a:pt x="0" y="0"/>
                </a:lnTo>
                <a:lnTo>
                  <a:pt x="128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0000"/>
            </a:solidFill>
            <a:prstDash val="solid"/>
          </a:ln>
        </p:spPr>
      </p:sp>
      <p:sp>
        <p:nvSpPr>
          <p:cNvPr id="76" name="upper-residual-arrow">
            <a:extLst xmlns:a="http://schemas.openxmlformats.org/drawingml/2006/main">
              <a:ext uri="{FF2B5EF4-FFF2-40B4-BE49-F238E27FC236}">
                <a16:creationId xmlns:a16="http://schemas.microsoft.com/office/drawing/2014/main" id="{68AF8937-AAF8-4A8E-91F5-AA70626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926211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7" name="embedding-norm">
            <a:extLst xmlns:a="http://schemas.openxmlformats.org/drawingml/2006/main">
              <a:ext uri="{FF2B5EF4-FFF2-40B4-BE49-F238E27FC236}">
                <a16:creationId xmlns:a16="http://schemas.microsoft.com/office/drawing/2014/main" id="{E1BBFED9-69A5-4144-BFB3-1908FF05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03860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78" name="embedding-norm-arrow">
            <a:extLst xmlns:a="http://schemas.openxmlformats.org/drawingml/2006/main">
              <a:ext uri="{FF2B5EF4-FFF2-40B4-BE49-F238E27FC236}">
                <a16:creationId xmlns:a16="http://schemas.microsoft.com/office/drawing/2014/main" id="{71F0F523-C6E5-4C62-9AB9-E1A8467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403860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norm-attention">
            <a:extLst xmlns:a="http://schemas.openxmlformats.org/drawingml/2006/main">
              <a:ext uri="{FF2B5EF4-FFF2-40B4-BE49-F238E27FC236}">
                <a16:creationId xmlns:a16="http://schemas.microsoft.com/office/drawing/2014/main" id="{823B596B-62CC-41C8-B2D0-62BF2D9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371850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80" name="norm-attention-arrow">
            <a:extLst xmlns:a="http://schemas.openxmlformats.org/drawingml/2006/main">
              <a:ext uri="{FF2B5EF4-FFF2-40B4-BE49-F238E27FC236}">
                <a16:creationId xmlns:a16="http://schemas.microsoft.com/office/drawing/2014/main" id="{79BF63C3-5777-4412-A94B-5714BBE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33718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attention-plus">
            <a:extLst xmlns:a="http://schemas.openxmlformats.org/drawingml/2006/main">
              <a:ext uri="{FF2B5EF4-FFF2-40B4-BE49-F238E27FC236}">
                <a16:creationId xmlns:a16="http://schemas.microsoft.com/office/drawing/2014/main" id="{F356EC3B-3F86-4522-96B7-A6EB7744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762250"/>
            <a:ext cx="953" cy="142875"/>
          </a:xfrm>
          <a:custGeom xmlns:a="http://schemas.openxmlformats.org/drawingml/2006/main">
            <a:pathLst>
              <a:path w="953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82" name="attention-plus-arrow">
            <a:extLst xmlns:a="http://schemas.openxmlformats.org/drawingml/2006/main">
              <a:ext uri="{FF2B5EF4-FFF2-40B4-BE49-F238E27FC236}">
                <a16:creationId xmlns:a16="http://schemas.microsoft.com/office/drawing/2014/main" id="{4F6D22B5-C146-4139-99A0-57AF8E8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27622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3" name="plus-norm">
            <a:extLst xmlns:a="http://schemas.openxmlformats.org/drawingml/2006/main">
              <a:ext uri="{FF2B5EF4-FFF2-40B4-BE49-F238E27FC236}">
                <a16:creationId xmlns:a16="http://schemas.microsoft.com/office/drawing/2014/main" id="{FE7B7C12-12FB-4D26-8389-AD12DBF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352675"/>
            <a:ext cx="953" cy="152400"/>
          </a:xfrm>
          <a:custGeom xmlns:a="http://schemas.openxmlformats.org/drawingml/2006/main">
            <a:pathLst>
              <a:path w="953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84" name="plus-norm-arrow">
            <a:extLst xmlns:a="http://schemas.openxmlformats.org/drawingml/2006/main">
              <a:ext uri="{FF2B5EF4-FFF2-40B4-BE49-F238E27FC236}">
                <a16:creationId xmlns:a16="http://schemas.microsoft.com/office/drawing/2014/main" id="{09B689A2-FDBC-422E-B21E-8D6D2954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2352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norm-mlp">
            <a:extLst xmlns:a="http://schemas.openxmlformats.org/drawingml/2006/main">
              <a:ext uri="{FF2B5EF4-FFF2-40B4-BE49-F238E27FC236}">
                <a16:creationId xmlns:a16="http://schemas.microsoft.com/office/drawing/2014/main" id="{4A1CBD5D-8877-41A5-8DC0-5E857772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1724025"/>
            <a:ext cx="953" cy="171450"/>
          </a:xfrm>
          <a:custGeom xmlns:a="http://schemas.openxmlformats.org/drawingml/2006/main">
            <a:pathLst>
              <a:path w="953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86" name="norm-mlp-arrow">
            <a:extLst xmlns:a="http://schemas.openxmlformats.org/drawingml/2006/main">
              <a:ext uri="{FF2B5EF4-FFF2-40B4-BE49-F238E27FC236}">
                <a16:creationId xmlns:a16="http://schemas.microsoft.com/office/drawing/2014/main" id="{91581CC4-0D9E-4519-9371-179207B3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172402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mlp-plus">
            <a:extLst xmlns:a="http://schemas.openxmlformats.org/drawingml/2006/main">
              <a:ext uri="{FF2B5EF4-FFF2-40B4-BE49-F238E27FC236}">
                <a16:creationId xmlns:a16="http://schemas.microsoft.com/office/drawing/2014/main" id="{EAE7E2F3-121B-41E4-837B-F68CF45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1095375"/>
            <a:ext cx="953" cy="171450"/>
          </a:xfrm>
          <a:custGeom xmlns:a="http://schemas.openxmlformats.org/drawingml/2006/main">
            <a:pathLst>
              <a:path w="953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88" name="mlp-plus-arrow">
            <a:extLst xmlns:a="http://schemas.openxmlformats.org/drawingml/2006/main">
              <a:ext uri="{FF2B5EF4-FFF2-40B4-BE49-F238E27FC236}">
                <a16:creationId xmlns:a16="http://schemas.microsoft.com/office/drawing/2014/main" id="{82090B16-9882-4453-B203-4EA6869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10953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9" name="plus-pool">
            <a:extLst xmlns:a="http://schemas.openxmlformats.org/drawingml/2006/main">
              <a:ext uri="{FF2B5EF4-FFF2-40B4-BE49-F238E27FC236}">
                <a16:creationId xmlns:a16="http://schemas.microsoft.com/office/drawing/2014/main" id="{8FCFF113-1FEF-4C9A-BB11-15410AB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714375"/>
            <a:ext cx="953" cy="104775"/>
          </a:xfrm>
          <a:custGeom xmlns:a="http://schemas.openxmlformats.org/drawingml/2006/main">
            <a:pathLst>
              <a:path w="953" h="104775">
                <a:moveTo>
                  <a:pt x="0" y="104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90" name="plus-pool-arrow">
            <a:extLst xmlns:a="http://schemas.openxmlformats.org/drawingml/2006/main">
              <a:ext uri="{FF2B5EF4-FFF2-40B4-BE49-F238E27FC236}">
                <a16:creationId xmlns:a16="http://schemas.microsoft.com/office/drawing/2014/main" id="{7C5097F2-41DB-44F2-91F6-270FB019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7143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1" name="pool-output">
            <a:extLst xmlns:a="http://schemas.openxmlformats.org/drawingml/2006/main">
              <a:ext uri="{FF2B5EF4-FFF2-40B4-BE49-F238E27FC236}">
                <a16:creationId xmlns:a16="http://schemas.microsoft.com/office/drawing/2014/main" id="{5CBFED68-4409-4317-8901-5F2078B8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85725"/>
            <a:ext cx="953" cy="171450"/>
          </a:xfrm>
          <a:custGeom xmlns:a="http://schemas.openxmlformats.org/drawingml/2006/main">
            <a:pathLst>
              <a:path w="953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92" name="pool-output-arrow">
            <a:extLst xmlns:a="http://schemas.openxmlformats.org/drawingml/2006/main">
              <a:ext uri="{FF2B5EF4-FFF2-40B4-BE49-F238E27FC236}">
                <a16:creationId xmlns:a16="http://schemas.microsoft.com/office/drawing/2014/main" id="{76CDA4FC-D5A7-42AC-B54A-4821C66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986" y="8572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3" name="input-left">
            <a:extLst xmlns:a="http://schemas.openxmlformats.org/drawingml/2006/main">
              <a:ext uri="{FF2B5EF4-FFF2-40B4-BE49-F238E27FC236}">
                <a16:creationId xmlns:a16="http://schemas.microsoft.com/office/drawing/2014/main" id="{B173D2CB-EF01-44CA-B699-C598F55D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743450"/>
            <a:ext cx="953" cy="152400"/>
          </a:xfrm>
          <a:custGeom xmlns:a="http://schemas.openxmlformats.org/drawingml/2006/main">
            <a:pathLst>
              <a:path w="953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94" name="input-left-arrow">
            <a:extLst xmlns:a="http://schemas.openxmlformats.org/drawingml/2006/main">
              <a:ext uri="{FF2B5EF4-FFF2-40B4-BE49-F238E27FC236}">
                <a16:creationId xmlns:a16="http://schemas.microsoft.com/office/drawing/2014/main" id="{29B143A9-2CBB-4899-9BD1-C6B769B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3" y="4743450"/>
            <a:ext cx="62674" cy="66675"/>
          </a:xfrm>
          <a:custGeom xmlns:a="http://schemas.openxmlformats.org/drawingml/2006/main">
            <a:pathLst>
              <a:path w="62674" h="66675">
                <a:moveTo>
                  <a:pt x="31337" y="0"/>
                </a:moveTo>
                <a:lnTo>
                  <a:pt x="62674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5" name="input-right">
            <a:extLst xmlns:a="http://schemas.openxmlformats.org/drawingml/2006/main">
              <a:ext uri="{FF2B5EF4-FFF2-40B4-BE49-F238E27FC236}">
                <a16:creationId xmlns:a16="http://schemas.microsoft.com/office/drawing/2014/main" id="{BDD1C001-B66A-48FE-B7D3-6A4EDD7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4743450"/>
            <a:ext cx="953" cy="152400"/>
          </a:xfrm>
          <a:custGeom xmlns:a="http://schemas.openxmlformats.org/drawingml/2006/main">
            <a:pathLst>
              <a:path w="953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96" name="input-right-arrow">
            <a:extLst xmlns:a="http://schemas.openxmlformats.org/drawingml/2006/main">
              <a:ext uri="{FF2B5EF4-FFF2-40B4-BE49-F238E27FC236}">
                <a16:creationId xmlns:a16="http://schemas.microsoft.com/office/drawing/2014/main" id="{26CAA061-2F83-4AD7-988A-B2E7C0A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9438" y="4743450"/>
            <a:ext cx="62674" cy="66675"/>
          </a:xfrm>
          <a:custGeom xmlns:a="http://schemas.openxmlformats.org/drawingml/2006/main">
            <a:pathLst>
              <a:path w="62674" h="66675">
                <a:moveTo>
                  <a:pt x="31337" y="0"/>
                </a:moveTo>
                <a:lnTo>
                  <a:pt x="62674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7" name="left-robot-state">
            <a:extLst xmlns:a="http://schemas.openxmlformats.org/drawingml/2006/main">
              <a:ext uri="{FF2B5EF4-FFF2-40B4-BE49-F238E27FC236}">
                <a16:creationId xmlns:a16="http://schemas.microsoft.com/office/drawing/2014/main" id="{CD3F5E56-944A-464D-A9E0-4586083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05375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8" name="left-robot-subscript">
            <a:extLst xmlns:a="http://schemas.openxmlformats.org/drawingml/2006/main">
              <a:ext uri="{FF2B5EF4-FFF2-40B4-BE49-F238E27FC236}">
                <a16:creationId xmlns:a16="http://schemas.microsoft.com/office/drawing/2014/main" id="{36B3E05D-0B31-46FD-9BC7-5EA4BAD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038725"/>
            <a:ext cx="104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99" name="left-object-state">
            <a:extLst xmlns:a="http://schemas.openxmlformats.org/drawingml/2006/main">
              <a:ext uri="{FF2B5EF4-FFF2-40B4-BE49-F238E27FC236}">
                <a16:creationId xmlns:a16="http://schemas.microsoft.com/office/drawing/2014/main" id="{447F83B8-3BD3-4206-BE82-A73546EB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51625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0" name="left-object-subscript">
            <a:extLst xmlns:a="http://schemas.openxmlformats.org/drawingml/2006/main">
              <a:ext uri="{FF2B5EF4-FFF2-40B4-BE49-F238E27FC236}">
                <a16:creationId xmlns:a16="http://schemas.microsoft.com/office/drawing/2014/main" id="{AE4BC473-96AF-47FC-AD9A-F6EF111D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" y="5276850"/>
            <a:ext cx="104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01" name="left-object-index">
            <a:extLst xmlns:a="http://schemas.openxmlformats.org/drawingml/2006/main">
              <a:ext uri="{FF2B5EF4-FFF2-40B4-BE49-F238E27FC236}">
                <a16:creationId xmlns:a16="http://schemas.microsoft.com/office/drawing/2014/main" id="{52A885D9-B3F4-4616-B420-D05E85D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51339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102" name="left-indicator">
            <a:extLst xmlns:a="http://schemas.openxmlformats.org/drawingml/2006/main">
              <a:ext uri="{FF2B5EF4-FFF2-40B4-BE49-F238E27FC236}">
                <a16:creationId xmlns:a16="http://schemas.microsoft.com/office/drawing/2014/main" id="{93791974-9881-4370-B953-DC8FAAF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419725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3" name="left-indicator-subscript">
            <a:extLst xmlns:a="http://schemas.openxmlformats.org/drawingml/2006/main">
              <a:ext uri="{FF2B5EF4-FFF2-40B4-BE49-F238E27FC236}">
                <a16:creationId xmlns:a16="http://schemas.microsoft.com/office/drawing/2014/main" id="{ED97394A-D964-4BDB-9A72-457DE55F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5435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</a:t>
            </a:r>
          </a:p>
        </p:txBody>
      </p:sp>
      <p:sp>
        <p:nvSpPr>
          <p:cNvPr id="104" name="left-indicator-index">
            <a:extLst xmlns:a="http://schemas.openxmlformats.org/drawingml/2006/main">
              <a:ext uri="{FF2B5EF4-FFF2-40B4-BE49-F238E27FC236}">
                <a16:creationId xmlns:a16="http://schemas.microsoft.com/office/drawing/2014/main" id="{624219E4-000D-409E-BE03-6D82B6A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3816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105" name="left-weight">
            <a:extLst xmlns:a="http://schemas.openxmlformats.org/drawingml/2006/main">
              <a:ext uri="{FF2B5EF4-FFF2-40B4-BE49-F238E27FC236}">
                <a16:creationId xmlns:a16="http://schemas.microsoft.com/office/drawing/2014/main" id="{400AD7E0-1A2E-4450-B113-BD6F356A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56578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06" name="right-robot-state">
            <a:extLst xmlns:a="http://schemas.openxmlformats.org/drawingml/2006/main">
              <a:ext uri="{FF2B5EF4-FFF2-40B4-BE49-F238E27FC236}">
                <a16:creationId xmlns:a16="http://schemas.microsoft.com/office/drawing/2014/main" id="{B52F3225-BC82-4ADC-A901-81F3FB36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525" y="4905375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7" name="right-robot-subscript">
            <a:extLst xmlns:a="http://schemas.openxmlformats.org/drawingml/2006/main">
              <a:ext uri="{FF2B5EF4-FFF2-40B4-BE49-F238E27FC236}">
                <a16:creationId xmlns:a16="http://schemas.microsoft.com/office/drawing/2014/main" id="{1AF51C14-F56D-446B-A32D-208FE13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5038725"/>
            <a:ext cx="104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08" name="right-object-state">
            <a:extLst xmlns:a="http://schemas.openxmlformats.org/drawingml/2006/main">
              <a:ext uri="{FF2B5EF4-FFF2-40B4-BE49-F238E27FC236}">
                <a16:creationId xmlns:a16="http://schemas.microsoft.com/office/drawing/2014/main" id="{652A4F43-CB87-46F7-B4E8-95F49F4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1625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9" name="right-object-subscript">
            <a:extLst xmlns:a="http://schemas.openxmlformats.org/drawingml/2006/main">
              <a:ext uri="{FF2B5EF4-FFF2-40B4-BE49-F238E27FC236}">
                <a16:creationId xmlns:a16="http://schemas.microsoft.com/office/drawing/2014/main" id="{D0E7F86F-9F1F-44F5-99BD-BECF8B4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276850"/>
            <a:ext cx="104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10" name="right-object-index">
            <a:extLst xmlns:a="http://schemas.openxmlformats.org/drawingml/2006/main">
              <a:ext uri="{FF2B5EF4-FFF2-40B4-BE49-F238E27FC236}">
                <a16:creationId xmlns:a16="http://schemas.microsoft.com/office/drawing/2014/main" id="{EBD6FFB1-BC65-4034-9B77-0930F0A2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51339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(M)</a:t>
            </a:r>
          </a:p>
        </p:txBody>
      </p:sp>
      <p:sp>
        <p:nvSpPr>
          <p:cNvPr id="111" name="right-indicator">
            <a:extLst xmlns:a="http://schemas.openxmlformats.org/drawingml/2006/main">
              <a:ext uri="{FF2B5EF4-FFF2-40B4-BE49-F238E27FC236}">
                <a16:creationId xmlns:a16="http://schemas.microsoft.com/office/drawing/2014/main" id="{63D97230-A465-43D5-86EE-A0ACF70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5419725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12" name="right-indicator-subscript">
            <a:extLst xmlns:a="http://schemas.openxmlformats.org/drawingml/2006/main">
              <a:ext uri="{FF2B5EF4-FFF2-40B4-BE49-F238E27FC236}">
                <a16:creationId xmlns:a16="http://schemas.microsoft.com/office/drawing/2014/main" id="{5C7522A2-8A76-4232-A943-D0349CA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5435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</a:t>
            </a:r>
          </a:p>
        </p:txBody>
      </p:sp>
      <p:sp>
        <p:nvSpPr>
          <p:cNvPr id="113" name="right-indicator-index">
            <a:extLst xmlns:a="http://schemas.openxmlformats.org/drawingml/2006/main">
              <a:ext uri="{FF2B5EF4-FFF2-40B4-BE49-F238E27FC236}">
                <a16:creationId xmlns:a16="http://schemas.microsoft.com/office/drawing/2014/main" id="{96FB946F-62DE-477C-A4C4-2020076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53816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(M)</a:t>
            </a:r>
          </a:p>
        </p:txBody>
      </p:sp>
      <p:sp>
        <p:nvSpPr>
          <p:cNvPr id="114" name="right-weight">
            <a:extLst xmlns:a="http://schemas.openxmlformats.org/drawingml/2006/main">
              <a:ext uri="{FF2B5EF4-FFF2-40B4-BE49-F238E27FC236}">
                <a16:creationId xmlns:a16="http://schemas.microsoft.com/office/drawing/2014/main" id="{5B6F11DC-F38F-474B-A449-38F420F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6578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15" name="inputs-ellipsis">
            <a:extLst xmlns:a="http://schemas.openxmlformats.org/drawingml/2006/main">
              <a:ext uri="{FF2B5EF4-FFF2-40B4-BE49-F238E27FC236}">
                <a16:creationId xmlns:a16="http://schemas.microsoft.com/office/drawing/2014/main" id="{8D50461A-9203-4E89-99C9-9DEC36C1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1911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16" name="policy-title">
            <a:extLst xmlns:a="http://schemas.openxmlformats.org/drawingml/2006/main">
              <a:ext uri="{FF2B5EF4-FFF2-40B4-BE49-F238E27FC236}">
                <a16:creationId xmlns:a16="http://schemas.microsoft.com/office/drawing/2014/main" id="{DA38EA56-F033-4129-93F8-77F0CB8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57150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17" name="policy-distribution">
            <a:extLst xmlns:a="http://schemas.openxmlformats.org/drawingml/2006/main">
              <a:ext uri="{FF2B5EF4-FFF2-40B4-BE49-F238E27FC236}">
                <a16:creationId xmlns:a16="http://schemas.microsoft.com/office/drawing/2014/main" id="{65FCB84C-9E1C-4DDB-ABD7-FE74F083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67627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π(a|s,w,z)</a:t>
            </a:r>
          </a:p>
        </p:txBody>
      </p:sp>
      <p:sp>
        <p:nvSpPr>
          <p:cNvPr id="118" name="policy-parameters">
            <a:extLst xmlns:a="http://schemas.openxmlformats.org/drawingml/2006/main">
              <a:ext uri="{FF2B5EF4-FFF2-40B4-BE49-F238E27FC236}">
                <a16:creationId xmlns:a16="http://schemas.microsoft.com/office/drawing/2014/main" id="{5844F740-1DA2-40A8-9909-A1BB66D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127635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μ,σ</a:t>
            </a:r>
          </a:p>
        </p:txBody>
      </p:sp>
      <p:sp>
        <p:nvSpPr>
          <p:cNvPr id="119" name="policy-output">
            <a:extLst xmlns:a="http://schemas.openxmlformats.org/drawingml/2006/main">
              <a:ext uri="{FF2B5EF4-FFF2-40B4-BE49-F238E27FC236}">
                <a16:creationId xmlns:a16="http://schemas.microsoft.com/office/drawing/2014/main" id="{1F1DFF6F-CF2A-4750-8B11-566E497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038225"/>
            <a:ext cx="953" cy="228600"/>
          </a:xfrm>
          <a:custGeom xmlns:a="http://schemas.openxmlformats.org/drawingml/2006/main">
            <a:pathLst>
              <a:path w="953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000000"/>
            </a:solidFill>
            <a:prstDash val="solid"/>
          </a:ln>
        </p:spPr>
      </p:sp>
      <p:sp>
        <p:nvSpPr>
          <p:cNvPr id="120" name="policy-output-arrow">
            <a:extLst xmlns:a="http://schemas.openxmlformats.org/drawingml/2006/main">
              <a:ext uri="{FF2B5EF4-FFF2-40B4-BE49-F238E27FC236}">
                <a16:creationId xmlns:a16="http://schemas.microsoft.com/office/drawing/2014/main" id="{9EB602C1-FF30-4030-8C4F-70C8054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186" y="103822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1" name="parameters-output">
            <a:extLst xmlns:a="http://schemas.openxmlformats.org/drawingml/2006/main">
              <a:ext uri="{FF2B5EF4-FFF2-40B4-BE49-F238E27FC236}">
                <a16:creationId xmlns:a16="http://schemas.microsoft.com/office/drawing/2014/main" id="{225111A1-D32C-48EE-BE25-22532D98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590675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000000"/>
            </a:solidFill>
            <a:prstDash val="solid"/>
          </a:ln>
        </p:spPr>
      </p:sp>
      <p:sp>
        <p:nvSpPr>
          <p:cNvPr id="122" name="parameters-output-arrow">
            <a:extLst xmlns:a="http://schemas.openxmlformats.org/drawingml/2006/main">
              <a:ext uri="{FF2B5EF4-FFF2-40B4-BE49-F238E27FC236}">
                <a16:creationId xmlns:a16="http://schemas.microsoft.com/office/drawing/2014/main" id="{1EBEB9EF-27E1-4E2B-8A51-39C8140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186" y="1590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3" name="mixture-join">
            <a:extLst xmlns:a="http://schemas.openxmlformats.org/drawingml/2006/main">
              <a:ext uri="{FF2B5EF4-FFF2-40B4-BE49-F238E27FC236}">
                <a16:creationId xmlns:a16="http://schemas.microsoft.com/office/drawing/2014/main" id="{A0329C03-166D-4A61-BA4B-1C46ECF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1781175"/>
            <a:ext cx="1581150" cy="209550"/>
          </a:xfrm>
          <a:custGeom xmlns:a="http://schemas.openxmlformats.org/drawingml/2006/main">
            <a:pathLst>
              <a:path w="1581150" h="209550">
                <a:moveTo>
                  <a:pt x="0" y="209550"/>
                </a:moveTo>
                <a:lnTo>
                  <a:pt x="0" y="0"/>
                </a:lnTo>
                <a:lnTo>
                  <a:pt x="1581150" y="0"/>
                </a:lnTo>
                <a:lnTo>
                  <a:pt x="15811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0000"/>
            </a:solidFill>
            <a:prstDash val="solid"/>
          </a:ln>
        </p:spPr>
      </p:sp>
      <p:sp>
        <p:nvSpPr>
          <p:cNvPr id="124" name="primitives">
            <a:extLst xmlns:a="http://schemas.openxmlformats.org/drawingml/2006/main">
              <a:ext uri="{FF2B5EF4-FFF2-40B4-BE49-F238E27FC236}">
                <a16:creationId xmlns:a16="http://schemas.microsoft.com/office/drawing/2014/main" id="{FBE6E24B-568E-4FEC-A896-2E8AA7B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2775" y="197167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πᵢ(a|φ(s,w))</a:t>
            </a:r>
          </a:p>
        </p:txBody>
      </p:sp>
      <p:sp>
        <p:nvSpPr>
          <p:cNvPr id="125" name="primitive-index">
            <a:extLst xmlns:a="http://schemas.openxmlformats.org/drawingml/2006/main">
              <a:ext uri="{FF2B5EF4-FFF2-40B4-BE49-F238E27FC236}">
                <a16:creationId xmlns:a16="http://schemas.microsoft.com/office/drawing/2014/main" id="{C160C02D-383D-4287-9E4E-A8839155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2209800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 = 1, ... N)</a:t>
            </a:r>
          </a:p>
        </p:txBody>
      </p:sp>
      <p:sp>
        <p:nvSpPr>
          <p:cNvPr id="126" name="gating-weights">
            <a:extLst xmlns:a="http://schemas.openxmlformats.org/drawingml/2006/main">
              <a:ext uri="{FF2B5EF4-FFF2-40B4-BE49-F238E27FC236}">
                <a16:creationId xmlns:a16="http://schemas.microsoft.com/office/drawing/2014/main" id="{C56415C5-B7DB-4C5A-879B-1EDCB9D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1971675"/>
            <a:ext cx="137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Wᵢ(φ(s,w),z)</a:t>
            </a:r>
          </a:p>
        </p:txBody>
      </p:sp>
      <p:sp>
        <p:nvSpPr>
          <p:cNvPr id="127" name="policy-mlp-to-join">
            <a:extLst xmlns:a="http://schemas.openxmlformats.org/drawingml/2006/main">
              <a:ext uri="{FF2B5EF4-FFF2-40B4-BE49-F238E27FC236}">
                <a16:creationId xmlns:a16="http://schemas.microsoft.com/office/drawing/2014/main" id="{9B4E8D42-DEB9-4DC7-982F-B30C343F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2305050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8" name="policy-mlp-to-join-arrow">
            <a:extLst xmlns:a="http://schemas.openxmlformats.org/drawingml/2006/main">
              <a:ext uri="{FF2B5EF4-FFF2-40B4-BE49-F238E27FC236}">
                <a16:creationId xmlns:a16="http://schemas.microsoft.com/office/drawing/2014/main" id="{EC489ED3-8F75-4CBE-B52C-0A6CC9A4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3711" y="23050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9" name="gating-to-join">
            <a:extLst xmlns:a="http://schemas.openxmlformats.org/drawingml/2006/main">
              <a:ext uri="{FF2B5EF4-FFF2-40B4-BE49-F238E27FC236}">
                <a16:creationId xmlns:a16="http://schemas.microsoft.com/office/drawing/2014/main" id="{D8668116-03F5-4B70-87CC-F68DEAB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2305050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30" name="gating-to-join-arrow">
            <a:extLst xmlns:a="http://schemas.openxmlformats.org/drawingml/2006/main">
              <a:ext uri="{FF2B5EF4-FFF2-40B4-BE49-F238E27FC236}">
                <a16:creationId xmlns:a16="http://schemas.microsoft.com/office/drawing/2014/main" id="{E00C98B9-BE9E-4B06-83C3-4ACAA85D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386" y="23050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1" name="encoder-output">
            <a:extLst xmlns:a="http://schemas.openxmlformats.org/drawingml/2006/main">
              <a:ext uri="{FF2B5EF4-FFF2-40B4-BE49-F238E27FC236}">
                <a16:creationId xmlns:a16="http://schemas.microsoft.com/office/drawing/2014/main" id="{095B1AEB-6F36-4908-A2BE-5FB584EE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3114675"/>
            <a:ext cx="953" cy="819150"/>
          </a:xfrm>
          <a:custGeom xmlns:a="http://schemas.openxmlformats.org/drawingml/2006/main">
            <a:pathLst>
              <a:path w="953" h="819150">
                <a:moveTo>
                  <a:pt x="0" y="819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32" name="encoder-output-arrow">
            <a:extLst xmlns:a="http://schemas.openxmlformats.org/drawingml/2006/main">
              <a:ext uri="{FF2B5EF4-FFF2-40B4-BE49-F238E27FC236}">
                <a16:creationId xmlns:a16="http://schemas.microsoft.com/office/drawing/2014/main" id="{C9CD473F-8207-48A6-ABAC-ECB03D64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3711" y="3114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3" name="encoded-to-gating">
            <a:extLst xmlns:a="http://schemas.openxmlformats.org/drawingml/2006/main">
              <a:ext uri="{FF2B5EF4-FFF2-40B4-BE49-F238E27FC236}">
                <a16:creationId xmlns:a16="http://schemas.microsoft.com/office/drawing/2014/main" id="{711DFAC2-FB38-4A77-A599-779773D2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3114675"/>
            <a:ext cx="1600200" cy="409575"/>
          </a:xfrm>
          <a:custGeom xmlns:a="http://schemas.openxmlformats.org/drawingml/2006/main">
            <a:pathLst>
              <a:path w="1600200" h="409575">
                <a:moveTo>
                  <a:pt x="0" y="409575"/>
                </a:moveTo>
                <a:lnTo>
                  <a:pt x="1600200" y="409575"/>
                </a:ln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34" name="encoded-to-gating-arrow">
            <a:extLst xmlns:a="http://schemas.openxmlformats.org/drawingml/2006/main">
              <a:ext uri="{FF2B5EF4-FFF2-40B4-BE49-F238E27FC236}">
                <a16:creationId xmlns:a16="http://schemas.microsoft.com/office/drawing/2014/main" id="{397F8418-6517-4F1D-9BDF-A6045731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3911" y="3114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5" name="z-to-gating">
            <a:extLst xmlns:a="http://schemas.openxmlformats.org/drawingml/2006/main">
              <a:ext uri="{FF2B5EF4-FFF2-40B4-BE49-F238E27FC236}">
                <a16:creationId xmlns:a16="http://schemas.microsoft.com/office/drawing/2014/main" id="{4A310BCA-6BAD-4323-BFA4-2D5C0960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114675"/>
            <a:ext cx="953" cy="495300"/>
          </a:xfrm>
          <a:custGeom xmlns:a="http://schemas.openxmlformats.org/drawingml/2006/main">
            <a:pathLst>
              <a:path w="953" h="495300">
                <a:moveTo>
                  <a:pt x="0" y="495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36" name="z-to-gating-arrow">
            <a:extLst xmlns:a="http://schemas.openxmlformats.org/drawingml/2006/main">
              <a:ext uri="{FF2B5EF4-FFF2-40B4-BE49-F238E27FC236}">
                <a16:creationId xmlns:a16="http://schemas.microsoft.com/office/drawing/2014/main" id="{9F8B9F8E-B571-4ADF-994D-2256B32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5836" y="3114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7" name="encoded-tensor-top">
            <a:extLst xmlns:a="http://schemas.openxmlformats.org/drawingml/2006/main">
              <a:ext uri="{FF2B5EF4-FFF2-40B4-BE49-F238E27FC236}">
                <a16:creationId xmlns:a16="http://schemas.microsoft.com/office/drawing/2014/main" id="{4FFACEC0-9A0B-4EA2-97A5-7B87F8F2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609975"/>
            <a:ext cx="781050" cy="57150"/>
          </a:xfrm>
          <a:custGeom xmlns:a="http://schemas.openxmlformats.org/drawingml/2006/main">
            <a:pathLst>
              <a:path w="781050" h="57150">
                <a:moveTo>
                  <a:pt x="0" y="0"/>
                </a:moveTo>
                <a:lnTo>
                  <a:pt x="95250" y="57150"/>
                </a:lnTo>
                <a:lnTo>
                  <a:pt x="781050" y="57150"/>
                </a:lnTo>
                <a:lnTo>
                  <a:pt x="685800" y="0"/>
                </a:lnTo>
                <a:close/>
              </a:path>
            </a:pathLst>
          </a:custGeom>
          <a:solidFill xmlns:a="http://schemas.openxmlformats.org/drawingml/2006/main">
            <a:srgbClr val="D8DDE2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</p:sp>
      <p:sp>
        <p:nvSpPr>
          <p:cNvPr id="138" name="encoded-tensor-left">
            <a:extLst xmlns:a="http://schemas.openxmlformats.org/drawingml/2006/main">
              <a:ext uri="{FF2B5EF4-FFF2-40B4-BE49-F238E27FC236}">
                <a16:creationId xmlns:a16="http://schemas.microsoft.com/office/drawing/2014/main" id="{2D683990-BF95-4DEA-9069-F2549E7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609975"/>
            <a:ext cx="95250" cy="190500"/>
          </a:xfrm>
          <a:custGeom xmlns:a="http://schemas.openxmlformats.org/drawingml/2006/main">
            <a:pathLst>
              <a:path w="95250" h="190500">
                <a:moveTo>
                  <a:pt x="0" y="0"/>
                </a:moveTo>
                <a:lnTo>
                  <a:pt x="95250" y="57150"/>
                </a:lnTo>
                <a:lnTo>
                  <a:pt x="95250" y="1905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BEC7D1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</p:sp>
      <p:sp>
        <p:nvSpPr>
          <p:cNvPr id="139" name="encoded-tensor-front">
            <a:extLst xmlns:a="http://schemas.openxmlformats.org/drawingml/2006/main">
              <a:ext uri="{FF2B5EF4-FFF2-40B4-BE49-F238E27FC236}">
                <a16:creationId xmlns:a16="http://schemas.microsoft.com/office/drawing/2014/main" id="{99F07846-1C77-488A-BE7F-8E63782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36671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z-tensor-top">
            <a:extLst xmlns:a="http://schemas.openxmlformats.org/drawingml/2006/main">
              <a:ext uri="{FF2B5EF4-FFF2-40B4-BE49-F238E27FC236}">
                <a16:creationId xmlns:a16="http://schemas.microsoft.com/office/drawing/2014/main" id="{F3825D78-5C82-4A36-99B7-5492C1D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657600"/>
            <a:ext cx="781050" cy="57150"/>
          </a:xfrm>
          <a:custGeom xmlns:a="http://schemas.openxmlformats.org/drawingml/2006/main">
            <a:pathLst>
              <a:path w="781050" h="57150">
                <a:moveTo>
                  <a:pt x="0" y="0"/>
                </a:moveTo>
                <a:lnTo>
                  <a:pt x="95250" y="57150"/>
                </a:lnTo>
                <a:lnTo>
                  <a:pt x="781050" y="57150"/>
                </a:lnTo>
                <a:lnTo>
                  <a:pt x="685800" y="0"/>
                </a:lnTo>
                <a:close/>
              </a:path>
            </a:pathLst>
          </a:custGeom>
          <a:solidFill xmlns:a="http://schemas.openxmlformats.org/drawingml/2006/main">
            <a:srgbClr val="D8DDE2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</p:sp>
      <p:sp>
        <p:nvSpPr>
          <p:cNvPr id="141" name="z-tensor-left">
            <a:extLst xmlns:a="http://schemas.openxmlformats.org/drawingml/2006/main">
              <a:ext uri="{FF2B5EF4-FFF2-40B4-BE49-F238E27FC236}">
                <a16:creationId xmlns:a16="http://schemas.microsoft.com/office/drawing/2014/main" id="{68786B34-FC6C-496D-B092-A2F6B1E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657600"/>
            <a:ext cx="95250" cy="190500"/>
          </a:xfrm>
          <a:custGeom xmlns:a="http://schemas.openxmlformats.org/drawingml/2006/main">
            <a:pathLst>
              <a:path w="95250" h="190500">
                <a:moveTo>
                  <a:pt x="0" y="0"/>
                </a:moveTo>
                <a:lnTo>
                  <a:pt x="95250" y="57150"/>
                </a:lnTo>
                <a:lnTo>
                  <a:pt x="95250" y="1905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BEC7D1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</p:sp>
      <p:sp>
        <p:nvSpPr>
          <p:cNvPr id="142" name="z-tensor-front">
            <a:extLst xmlns:a="http://schemas.openxmlformats.org/drawingml/2006/main">
              <a:ext uri="{FF2B5EF4-FFF2-40B4-BE49-F238E27FC236}">
                <a16:creationId xmlns:a16="http://schemas.microsoft.com/office/drawing/2014/main" id="{9C3B8875-0D8E-410B-81A6-2392271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37147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9525">
            <a:solidFill>
              <a:srgbClr val="7A8CA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encoded-feature">
            <a:extLst xmlns:a="http://schemas.openxmlformats.org/drawingml/2006/main">
              <a:ext uri="{FF2B5EF4-FFF2-40B4-BE49-F238E27FC236}">
                <a16:creationId xmlns:a16="http://schemas.microsoft.com/office/drawing/2014/main" id="{48D400A9-60A5-411C-BE5C-20CF7A9D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35718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φ(s,w)</a:t>
            </a:r>
          </a:p>
        </p:txBody>
      </p:sp>
      <p:sp>
        <p:nvSpPr>
          <p:cNvPr id="144" name="latent-z">
            <a:extLst xmlns:a="http://schemas.openxmlformats.org/drawingml/2006/main">
              <a:ext uri="{FF2B5EF4-FFF2-40B4-BE49-F238E27FC236}">
                <a16:creationId xmlns:a16="http://schemas.microsoft.com/office/drawing/2014/main" id="{3A41B3E4-1C03-42A5-BDB9-8A99FC0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38576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45" name="gating-feature-input">
            <a:extLst xmlns:a="http://schemas.openxmlformats.org/drawingml/2006/main">
              <a:ext uri="{FF2B5EF4-FFF2-40B4-BE49-F238E27FC236}">
                <a16:creationId xmlns:a16="http://schemas.microsoft.com/office/drawing/2014/main" id="{3210CF15-A024-437C-A807-FA3E8EC2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57187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6" name="gating-feature-input-arrow">
            <a:extLst xmlns:a="http://schemas.openxmlformats.org/drawingml/2006/main">
              <a:ext uri="{FF2B5EF4-FFF2-40B4-BE49-F238E27FC236}">
                <a16:creationId xmlns:a16="http://schemas.microsoft.com/office/drawing/2014/main" id="{22C1E085-93FE-4365-A2E8-2D893C9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1736" y="35718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7" name="gating-z-input">
            <a:extLst xmlns:a="http://schemas.openxmlformats.org/drawingml/2006/main">
              <a:ext uri="{FF2B5EF4-FFF2-40B4-BE49-F238E27FC236}">
                <a16:creationId xmlns:a16="http://schemas.microsoft.com/office/drawing/2014/main" id="{50D57765-CE2C-4868-954F-E86C6C3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25" y="357187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8" name="gating-z-input-arrow">
            <a:extLst xmlns:a="http://schemas.openxmlformats.org/drawingml/2006/main">
              <a:ext uri="{FF2B5EF4-FFF2-40B4-BE49-F238E27FC236}">
                <a16:creationId xmlns:a16="http://schemas.microsoft.com/office/drawing/2014/main" id="{FCB5BE25-65AB-449C-BF62-246E4565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4311" y="35718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9" name="gating-feature">
            <a:extLst xmlns:a="http://schemas.openxmlformats.org/drawingml/2006/main">
              <a:ext uri="{FF2B5EF4-FFF2-40B4-BE49-F238E27FC236}">
                <a16:creationId xmlns:a16="http://schemas.microsoft.com/office/drawing/2014/main" id="{D1D6041F-9485-4216-8D87-C59DE831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3733800"/>
            <a:ext cx="828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φ(s,w)</a:t>
            </a:r>
          </a:p>
        </p:txBody>
      </p:sp>
      <p:sp>
        <p:nvSpPr>
          <p:cNvPr id="150" name="gating-latent">
            <a:extLst xmlns:a="http://schemas.openxmlformats.org/drawingml/2006/main">
              <a:ext uri="{FF2B5EF4-FFF2-40B4-BE49-F238E27FC236}">
                <a16:creationId xmlns:a16="http://schemas.microsoft.com/office/drawing/2014/main" id="{1ACEC3F1-EB17-4426-B2B4-8B252F3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6775" y="373380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51" name="gating-input-join">
            <a:extLst xmlns:a="http://schemas.openxmlformats.org/drawingml/2006/main">
              <a:ext uri="{FF2B5EF4-FFF2-40B4-BE49-F238E27FC236}">
                <a16:creationId xmlns:a16="http://schemas.microsoft.com/office/drawing/2014/main" id="{0FD3A678-7F1D-48D6-8C00-405B1936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847975"/>
            <a:ext cx="1552575" cy="133350"/>
          </a:xfrm>
          <a:custGeom xmlns:a="http://schemas.openxmlformats.org/drawingml/2006/main">
            <a:pathLst>
              <a:path w="1552575" h="133350">
                <a:moveTo>
                  <a:pt x="0" y="133350"/>
                </a:moveTo>
                <a:lnTo>
                  <a:pt x="0" y="0"/>
                </a:lnTo>
                <a:lnTo>
                  <a:pt x="1552575" y="0"/>
                </a:lnTo>
                <a:lnTo>
                  <a:pt x="15525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52" name="gating-joined-final">
            <a:extLst xmlns:a="http://schemas.openxmlformats.org/drawingml/2006/main">
              <a:ext uri="{FF2B5EF4-FFF2-40B4-BE49-F238E27FC236}">
                <a16:creationId xmlns:a16="http://schemas.microsoft.com/office/drawing/2014/main" id="{F610142D-0F00-48F7-8B8C-92BAF1A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7336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53" name="gating-joined-final-arrow">
            <a:extLst xmlns:a="http://schemas.openxmlformats.org/drawingml/2006/main">
              <a:ext uri="{FF2B5EF4-FFF2-40B4-BE49-F238E27FC236}">
                <a16:creationId xmlns:a16="http://schemas.microsoft.com/office/drawing/2014/main" id="{FAB4C1F6-C0A3-474E-B21B-0E38CD7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686" y="27336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4" name="gating-final-output">
            <a:extLst xmlns:a="http://schemas.openxmlformats.org/drawingml/2006/main">
              <a:ext uri="{FF2B5EF4-FFF2-40B4-BE49-F238E27FC236}">
                <a16:creationId xmlns:a16="http://schemas.microsoft.com/office/drawing/2014/main" id="{64DC7F13-F5EA-4D99-9DDE-4AB8A98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838325"/>
            <a:ext cx="953" cy="314325"/>
          </a:xfrm>
          <a:custGeom xmlns:a="http://schemas.openxmlformats.org/drawingml/2006/main">
            <a:pathLst>
              <a:path w="953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55" name="gating-final-output-arrow">
            <a:extLst xmlns:a="http://schemas.openxmlformats.org/drawingml/2006/main">
              <a:ext uri="{FF2B5EF4-FFF2-40B4-BE49-F238E27FC236}">
                <a16:creationId xmlns:a16="http://schemas.microsoft.com/office/drawing/2014/main" id="{A1DB63E3-20B6-40B1-8161-AD28CFF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686" y="183832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0"/>
                </a:moveTo>
                <a:lnTo>
                  <a:pt x="71628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9924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2026-10-09T20:43:25.2580000Z</dcterms:created>
  <dcterms:modified xsi:type="dcterms:W3CDTF">2026-10-09T20:43:25.2580000Z</dcterms:modified>
</coreProperties>
</file>