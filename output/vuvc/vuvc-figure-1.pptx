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236c3b09041ef" /><Relationship Type="http://schemas.openxmlformats.org/officeDocument/2006/relationships/extended-properties" Target="/docProps/app.xml" Id="R1e2c97d7044d4b57" /><Relationship Type="http://schemas.openxmlformats.org/officeDocument/2006/relationships/officeDocument" Target="/ppt/presentation.xml" Id="R31aa6bb4c7c64a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19fbb016104b8d"/>
  </p:sldMasterIdLst>
  <p:notesMasterIdLst>
    <p:notesMasterId xmlns:r="http://schemas.openxmlformats.org/officeDocument/2006/relationships" r:id="R8f62c4421e93400f"/>
  </p:notesMasterIdLst>
  <p:sldIdLst>
    <p:sldId xmlns:r="http://schemas.openxmlformats.org/officeDocument/2006/relationships" id="256" r:id="R02d1c58183fb45da"/>
  </p:sldIdLst>
  <p:sldSz cx="180594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e844df9cf43d0" /><Relationship Type="http://schemas.openxmlformats.org/officeDocument/2006/relationships/slideMaster" Target="/ppt/slideMasters/slideMaster1.xml" Id="R0d19fbb016104b8d" /><Relationship Type="http://schemas.openxmlformats.org/officeDocument/2006/relationships/notesMaster" Target="/ppt/notesMasters/notesMaster1.xml" Id="R8f62c4421e93400f" /><Relationship Type="http://schemas.openxmlformats.org/officeDocument/2006/relationships/presProps" Target="/ppt/presProps.xml" Id="R5cc67f23131b4bcf" /><Relationship Type="http://schemas.openxmlformats.org/officeDocument/2006/relationships/tableStyles" Target="/ppt/tableStyles.xml" Id="R23b39e942e404024" /><Relationship Type="http://schemas.openxmlformats.org/officeDocument/2006/relationships/slide" Target="/ppt/slides/slide1.xml" Id="R02d1c58183fb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3b802313b41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2a7adad174d3a" /><Relationship Type="http://schemas.openxmlformats.org/officeDocument/2006/relationships/notesMaster" Target="/ppt/notesMasters/notesMaster1.xml" Id="R32a24219722e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"Variational Curriculum Reinforcement Learning for Unsupervised Discovery of Skills",</a:t>
            </a:r>
          </a:p>
          <a:p xmlns:a="http://schemas.openxmlformats.org/drawingml/2006/main">
            <a:r>
              <a:t>  "paper_url": "https://arxiv.org/abs/2310.19424v1",</a:t>
            </a:r>
          </a:p>
          <a:p xmlns:a="http://schemas.openxmlformats.org/drawingml/2006/main">
            <a:r>
              <a:t>  "pdf_url": "https://arxiv.org/pdf/2310.19424v1",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"http://creativecommons.org/licenses/by/4.0/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Seven small original raster crops retain three robot-goal renderings and four decorative icons; all chart curves, axes, bars, panels, arrows and ordinary/formula labels are native. Tiny angle captions on photo backgrounds are overlaid with live native text. Mathematical text uses Unicode rather than live equation objects.",</a:t>
            </a:r>
          </a:p>
          <a:p xmlns:a="http://schemas.openxmlformats.org/drawingml/2006/main">
            <a:r>
              <a:t>  "source_sha256": "46cbfad2918167415f1ba90e81735de425a6e9213af9762713e3b4e82fc0e68a",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65,</a:t>
            </a:r>
          </a:p>
          <a:p xmlns:a="http://schemas.openxmlformats.org/drawingml/2006/main">
            <a:r>
              <a:t>    535,</a:t>
            </a:r>
          </a:p>
          <a:p xmlns:a="http://schemas.openxmlformats.org/drawingml/2006/main">
            <a:r>
              <a:t>    260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"Initial survey right488pt enlarged to535pt to include Update theta / Equation 5 feedback label.",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"target-icon",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194,</a:t>
            </a:r>
          </a:p>
          <a:p xmlns:a="http://schemas.openxmlformats.org/drawingml/2006/main">
            <a:r>
              <a:t>        271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target-and-pencil decorative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"robot-icon",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1488,</a:t>
            </a:r>
          </a:p>
          <a:p xmlns:a="http://schemas.openxmlformats.org/drawingml/2006/main">
            <a:r>
              <a:t>        30,</a:t>
            </a:r>
          </a:p>
          <a:p xmlns:a="http://schemas.openxmlformats.org/drawingml/2006/main">
            <a:r>
              <a:t>        1584,</a:t>
            </a:r>
          </a:p>
          <a:p xmlns:a="http://schemas.openxmlformats.org/drawingml/2006/main">
            <a:r>
              <a:t>        179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decorative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"earth-icon",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1460,</a:t>
            </a:r>
          </a:p>
          <a:p xmlns:a="http://schemas.openxmlformats.org/drawingml/2006/main">
            <a:r>
              <a:t>        301,</a:t>
            </a:r>
          </a:p>
          <a:p xmlns:a="http://schemas.openxmlformats.org/drawingml/2006/main">
            <a:r>
              <a:t>        1611,</a:t>
            </a:r>
          </a:p>
          <a:p xmlns:a="http://schemas.openxmlformats.org/drawingml/2006/main">
            <a:r>
              <a:t>        451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globe decorative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"scales-icon",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1460,</a:t>
            </a:r>
          </a:p>
          <a:p xmlns:a="http://schemas.openxmlformats.org/drawingml/2006/main">
            <a:r>
              <a:t>        613,</a:t>
            </a:r>
          </a:p>
          <a:p xmlns:a="http://schemas.openxmlformats.org/drawingml/2006/main">
            <a:r>
              <a:t>        1611,</a:t>
            </a:r>
          </a:p>
          <a:p xmlns:a="http://schemas.openxmlformats.org/drawingml/2006/main">
            <a:r>
              <a:t>        750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balance-scale decorative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"goal15",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251,</a:t>
            </a:r>
          </a:p>
          <a:p xmlns:a="http://schemas.openxmlformats.org/drawingml/2006/main">
            <a:r>
              <a:t>        369,</a:t>
            </a:r>
          </a:p>
          <a:p xmlns:a="http://schemas.openxmlformats.org/drawingml/2006/main">
            <a:r>
              <a:t>        416,</a:t>
            </a:r>
          </a:p>
          <a:p xmlns:a="http://schemas.openxmlformats.org/drawingml/2006/main">
            <a:r>
              <a:t>        534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and drawer simulation goal rendering; small angle caption covered by native editable label"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"goal0",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471,</a:t>
            </a:r>
          </a:p>
          <a:p xmlns:a="http://schemas.openxmlformats.org/drawingml/2006/main">
            <a:r>
              <a:t>        369,</a:t>
            </a:r>
          </a:p>
          <a:p xmlns:a="http://schemas.openxmlformats.org/drawingml/2006/main">
            <a:r>
              <a:t>        636,</a:t>
            </a:r>
          </a:p>
          <a:p xmlns:a="http://schemas.openxmlformats.org/drawingml/2006/main">
            <a:r>
              <a:t>        534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and drawer simulation goal rendering; small angle caption covered by native editable label"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"goal60",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757,</a:t>
            </a:r>
          </a:p>
          <a:p xmlns:a="http://schemas.openxmlformats.org/drawingml/2006/main">
            <a:r>
              <a:t>        369,</a:t>
            </a:r>
          </a:p>
          <a:p xmlns:a="http://schemas.openxmlformats.org/drawingml/2006/main">
            <a:r>
              <a:t>        922,</a:t>
            </a:r>
          </a:p>
          <a:p xmlns:a="http://schemas.openxmlformats.org/drawingml/2006/main">
            <a:r>
              <a:t>        534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and drawer simulation goal rendering; small angle caption covered by native editable label"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0453811134b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b1cbe2d8c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96ba4b52246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c8b8ba81d44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c2c23710c4d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1e9b282a4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B57C9-B9EA-4F3F-B45D-FE93098EF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5940" y="2806700"/>
            <a:ext cx="14447520" cy="107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2E3FF9-41AB-4AC5-9586-B7B2808816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08910" y="4086225"/>
            <a:ext cx="1264158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2ACD03-C93F-4A4E-8A35-3E5E044E7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5940" y="3095625"/>
            <a:ext cx="1444752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96FA84-5BA4-4A2F-BEAE-4C042E87E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15841" y="577850"/>
            <a:ext cx="16027718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0E4364-2B0F-470C-A2C7-9D4AC6BF87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15841" y="2063750"/>
            <a:ext cx="16027718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1pPr>
            <a:lvl2pPr marL="577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2pPr>
            <a:lvl3pPr marL="908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3pPr>
            <a:lvl4pPr marL="1238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4pPr>
            <a:lvl5pPr marL="15684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5pPr>
            <a:lvl6pPr marL="1898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6pPr>
            <a:lvl7pPr marL="2228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7pPr>
            <a:lvl8pPr marL="2559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8pPr>
            <a:lvl9pPr marL="2889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14F6F8-87F5-427C-B473-540BB8BBA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15841" y="577850"/>
            <a:ext cx="16027718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8090AA-CF6A-47B9-84D4-D4543EB675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15841" y="2063750"/>
            <a:ext cx="7449503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1pPr>
            <a:lvl2pPr marL="577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2pPr>
            <a:lvl3pPr marL="908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3pPr>
            <a:lvl4pPr marL="1238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4pPr>
            <a:lvl5pPr marL="15684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5pPr>
            <a:lvl6pPr marL="1898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6pPr>
            <a:lvl7pPr marL="2228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7pPr>
            <a:lvl8pPr marL="2559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8pPr>
            <a:lvl9pPr marL="2889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C120AF-131B-465F-8880-900FA47C11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94056" y="2063750"/>
            <a:ext cx="7449503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1pPr>
            <a:lvl2pPr marL="577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2pPr>
            <a:lvl3pPr marL="908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3pPr>
            <a:lvl4pPr marL="1238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4pPr>
            <a:lvl5pPr marL="15684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5pPr>
            <a:lvl6pPr marL="1898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6pPr>
            <a:lvl7pPr marL="2228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7pPr>
            <a:lvl8pPr marL="2559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8pPr>
            <a:lvl9pPr marL="2889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4C4BA-A52A-450E-8DA5-1C1883C73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15841" y="577850"/>
            <a:ext cx="16027718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FA0563-AF28-462C-A8F4-11E075902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15841" y="2063750"/>
            <a:ext cx="7449503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7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1pPr>
            <a:lvl2pPr marL="577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2pPr>
            <a:lvl3pPr marL="908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3pPr>
            <a:lvl4pPr marL="1238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4pPr>
            <a:lvl5pPr marL="15684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5pPr>
            <a:lvl6pPr marL="18986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6pPr>
            <a:lvl7pPr marL="22288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7pPr>
            <a:lvl8pPr marL="25590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8pPr>
            <a:lvl9pPr marL="2889250" indent="-24765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d014dc8b3b48a3" /><Relationship Type="http://schemas.openxmlformats.org/officeDocument/2006/relationships/slideLayout" Target="/ppt/slideLayouts/slideLayout1.xml" Id="R34957aed81ab42fd" /><Relationship Type="http://schemas.openxmlformats.org/officeDocument/2006/relationships/slideLayout" Target="/ppt/slideLayouts/slideLayout2.xml" Id="R4c3293638403465f" /><Relationship Type="http://schemas.openxmlformats.org/officeDocument/2006/relationships/slideLayout" Target="/ppt/slideLayouts/slideLayout3.xml" Id="R837b4b3ee0684b61" /><Relationship Type="http://schemas.openxmlformats.org/officeDocument/2006/relationships/slideLayout" Target="/ppt/slideLayouts/slideLayout4.xml" Id="R4874bc90e1644f68" /><Relationship Type="http://schemas.openxmlformats.org/officeDocument/2006/relationships/slideLayout" Target="/ppt/slideLayouts/slideLayout5.xml" Id="R6e5baaa71a174a30" /><Relationship Type="http://schemas.openxmlformats.org/officeDocument/2006/relationships/slideLayout" Target="/ppt/slideLayouts/slideLayout6.xml" Id="R515c5af00f6f40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957aed81ab42fd"/>
    <p:sldLayoutId xmlns:r="http://schemas.openxmlformats.org/officeDocument/2006/relationships" id="2147483650" r:id="R4c3293638403465f"/>
    <p:sldLayoutId xmlns:r="http://schemas.openxmlformats.org/officeDocument/2006/relationships" id="2147483651" r:id="R837b4b3ee0684b61"/>
    <p:sldLayoutId xmlns:r="http://schemas.openxmlformats.org/officeDocument/2006/relationships" id="2147483652" r:id="R4874bc90e1644f68"/>
    <p:sldLayoutId xmlns:r="http://schemas.openxmlformats.org/officeDocument/2006/relationships" id="2147483653" r:id="R6e5baaa71a174a30"/>
    <p:sldLayoutId xmlns:r="http://schemas.openxmlformats.org/officeDocument/2006/relationships" id="2147483654" r:id="R515c5af00f6f40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4b39f39214c5c" /><Relationship Type="http://schemas.openxmlformats.org/officeDocument/2006/relationships/image" Target="/ppt/media/image.png" Id="R9c8f32cda98643ae" /><Relationship Type="http://schemas.openxmlformats.org/officeDocument/2006/relationships/image" Target="/ppt/media/image2.png" Id="Rf5983708bc644fe8" /><Relationship Type="http://schemas.openxmlformats.org/officeDocument/2006/relationships/image" Target="/ppt/media/image3.png" Id="R0d5dba587cba4ab7" /><Relationship Type="http://schemas.openxmlformats.org/officeDocument/2006/relationships/image" Target="/ppt/media/image4.png" Id="R62a4304e71e8451b" /><Relationship Type="http://schemas.openxmlformats.org/officeDocument/2006/relationships/image" Target="/ppt/media/image5.png" Id="Re68fde2fa41f40c9" /><Relationship Type="http://schemas.openxmlformats.org/officeDocument/2006/relationships/image" Target="/ppt/media/image6.png" Id="R8238c87c910e488e" /><Relationship Type="http://schemas.openxmlformats.org/officeDocument/2006/relationships/image" Target="/ppt/media/image7.png" Id="R2e04597ab15e4e4c" /><Relationship Type="http://schemas.openxmlformats.org/officeDocument/2006/relationships/notesSlide" Target="/ppt/notesSlides/notesSlide1.xml" Id="Rd55de64b54fc42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al-model-panel">
            <a:extLst xmlns:a="http://schemas.openxmlformats.org/drawingml/2006/main">
              <a:ext uri="{FF2B5EF4-FFF2-40B4-BE49-F238E27FC236}">
                <a16:creationId xmlns:a16="http://schemas.microsoft.com/office/drawing/2014/main" id="{FA76B16C-06A4-4C85-BB1C-C93F2B3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114300"/>
            <a:ext cx="9058275" cy="7239000"/>
          </a:xfrm>
          <a:custGeom xmlns:a="http://schemas.openxmlformats.org/drawingml/2006/main">
            <a:pathLst>
              <a:path w="9058275" h="7239000">
                <a:moveTo>
                  <a:pt x="180975" y="0"/>
                </a:moveTo>
                <a:lnTo>
                  <a:pt x="8877300" y="0"/>
                </a:lnTo>
                <a:cubicBezTo>
                  <a:pt x="8977250" y="0"/>
                  <a:pt x="9058275" y="81025"/>
                  <a:pt x="9058275" y="180975"/>
                </a:cubicBezTo>
                <a:lnTo>
                  <a:pt x="9058275" y="7058025"/>
                </a:lnTo>
                <a:cubicBezTo>
                  <a:pt x="9058275" y="7157975"/>
                  <a:pt x="8977250" y="7239000"/>
                  <a:pt x="8877300" y="7239000"/>
                </a:cubicBezTo>
                <a:lnTo>
                  <a:pt x="180975" y="7239000"/>
                </a:lnTo>
                <a:cubicBezTo>
                  <a:pt x="81025" y="7239000"/>
                  <a:pt x="0" y="7157975"/>
                  <a:pt x="0" y="705802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ED8A77"/>
            </a:solidFill>
            <a:prstDash val="solid"/>
          </a:ln>
        </p:spPr>
      </p:sp>
      <p:sp>
        <p:nvSpPr>
          <p:cNvPr id="2" name="policy-panel">
            <a:extLst xmlns:a="http://schemas.openxmlformats.org/drawingml/2006/main">
              <a:ext uri="{FF2B5EF4-FFF2-40B4-BE49-F238E27FC236}">
                <a16:creationId xmlns:a16="http://schemas.microsoft.com/office/drawing/2014/main" id="{867E7096-F541-41F8-AB3E-CD805AB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123825"/>
            <a:ext cx="5572125" cy="1704975"/>
          </a:xfrm>
          <a:custGeom xmlns:a="http://schemas.openxmlformats.org/drawingml/2006/main">
            <a:pathLst>
              <a:path w="5572125" h="1704975">
                <a:moveTo>
                  <a:pt x="95250" y="0"/>
                </a:moveTo>
                <a:lnTo>
                  <a:pt x="5476875" y="0"/>
                </a:lnTo>
                <a:cubicBezTo>
                  <a:pt x="5529480" y="0"/>
                  <a:pt x="5572125" y="42645"/>
                  <a:pt x="5572125" y="95250"/>
                </a:cubicBezTo>
                <a:lnTo>
                  <a:pt x="5572125" y="1609725"/>
                </a:lnTo>
                <a:cubicBezTo>
                  <a:pt x="5572125" y="1662330"/>
                  <a:pt x="5529480" y="1704975"/>
                  <a:pt x="5476875" y="1704975"/>
                </a:cubicBezTo>
                <a:lnTo>
                  <a:pt x="95250" y="1704975"/>
                </a:lnTo>
                <a:cubicBezTo>
                  <a:pt x="42645" y="1704975"/>
                  <a:pt x="0" y="1662330"/>
                  <a:pt x="0" y="1609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70AEF4"/>
            </a:solidFill>
            <a:prstDash val="solid"/>
          </a:ln>
        </p:spPr>
      </p:sp>
      <p:sp>
        <p:nvSpPr>
          <p:cNvPr id="3" name="environment-panel">
            <a:extLst xmlns:a="http://schemas.openxmlformats.org/drawingml/2006/main">
              <a:ext uri="{FF2B5EF4-FFF2-40B4-BE49-F238E27FC236}">
                <a16:creationId xmlns:a16="http://schemas.microsoft.com/office/drawing/2014/main" id="{B405089F-7CE1-425F-836E-E4AD331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2724150"/>
            <a:ext cx="5572125" cy="1704975"/>
          </a:xfrm>
          <a:custGeom xmlns:a="http://schemas.openxmlformats.org/drawingml/2006/main">
            <a:pathLst>
              <a:path w="5572125" h="1704975">
                <a:moveTo>
                  <a:pt x="95250" y="0"/>
                </a:moveTo>
                <a:lnTo>
                  <a:pt x="5476875" y="0"/>
                </a:lnTo>
                <a:cubicBezTo>
                  <a:pt x="5529480" y="0"/>
                  <a:pt x="5572125" y="42645"/>
                  <a:pt x="5572125" y="95250"/>
                </a:cubicBezTo>
                <a:lnTo>
                  <a:pt x="5572125" y="1609725"/>
                </a:lnTo>
                <a:cubicBezTo>
                  <a:pt x="5572125" y="1662330"/>
                  <a:pt x="5529480" y="1704975"/>
                  <a:pt x="5476875" y="1704975"/>
                </a:cubicBezTo>
                <a:lnTo>
                  <a:pt x="95250" y="1704975"/>
                </a:lnTo>
                <a:cubicBezTo>
                  <a:pt x="42645" y="1704975"/>
                  <a:pt x="0" y="1662330"/>
                  <a:pt x="0" y="1609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9BD579"/>
            </a:solidFill>
            <a:prstDash val="solid"/>
          </a:ln>
        </p:spPr>
      </p:sp>
      <p:sp>
        <p:nvSpPr>
          <p:cNvPr id="4" name="discriminative-panel">
            <a:extLst xmlns:a="http://schemas.openxmlformats.org/drawingml/2006/main">
              <a:ext uri="{FF2B5EF4-FFF2-40B4-BE49-F238E27FC236}">
                <a16:creationId xmlns:a16="http://schemas.microsoft.com/office/drawing/2014/main" id="{CC89C331-85B0-480F-8A64-2EBE805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5638800"/>
            <a:ext cx="5572125" cy="1704975"/>
          </a:xfrm>
          <a:custGeom xmlns:a="http://schemas.openxmlformats.org/drawingml/2006/main">
            <a:pathLst>
              <a:path w="5572125" h="1704975">
                <a:moveTo>
                  <a:pt x="95250" y="0"/>
                </a:moveTo>
                <a:lnTo>
                  <a:pt x="5476875" y="0"/>
                </a:lnTo>
                <a:cubicBezTo>
                  <a:pt x="5529480" y="0"/>
                  <a:pt x="5572125" y="42645"/>
                  <a:pt x="5572125" y="95250"/>
                </a:cubicBezTo>
                <a:lnTo>
                  <a:pt x="5572125" y="1609725"/>
                </a:lnTo>
                <a:cubicBezTo>
                  <a:pt x="5572125" y="1662330"/>
                  <a:pt x="5529480" y="1704975"/>
                  <a:pt x="5476875" y="1704975"/>
                </a:cubicBezTo>
                <a:lnTo>
                  <a:pt x="95250" y="1704975"/>
                </a:lnTo>
                <a:cubicBezTo>
                  <a:pt x="42645" y="1704975"/>
                  <a:pt x="0" y="1662330"/>
                  <a:pt x="0" y="1609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8DE70"/>
            </a:solidFill>
            <a:prstDash val="solid"/>
          </a:ln>
        </p:spPr>
      </p:sp>
      <p:sp>
        <p:nvSpPr>
          <p:cNvPr id="5" name="goal-title">
            <a:extLst xmlns:a="http://schemas.openxmlformats.org/drawingml/2006/main">
              <a:ext uri="{FF2B5EF4-FFF2-40B4-BE49-F238E27FC236}">
                <a16:creationId xmlns:a16="http://schemas.microsoft.com/office/drawing/2014/main" id="{E9F8B705-84E9-44B0-9602-F9E04C8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190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generative model</a:t>
            </a:r>
          </a:p>
        </p:txBody>
      </p:sp>
      <p:sp>
        <p:nvSpPr>
          <p:cNvPr id="6" name="goal-title-underline">
            <a:extLst xmlns:a="http://schemas.openxmlformats.org/drawingml/2006/main">
              <a:ext uri="{FF2B5EF4-FFF2-40B4-BE49-F238E27FC236}">
                <a16:creationId xmlns:a16="http://schemas.microsoft.com/office/drawing/2014/main" id="{46A4FD04-A720-49B2-AABB-F4680678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600075"/>
            <a:ext cx="3619500" cy="953"/>
          </a:xfrm>
          <a:custGeom xmlns:a="http://schemas.openxmlformats.org/drawingml/2006/main">
            <a:pathLst>
              <a:path w="3619500" h="953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7" name="policy-title">
            <a:extLst xmlns:a="http://schemas.openxmlformats.org/drawingml/2006/main">
              <a:ext uri="{FF2B5EF4-FFF2-40B4-BE49-F238E27FC236}">
                <a16:creationId xmlns:a16="http://schemas.microsoft.com/office/drawing/2014/main" id="{78F04718-C238-4080-BD34-7A798D4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4857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goal-conditioned policy</a:t>
            </a:r>
          </a:p>
        </p:txBody>
      </p:sp>
      <p:sp>
        <p:nvSpPr>
          <p:cNvPr id="8" name="policy-title-underline">
            <a:extLst xmlns:a="http://schemas.openxmlformats.org/drawingml/2006/main">
              <a:ext uri="{FF2B5EF4-FFF2-40B4-BE49-F238E27FC236}">
                <a16:creationId xmlns:a16="http://schemas.microsoft.com/office/drawing/2014/main" id="{150C89CC-0105-4F33-BCB8-C0AC514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895350"/>
            <a:ext cx="3981450" cy="953"/>
          </a:xfrm>
          <a:custGeom xmlns:a="http://schemas.openxmlformats.org/drawingml/2006/main">
            <a:pathLst>
              <a:path w="3981450" h="953">
                <a:moveTo>
                  <a:pt x="0" y="0"/>
                </a:moveTo>
                <a:lnTo>
                  <a:pt x="398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9" name="environment-title">
            <a:extLst xmlns:a="http://schemas.openxmlformats.org/drawingml/2006/main">
              <a:ext uri="{FF2B5EF4-FFF2-40B4-BE49-F238E27FC236}">
                <a16:creationId xmlns:a16="http://schemas.microsoft.com/office/drawing/2014/main" id="{9EED3512-A108-4305-A79A-3CF3863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3124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0" name="environment-title-underline">
            <a:extLst xmlns:a="http://schemas.openxmlformats.org/drawingml/2006/main">
              <a:ext uri="{FF2B5EF4-FFF2-40B4-BE49-F238E27FC236}">
                <a16:creationId xmlns:a16="http://schemas.microsoft.com/office/drawing/2014/main" id="{FC020312-E14F-4506-8399-ABBA1393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3533775"/>
            <a:ext cx="2057400" cy="953"/>
          </a:xfrm>
          <a:custGeom xmlns:a="http://schemas.openxmlformats.org/drawingml/2006/main">
            <a:pathLst>
              <a:path w="2057400" h="953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" name="discriminative-title">
            <a:extLst xmlns:a="http://schemas.openxmlformats.org/drawingml/2006/main">
              <a:ext uri="{FF2B5EF4-FFF2-40B4-BE49-F238E27FC236}">
                <a16:creationId xmlns:a16="http://schemas.microsoft.com/office/drawing/2014/main" id="{1C99DDEA-E0F9-4DAA-A8C4-8CE5096D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60007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discriminative model</a:t>
            </a:r>
          </a:p>
        </p:txBody>
      </p:sp>
      <p:sp>
        <p:nvSpPr>
          <p:cNvPr id="12" name="discriminative-title-underline">
            <a:extLst xmlns:a="http://schemas.openxmlformats.org/drawingml/2006/main">
              <a:ext uri="{FF2B5EF4-FFF2-40B4-BE49-F238E27FC236}">
                <a16:creationId xmlns:a16="http://schemas.microsoft.com/office/drawing/2014/main" id="{90C4F54E-2EB0-4700-9BA7-93E22175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6410325"/>
            <a:ext cx="3714750" cy="953"/>
          </a:xfrm>
          <a:custGeom xmlns:a="http://schemas.openxmlformats.org/drawingml/2006/main">
            <a:pathLst>
              <a:path w="3714750" h="953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3" name="goal-distribution">
            <a:extLst xmlns:a="http://schemas.openxmlformats.org/drawingml/2006/main">
              <a:ext uri="{FF2B5EF4-FFF2-40B4-BE49-F238E27FC236}">
                <a16:creationId xmlns:a16="http://schemas.microsoft.com/office/drawing/2014/main" id="{DF2B298B-13CC-4E17-95C0-842E512F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6667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 ∼ p(g)</a:t>
            </a:r>
          </a:p>
        </p:txBody>
      </p:sp>
      <p:sp>
        <p:nvSpPr>
          <p:cNvPr id="14" name="policy-formula-left">
            <a:extLst xmlns:a="http://schemas.openxmlformats.org/drawingml/2006/main">
              <a:ext uri="{FF2B5EF4-FFF2-40B4-BE49-F238E27FC236}">
                <a16:creationId xmlns:a16="http://schemas.microsoft.com/office/drawing/2014/main" id="{FC184105-D7D0-4683-9DEC-2DF792D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4700" y="9715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∼ π</a:t>
            </a:r>
          </a:p>
        </p:txBody>
      </p:sp>
      <p:sp>
        <p:nvSpPr>
          <p:cNvPr id="15" name="policy-theta-subscript">
            <a:extLst xmlns:a="http://schemas.openxmlformats.org/drawingml/2006/main">
              <a:ext uri="{FF2B5EF4-FFF2-40B4-BE49-F238E27FC236}">
                <a16:creationId xmlns:a16="http://schemas.microsoft.com/office/drawing/2014/main" id="{D5E619FA-6B3F-41B0-810F-C81341B4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1219200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16" name="policy-formula-right">
            <a:extLst xmlns:a="http://schemas.openxmlformats.org/drawingml/2006/main">
              <a:ext uri="{FF2B5EF4-FFF2-40B4-BE49-F238E27FC236}">
                <a16:creationId xmlns:a16="http://schemas.microsoft.com/office/drawing/2014/main" id="{7C9BF13C-EF3D-4025-8DB3-EC9820B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25" y="971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 | s,g)</a:t>
            </a:r>
          </a:p>
        </p:txBody>
      </p:sp>
      <p:sp>
        <p:nvSpPr>
          <p:cNvPr id="17" name="environment-formula">
            <a:extLst xmlns:a="http://schemas.openxmlformats.org/drawingml/2006/main">
              <a:ext uri="{FF2B5EF4-FFF2-40B4-BE49-F238E27FC236}">
                <a16:creationId xmlns:a16="http://schemas.microsoft.com/office/drawing/2014/main" id="{8CB56442-1819-496E-BC42-6AE3843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35814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s′ ∼ p(s′|s,a)</a:t>
            </a:r>
          </a:p>
        </p:txBody>
      </p:sp>
      <p:sp>
        <p:nvSpPr>
          <p:cNvPr id="18" name="discriminative-q">
            <a:extLst xmlns:a="http://schemas.openxmlformats.org/drawingml/2006/main">
              <a:ext uri="{FF2B5EF4-FFF2-40B4-BE49-F238E27FC236}">
                <a16:creationId xmlns:a16="http://schemas.microsoft.com/office/drawing/2014/main" id="{A2741D1E-86A3-4B84-AD97-7BE0FEC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275" y="6486525"/>
            <a:ext cx="26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9" name="discriminative-lambda-subscript">
            <a:extLst xmlns:a="http://schemas.openxmlformats.org/drawingml/2006/main">
              <a:ext uri="{FF2B5EF4-FFF2-40B4-BE49-F238E27FC236}">
                <a16:creationId xmlns:a16="http://schemas.microsoft.com/office/drawing/2014/main" id="{75DA41DE-A0F6-4552-8927-38B36291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3825" y="6724650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20" name="discriminative-formula-right">
            <a:extLst xmlns:a="http://schemas.openxmlformats.org/drawingml/2006/main">
              <a:ext uri="{FF2B5EF4-FFF2-40B4-BE49-F238E27FC236}">
                <a16:creationId xmlns:a16="http://schemas.microsoft.com/office/drawing/2014/main" id="{16EEB857-42BC-4795-8E81-36BD08F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6486525"/>
            <a:ext cx="1114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(g | s)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24A2D-83E4-45E3-B268-87F233B9B4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f32cda98643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171575"/>
            <a:ext cx="1419225" cy="1409700"/>
          </a:xfrm>
          <a:prstGeom xmlns:a="http://schemas.openxmlformats.org/drawingml/2006/main" prst="rect">
            <a:avLst/>
          </a:prstGeom>
        </p:spPr>
      </p:pic>
      <p:sp>
        <p:nvSpPr>
          <p:cNvPr id="22" name="target-icon">
            <a:extLst xmlns:a="http://schemas.openxmlformats.org/drawingml/2006/main">
              <a:ext uri="{FF2B5EF4-FFF2-40B4-BE49-F238E27FC236}">
                <a16:creationId xmlns:a16="http://schemas.microsoft.com/office/drawing/2014/main" id="{843584B9-4C98-40F6-9DC0-6781002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171575"/>
            <a:ext cx="1419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D5683-F6FA-4655-95F6-3FF2BB9F9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3708bc644f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73200" y="285750"/>
            <a:ext cx="914400" cy="1419225"/>
          </a:xfrm>
          <a:prstGeom xmlns:a="http://schemas.openxmlformats.org/drawingml/2006/main" prst="rect">
            <a:avLst/>
          </a:prstGeom>
        </p:spPr>
      </p:pic>
      <p:sp>
        <p:nvSpPr>
          <p:cNvPr id="24" name="robot-icon">
            <a:extLst xmlns:a="http://schemas.openxmlformats.org/drawingml/2006/main">
              <a:ext uri="{FF2B5EF4-FFF2-40B4-BE49-F238E27FC236}">
                <a16:creationId xmlns:a16="http://schemas.microsoft.com/office/drawing/2014/main" id="{102A1C5A-55CC-474E-9183-4F0E640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285750"/>
            <a:ext cx="9144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22105-5622-4B86-82DB-5A50AD5EA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dba587cba4a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6500" y="2867025"/>
            <a:ext cx="1438275" cy="1428750"/>
          </a:xfrm>
          <a:prstGeom xmlns:a="http://schemas.openxmlformats.org/drawingml/2006/main" prst="rect">
            <a:avLst/>
          </a:prstGeom>
        </p:spPr>
      </p:pic>
      <p:sp>
        <p:nvSpPr>
          <p:cNvPr id="26" name="earth-icon">
            <a:extLst xmlns:a="http://schemas.openxmlformats.org/drawingml/2006/main">
              <a:ext uri="{FF2B5EF4-FFF2-40B4-BE49-F238E27FC236}">
                <a16:creationId xmlns:a16="http://schemas.microsoft.com/office/drawing/2014/main" id="{D6EA7D71-F411-4F2B-9CF1-2BBE104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2867025"/>
            <a:ext cx="143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2E8FD-1037-4237-B998-39DF445B5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4304e71e845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6500" y="5838825"/>
            <a:ext cx="1438275" cy="1304925"/>
          </a:xfrm>
          <a:prstGeom xmlns:a="http://schemas.openxmlformats.org/drawingml/2006/main" prst="rect">
            <a:avLst/>
          </a:prstGeom>
        </p:spPr>
      </p:pic>
      <p:sp>
        <p:nvSpPr>
          <p:cNvPr id="28" name="scales-icon">
            <a:extLst xmlns:a="http://schemas.openxmlformats.org/drawingml/2006/main">
              <a:ext uri="{FF2B5EF4-FFF2-40B4-BE49-F238E27FC236}">
                <a16:creationId xmlns:a16="http://schemas.microsoft.com/office/drawing/2014/main" id="{498ECFC8-CF0E-4FD0-9FBC-F1B48A3A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838825"/>
            <a:ext cx="14382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goal-to-policy">
            <a:extLst xmlns:a="http://schemas.openxmlformats.org/drawingml/2006/main">
              <a:ext uri="{FF2B5EF4-FFF2-40B4-BE49-F238E27FC236}">
                <a16:creationId xmlns:a16="http://schemas.microsoft.com/office/drawing/2014/main" id="{025F08E2-436F-4EF2-B46F-32B1CC7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325" y="981075"/>
            <a:ext cx="2371725" cy="971550"/>
          </a:xfrm>
          <a:custGeom xmlns:a="http://schemas.openxmlformats.org/drawingml/2006/main">
            <a:pathLst>
              <a:path w="2371725" h="971550">
                <a:moveTo>
                  <a:pt x="0" y="971550"/>
                </a:moveTo>
                <a:lnTo>
                  <a:pt x="1857375" y="971550"/>
                </a:lnTo>
                <a:lnTo>
                  <a:pt x="1857375" y="0"/>
                </a:lnTo>
                <a:lnTo>
                  <a:pt x="2371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0" name="goal-to-policy-arrow">
            <a:extLst xmlns:a="http://schemas.openxmlformats.org/drawingml/2006/main">
              <a:ext uri="{FF2B5EF4-FFF2-40B4-BE49-F238E27FC236}">
                <a16:creationId xmlns:a16="http://schemas.microsoft.com/office/drawing/2014/main" id="{F078A803-6D10-4102-A68C-968CCE89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909447"/>
            <a:ext cx="152400" cy="143256"/>
          </a:xfrm>
          <a:custGeom xmlns:a="http://schemas.openxmlformats.org/drawingml/2006/main">
            <a:pathLst>
              <a:path w="152400" h="143256">
                <a:moveTo>
                  <a:pt x="152400" y="71628"/>
                </a:moveTo>
                <a:lnTo>
                  <a:pt x="0" y="1432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automatic-goal">
            <a:extLst xmlns:a="http://schemas.openxmlformats.org/drawingml/2006/main">
              <a:ext uri="{FF2B5EF4-FFF2-40B4-BE49-F238E27FC236}">
                <a16:creationId xmlns:a16="http://schemas.microsoft.com/office/drawing/2014/main" id="{9F3A7A05-B968-4BC5-AAF7-9CC5045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195262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Automatically</a:t>
            </a:r>
          </a:p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g</a:t>
            </a:r>
          </a:p>
        </p:txBody>
      </p:sp>
      <p:sp>
        <p:nvSpPr>
          <p:cNvPr id="32" name="policy-to-environment">
            <a:extLst xmlns:a="http://schemas.openxmlformats.org/drawingml/2006/main">
              <a:ext uri="{FF2B5EF4-FFF2-40B4-BE49-F238E27FC236}">
                <a16:creationId xmlns:a16="http://schemas.microsoft.com/office/drawing/2014/main" id="{BE5FE9EC-2F7C-4FD7-B775-638DC5D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875" y="1847850"/>
            <a:ext cx="953" cy="838200"/>
          </a:xfrm>
          <a:custGeom xmlns:a="http://schemas.openxmlformats.org/drawingml/2006/main">
            <a:pathLst>
              <a:path w="953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3" name="policy-to-environment-arrow">
            <a:extLst xmlns:a="http://schemas.openxmlformats.org/drawingml/2006/main">
              <a:ext uri="{FF2B5EF4-FFF2-40B4-BE49-F238E27FC236}">
                <a16:creationId xmlns:a16="http://schemas.microsoft.com/office/drawing/2014/main" id="{8CFABB31-1E6E-492A-B7F4-CF01FA18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4247" y="2533650"/>
            <a:ext cx="143256" cy="152400"/>
          </a:xfrm>
          <a:custGeom xmlns:a="http://schemas.openxmlformats.org/drawingml/2006/main">
            <a:pathLst>
              <a:path w="143256" h="152400">
                <a:moveTo>
                  <a:pt x="71628" y="152400"/>
                </a:moveTo>
                <a:lnTo>
                  <a:pt x="0" y="0"/>
                </a:lnTo>
                <a:lnTo>
                  <a:pt x="1432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environment-to-discriminator">
            <a:extLst xmlns:a="http://schemas.openxmlformats.org/drawingml/2006/main">
              <a:ext uri="{FF2B5EF4-FFF2-40B4-BE49-F238E27FC236}">
                <a16:creationId xmlns:a16="http://schemas.microsoft.com/office/drawing/2014/main" id="{4CD325B2-135E-4808-8CBB-EACC3EE8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875" y="4438650"/>
            <a:ext cx="953" cy="1162050"/>
          </a:xfrm>
          <a:custGeom xmlns:a="http://schemas.openxmlformats.org/drawingml/2006/main">
            <a:pathLst>
              <a:path w="953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5" name="environment-to-discriminator-arrow">
            <a:extLst xmlns:a="http://schemas.openxmlformats.org/drawingml/2006/main">
              <a:ext uri="{FF2B5EF4-FFF2-40B4-BE49-F238E27FC236}">
                <a16:creationId xmlns:a16="http://schemas.microsoft.com/office/drawing/2014/main" id="{66518952-9018-407F-BE0D-77034B64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4247" y="5448300"/>
            <a:ext cx="143256" cy="152400"/>
          </a:xfrm>
          <a:custGeom xmlns:a="http://schemas.openxmlformats.org/drawingml/2006/main">
            <a:pathLst>
              <a:path w="143256" h="152400">
                <a:moveTo>
                  <a:pt x="71628" y="152400"/>
                </a:moveTo>
                <a:lnTo>
                  <a:pt x="0" y="0"/>
                </a:lnTo>
                <a:lnTo>
                  <a:pt x="1432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update-lambda">
            <a:extLst xmlns:a="http://schemas.openxmlformats.org/drawingml/2006/main">
              <a:ext uri="{FF2B5EF4-FFF2-40B4-BE49-F238E27FC236}">
                <a16:creationId xmlns:a16="http://schemas.microsoft.com/office/drawing/2014/main" id="{C7632737-C4BE-489A-971D-C399FC2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6875" y="461010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λ</a:t>
            </a:r>
          </a:p>
        </p:txBody>
      </p:sp>
      <p:sp>
        <p:nvSpPr>
          <p:cNvPr id="37" name="update-lambda-equation">
            <a:extLst xmlns:a="http://schemas.openxmlformats.org/drawingml/2006/main">
              <a:ext uri="{FF2B5EF4-FFF2-40B4-BE49-F238E27FC236}">
                <a16:creationId xmlns:a16="http://schemas.microsoft.com/office/drawing/2014/main" id="{8ECAA2F8-3882-4604-853C-534B5C72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525" y="5010150"/>
            <a:ext cx="191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(Equation 4)</a:t>
            </a:r>
          </a:p>
        </p:txBody>
      </p:sp>
      <p:sp>
        <p:nvSpPr>
          <p:cNvPr id="38" name="policy-update-loop">
            <a:extLst xmlns:a="http://schemas.openxmlformats.org/drawingml/2006/main">
              <a:ext uri="{FF2B5EF4-FFF2-40B4-BE49-F238E27FC236}">
                <a16:creationId xmlns:a16="http://schemas.microsoft.com/office/drawing/2014/main" id="{99D47DC2-B58E-44A9-AE44-D6FEDD7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981075"/>
            <a:ext cx="542925" cy="5505450"/>
          </a:xfrm>
          <a:custGeom xmlns:a="http://schemas.openxmlformats.org/drawingml/2006/main">
            <a:pathLst>
              <a:path w="542925" h="5505450">
                <a:moveTo>
                  <a:pt x="0" y="5505450"/>
                </a:moveTo>
                <a:lnTo>
                  <a:pt x="542925" y="5505450"/>
                </a:lnTo>
                <a:lnTo>
                  <a:pt x="542925" y="0"/>
                </a:ln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39" name="policy-update-loop-arrow">
            <a:extLst xmlns:a="http://schemas.openxmlformats.org/drawingml/2006/main">
              <a:ext uri="{FF2B5EF4-FFF2-40B4-BE49-F238E27FC236}">
                <a16:creationId xmlns:a16="http://schemas.microsoft.com/office/drawing/2014/main" id="{550FB382-08A7-4BCA-9460-9917FEC0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4325" y="909447"/>
            <a:ext cx="152400" cy="143256"/>
          </a:xfrm>
          <a:custGeom xmlns:a="http://schemas.openxmlformats.org/drawingml/2006/main">
            <a:pathLst>
              <a:path w="152400" h="143256">
                <a:moveTo>
                  <a:pt x="0" y="71628"/>
                </a:moveTo>
                <a:lnTo>
                  <a:pt x="152400" y="0"/>
                </a:lnTo>
                <a:lnTo>
                  <a:pt x="152400" y="143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update-theta">
            <a:extLst xmlns:a="http://schemas.openxmlformats.org/drawingml/2006/main">
              <a:ext uri="{FF2B5EF4-FFF2-40B4-BE49-F238E27FC236}">
                <a16:creationId xmlns:a16="http://schemas.microsoft.com/office/drawing/2014/main" id="{D98824BB-3D58-4A43-BDEB-92BE17D1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3219450"/>
            <a:ext cx="1590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θ</a:t>
            </a:r>
          </a:p>
        </p:txBody>
      </p:sp>
      <p:sp>
        <p:nvSpPr>
          <p:cNvPr id="41" name="update-theta-equation">
            <a:extLst xmlns:a="http://schemas.openxmlformats.org/drawingml/2006/main">
              <a:ext uri="{FF2B5EF4-FFF2-40B4-BE49-F238E27FC236}">
                <a16:creationId xmlns:a16="http://schemas.microsoft.com/office/drawing/2014/main" id="{3B1E7FD0-4B16-4A78-9446-7EFE59F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6775" y="36099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(Equation 5)</a:t>
            </a:r>
          </a:p>
        </p:txBody>
      </p:sp>
      <p:sp>
        <p:nvSpPr>
          <p:cNvPr id="42" name="environment-to-goals">
            <a:extLst xmlns:a="http://schemas.openxmlformats.org/drawingml/2006/main">
              <a:ext uri="{FF2B5EF4-FFF2-40B4-BE49-F238E27FC236}">
                <a16:creationId xmlns:a16="http://schemas.microsoft.com/office/drawing/2014/main" id="{A1490EF3-F60D-4F83-8DC7-06A836BD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3571875"/>
            <a:ext cx="1133475" cy="723900"/>
          </a:xfrm>
          <a:custGeom xmlns:a="http://schemas.openxmlformats.org/drawingml/2006/main">
            <a:pathLst>
              <a:path w="1133475" h="723900">
                <a:moveTo>
                  <a:pt x="1133475" y="0"/>
                </a:moveTo>
                <a:lnTo>
                  <a:pt x="676275" y="0"/>
                </a:lnTo>
                <a:lnTo>
                  <a:pt x="676275" y="723900"/>
                </a:ln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3" name="environment-to-goals-arrow">
            <a:extLst xmlns:a="http://schemas.openxmlformats.org/drawingml/2006/main">
              <a:ext uri="{FF2B5EF4-FFF2-40B4-BE49-F238E27FC236}">
                <a16:creationId xmlns:a16="http://schemas.microsoft.com/office/drawing/2014/main" id="{F96C7B97-C3FF-4F13-940E-B73B7C7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4224147"/>
            <a:ext cx="152400" cy="143256"/>
          </a:xfrm>
          <a:custGeom xmlns:a="http://schemas.openxmlformats.org/drawingml/2006/main">
            <a:pathLst>
              <a:path w="152400" h="143256">
                <a:moveTo>
                  <a:pt x="0" y="71628"/>
                </a:moveTo>
                <a:lnTo>
                  <a:pt x="152400" y="0"/>
                </a:lnTo>
                <a:lnTo>
                  <a:pt x="152400" y="143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discriminator-to-density">
            <a:extLst xmlns:a="http://schemas.openxmlformats.org/drawingml/2006/main">
              <a:ext uri="{FF2B5EF4-FFF2-40B4-BE49-F238E27FC236}">
                <a16:creationId xmlns:a16="http://schemas.microsoft.com/office/drawing/2014/main" id="{4224ECE1-D983-45E8-B746-543069AE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5676900"/>
            <a:ext cx="952500" cy="809625"/>
          </a:xfrm>
          <a:custGeom xmlns:a="http://schemas.openxmlformats.org/drawingml/2006/main">
            <a:pathLst>
              <a:path w="952500" h="809625">
                <a:moveTo>
                  <a:pt x="952500" y="809625"/>
                </a:moveTo>
                <a:lnTo>
                  <a:pt x="495300" y="809625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5" name="discriminator-to-density-arrow">
            <a:extLst xmlns:a="http://schemas.openxmlformats.org/drawingml/2006/main">
              <a:ext uri="{FF2B5EF4-FFF2-40B4-BE49-F238E27FC236}">
                <a16:creationId xmlns:a16="http://schemas.microsoft.com/office/drawing/2014/main" id="{12E521FB-A994-41DB-899E-903FEA1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5605272"/>
            <a:ext cx="152400" cy="143256"/>
          </a:xfrm>
          <a:custGeom xmlns:a="http://schemas.openxmlformats.org/drawingml/2006/main">
            <a:pathLst>
              <a:path w="152400" h="143256">
                <a:moveTo>
                  <a:pt x="0" y="71628"/>
                </a:moveTo>
                <a:lnTo>
                  <a:pt x="152400" y="0"/>
                </a:lnTo>
                <a:lnTo>
                  <a:pt x="152400" y="143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distribution-frame">
            <a:extLst xmlns:a="http://schemas.openxmlformats.org/drawingml/2006/main">
              <a:ext uri="{FF2B5EF4-FFF2-40B4-BE49-F238E27FC236}">
                <a16:creationId xmlns:a16="http://schemas.microsoft.com/office/drawing/2014/main" id="{7DA3E311-C3A5-451D-B9CC-948B251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904875"/>
            <a:ext cx="4629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A6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distribution-x-axis">
            <a:extLst xmlns:a="http://schemas.openxmlformats.org/drawingml/2006/main">
              <a:ext uri="{FF2B5EF4-FFF2-40B4-BE49-F238E27FC236}">
                <a16:creationId xmlns:a16="http://schemas.microsoft.com/office/drawing/2014/main" id="{E39EBD63-7167-4801-896F-583C0E6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847975"/>
            <a:ext cx="4305300" cy="953"/>
          </a:xfrm>
          <a:custGeom xmlns:a="http://schemas.openxmlformats.org/drawingml/2006/main">
            <a:pathLst>
              <a:path w="4305300" h="953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48" name="distribution-x-axis-arrow">
            <a:extLst xmlns:a="http://schemas.openxmlformats.org/drawingml/2006/main">
              <a:ext uri="{FF2B5EF4-FFF2-40B4-BE49-F238E27FC236}">
                <a16:creationId xmlns:a16="http://schemas.microsoft.com/office/drawing/2014/main" id="{2F09A892-7505-4F48-9DB3-3D6BBE8D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1870"/>
            <a:ext cx="161925" cy="152210"/>
          </a:xfrm>
          <a:custGeom xmlns:a="http://schemas.openxmlformats.org/drawingml/2006/main">
            <a:pathLst>
              <a:path w="161925" h="152210">
                <a:moveTo>
                  <a:pt x="161925" y="76105"/>
                </a:moveTo>
                <a:lnTo>
                  <a:pt x="0" y="152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distribution-y-axis">
            <a:extLst xmlns:a="http://schemas.openxmlformats.org/drawingml/2006/main">
              <a:ext uri="{FF2B5EF4-FFF2-40B4-BE49-F238E27FC236}">
                <a16:creationId xmlns:a16="http://schemas.microsoft.com/office/drawing/2014/main" id="{DB1BE350-CF46-4467-A2D1-E0B7D6B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1038225"/>
            <a:ext cx="953" cy="1809750"/>
          </a:xfrm>
          <a:custGeom xmlns:a="http://schemas.openxmlformats.org/drawingml/2006/main">
            <a:pathLst>
              <a:path w="953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50" name="distribution-y-axis-arrow">
            <a:extLst xmlns:a="http://schemas.openxmlformats.org/drawingml/2006/main">
              <a:ext uri="{FF2B5EF4-FFF2-40B4-BE49-F238E27FC236}">
                <a16:creationId xmlns:a16="http://schemas.microsoft.com/office/drawing/2014/main" id="{6B2D0630-6677-4141-AD5F-F654D36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95" y="1038225"/>
            <a:ext cx="152210" cy="161925"/>
          </a:xfrm>
          <a:custGeom xmlns:a="http://schemas.openxmlformats.org/drawingml/2006/main">
            <a:pathLst>
              <a:path w="152210" h="161925">
                <a:moveTo>
                  <a:pt x="76105" y="0"/>
                </a:moveTo>
                <a:lnTo>
                  <a:pt x="152210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density-pg">
            <a:extLst xmlns:a="http://schemas.openxmlformats.org/drawingml/2006/main">
              <a:ext uri="{FF2B5EF4-FFF2-40B4-BE49-F238E27FC236}">
                <a16:creationId xmlns:a16="http://schemas.microsoft.com/office/drawing/2014/main" id="{25EF16F4-6D00-431F-A64F-5D55094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885825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p(g)</a:t>
            </a:r>
          </a:p>
        </p:txBody>
      </p:sp>
      <p:sp>
        <p:nvSpPr>
          <p:cNvPr id="52" name="distribution-goal-g">
            <a:extLst xmlns:a="http://schemas.openxmlformats.org/drawingml/2006/main">
              <a:ext uri="{FF2B5EF4-FFF2-40B4-BE49-F238E27FC236}">
                <a16:creationId xmlns:a16="http://schemas.microsoft.com/office/drawing/2014/main" id="{9929F8FC-3AD6-4485-AE4F-26F7EBB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371725"/>
            <a:ext cx="31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53" name="previous-distribution">
            <a:extLst xmlns:a="http://schemas.openxmlformats.org/drawingml/2006/main">
              <a:ext uri="{FF2B5EF4-FFF2-40B4-BE49-F238E27FC236}">
                <a16:creationId xmlns:a16="http://schemas.microsoft.com/office/drawing/2014/main" id="{C572150B-6353-4256-A7C6-565617A7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1009650"/>
            <a:ext cx="3962400" cy="1647825"/>
          </a:xfrm>
          <a:custGeom xmlns:a="http://schemas.openxmlformats.org/drawingml/2006/main">
            <a:pathLst>
              <a:path w="3962400" h="1647825">
                <a:moveTo>
                  <a:pt x="0" y="1628775"/>
                </a:moveTo>
                <a:cubicBezTo>
                  <a:pt x="361950" y="1609725"/>
                  <a:pt x="704850" y="1409700"/>
                  <a:pt x="847725" y="1085850"/>
                </a:cubicBezTo>
                <a:cubicBezTo>
                  <a:pt x="971550" y="733425"/>
                  <a:pt x="895350" y="276225"/>
                  <a:pt x="1104900" y="247650"/>
                </a:cubicBezTo>
                <a:cubicBezTo>
                  <a:pt x="1466850" y="180975"/>
                  <a:pt x="1362075" y="1028700"/>
                  <a:pt x="1695450" y="1085850"/>
                </a:cubicBezTo>
                <a:cubicBezTo>
                  <a:pt x="2038350" y="1133475"/>
                  <a:pt x="2066925" y="600075"/>
                  <a:pt x="2219325" y="276225"/>
                </a:cubicBezTo>
                <a:cubicBezTo>
                  <a:pt x="2324100" y="0"/>
                  <a:pt x="2600325" y="38100"/>
                  <a:pt x="2705100" y="361950"/>
                </a:cubicBezTo>
                <a:cubicBezTo>
                  <a:pt x="2886075" y="933450"/>
                  <a:pt x="2990850" y="1162050"/>
                  <a:pt x="3267075" y="1352550"/>
                </a:cubicBezTo>
                <a:cubicBezTo>
                  <a:pt x="3505200" y="1524000"/>
                  <a:pt x="3638550" y="1628775"/>
                  <a:pt x="3962400" y="16478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ot"/>
          </a:ln>
        </p:spPr>
      </p:sp>
      <p:sp>
        <p:nvSpPr>
          <p:cNvPr id="54" name="current-distribution">
            <a:extLst xmlns:a="http://schemas.openxmlformats.org/drawingml/2006/main">
              <a:ext uri="{FF2B5EF4-FFF2-40B4-BE49-F238E27FC236}">
                <a16:creationId xmlns:a16="http://schemas.microsoft.com/office/drawing/2014/main" id="{BB42B692-05B4-4065-860F-965AE32C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1162050"/>
            <a:ext cx="3962400" cy="1495425"/>
          </a:xfrm>
          <a:custGeom xmlns:a="http://schemas.openxmlformats.org/drawingml/2006/main">
            <a:pathLst>
              <a:path w="3962400" h="1495425">
                <a:moveTo>
                  <a:pt x="0" y="1466850"/>
                </a:moveTo>
                <a:cubicBezTo>
                  <a:pt x="200025" y="1276350"/>
                  <a:pt x="371475" y="1133475"/>
                  <a:pt x="523875" y="533400"/>
                </a:cubicBezTo>
                <a:cubicBezTo>
                  <a:pt x="619125" y="161925"/>
                  <a:pt x="657225" y="0"/>
                  <a:pt x="866775" y="47625"/>
                </a:cubicBezTo>
                <a:cubicBezTo>
                  <a:pt x="1133475" y="104775"/>
                  <a:pt x="1143000" y="809625"/>
                  <a:pt x="1447800" y="1104900"/>
                </a:cubicBezTo>
                <a:cubicBezTo>
                  <a:pt x="1657350" y="1247775"/>
                  <a:pt x="1924050" y="1238250"/>
                  <a:pt x="2038350" y="1038225"/>
                </a:cubicBezTo>
                <a:cubicBezTo>
                  <a:pt x="2228850" y="561975"/>
                  <a:pt x="2390775" y="276225"/>
                  <a:pt x="2638425" y="295275"/>
                </a:cubicBezTo>
                <a:cubicBezTo>
                  <a:pt x="3019425" y="295275"/>
                  <a:pt x="3076575" y="1038225"/>
                  <a:pt x="3448050" y="1352550"/>
                </a:cubicBezTo>
                <a:cubicBezTo>
                  <a:pt x="3629025" y="1485900"/>
                  <a:pt x="3800475" y="1495425"/>
                  <a:pt x="3962400" y="14763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55" name="distribution-legend">
            <a:extLst xmlns:a="http://schemas.openxmlformats.org/drawingml/2006/main">
              <a:ext uri="{FF2B5EF4-FFF2-40B4-BE49-F238E27FC236}">
                <a16:creationId xmlns:a16="http://schemas.microsoft.com/office/drawing/2014/main" id="{ED46EC81-A38A-4E71-A125-61956D4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942975"/>
            <a:ext cx="1181100" cy="466725"/>
          </a:xfrm>
          <a:custGeom xmlns:a="http://schemas.openxmlformats.org/drawingml/2006/main">
            <a:pathLst>
              <a:path w="1181100" h="466725">
                <a:moveTo>
                  <a:pt x="66675" y="0"/>
                </a:moveTo>
                <a:lnTo>
                  <a:pt x="1114425" y="0"/>
                </a:lnTo>
                <a:cubicBezTo>
                  <a:pt x="1151249" y="0"/>
                  <a:pt x="1181100" y="29851"/>
                  <a:pt x="1181100" y="66675"/>
                </a:cubicBezTo>
                <a:lnTo>
                  <a:pt x="1181100" y="400050"/>
                </a:lnTo>
                <a:cubicBezTo>
                  <a:pt x="1181100" y="436874"/>
                  <a:pt x="1151249" y="466725"/>
                  <a:pt x="1114425" y="466725"/>
                </a:cubicBezTo>
                <a:lnTo>
                  <a:pt x="66675" y="466725"/>
                </a:lnTo>
                <a:cubicBezTo>
                  <a:pt x="29851" y="466725"/>
                  <a:pt x="0" y="436874"/>
                  <a:pt x="0" y="40005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A9A9"/>
            </a:solidFill>
            <a:prstDash val="solid"/>
          </a:ln>
        </p:spPr>
      </p:sp>
      <p:sp>
        <p:nvSpPr>
          <p:cNvPr id="56" name="previous-key">
            <a:extLst xmlns:a="http://schemas.openxmlformats.org/drawingml/2006/main">
              <a:ext uri="{FF2B5EF4-FFF2-40B4-BE49-F238E27FC236}">
                <a16:creationId xmlns:a16="http://schemas.microsoft.com/office/drawing/2014/main" id="{AD02233F-326B-4D5D-9E9D-58A1484B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971550"/>
            <a:ext cx="77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previous:</a:t>
            </a:r>
          </a:p>
        </p:txBody>
      </p:sp>
      <p:sp>
        <p:nvSpPr>
          <p:cNvPr id="57" name="current-key">
            <a:extLst xmlns:a="http://schemas.openxmlformats.org/drawingml/2006/main">
              <a:ext uri="{FF2B5EF4-FFF2-40B4-BE49-F238E27FC236}">
                <a16:creationId xmlns:a16="http://schemas.microsoft.com/office/drawing/2014/main" id="{29C9EB14-20A8-46EF-A8A8-A9326B4F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1162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current:</a:t>
            </a:r>
          </a:p>
        </p:txBody>
      </p:sp>
      <p:sp>
        <p:nvSpPr>
          <p:cNvPr id="58" name="previous-key-line">
            <a:extLst xmlns:a="http://schemas.openxmlformats.org/drawingml/2006/main">
              <a:ext uri="{FF2B5EF4-FFF2-40B4-BE49-F238E27FC236}">
                <a16:creationId xmlns:a16="http://schemas.microsoft.com/office/drawing/2014/main" id="{57C55B8D-3847-4F89-9534-CFE6472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10490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59" name="current-key-line">
            <a:extLst xmlns:a="http://schemas.openxmlformats.org/drawingml/2006/main">
              <a:ext uri="{FF2B5EF4-FFF2-40B4-BE49-F238E27FC236}">
                <a16:creationId xmlns:a16="http://schemas.microsoft.com/office/drawing/2014/main" id="{624CEFD4-DBF7-4BE2-83FC-B422719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29540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60" name="value-legend">
            <a:extLst xmlns:a="http://schemas.openxmlformats.org/drawingml/2006/main">
              <a:ext uri="{FF2B5EF4-FFF2-40B4-BE49-F238E27FC236}">
                <a16:creationId xmlns:a16="http://schemas.microsoft.com/office/drawing/2014/main" id="{53CB7085-275C-49E3-A3A3-291D3610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200025"/>
            <a:ext cx="3124200" cy="619125"/>
          </a:xfrm>
          <a:custGeom xmlns:a="http://schemas.openxmlformats.org/drawingml/2006/main">
            <a:pathLst>
              <a:path w="3124200" h="619125">
                <a:moveTo>
                  <a:pt x="114300" y="0"/>
                </a:moveTo>
                <a:lnTo>
                  <a:pt x="3009900" y="0"/>
                </a:lnTo>
                <a:cubicBezTo>
                  <a:pt x="3073026" y="0"/>
                  <a:pt x="3124200" y="51174"/>
                  <a:pt x="3124200" y="114300"/>
                </a:cubicBezTo>
                <a:lnTo>
                  <a:pt x="3124200" y="504825"/>
                </a:lnTo>
                <a:cubicBezTo>
                  <a:pt x="3124200" y="567951"/>
                  <a:pt x="3073026" y="619125"/>
                  <a:pt x="3009900" y="619125"/>
                </a:cubicBezTo>
                <a:lnTo>
                  <a:pt x="114300" y="619125"/>
                </a:lnTo>
                <a:cubicBezTo>
                  <a:pt x="51174" y="619125"/>
                  <a:pt x="0" y="567951"/>
                  <a:pt x="0" y="5048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AFAF9"/>
          </a:solidFill>
          <a:ln xmlns:a="http://schemas.openxmlformats.org/drawingml/2006/main" w="12383">
            <a:solidFill>
              <a:srgbClr val="B5B5B5"/>
            </a:solidFill>
            <a:prstDash val="solid"/>
          </a:ln>
        </p:spPr>
      </p:sp>
      <p:sp>
        <p:nvSpPr>
          <p:cNvPr id="61" name="value-function-key">
            <a:extLst xmlns:a="http://schemas.openxmlformats.org/drawingml/2006/main">
              <a:ext uri="{FF2B5EF4-FFF2-40B4-BE49-F238E27FC236}">
                <a16:creationId xmlns:a16="http://schemas.microsoft.com/office/drawing/2014/main" id="{483830CC-9423-4C8F-A51C-73A238F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247650"/>
            <a:ext cx="2886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Vₖ: k-th value function</a:t>
            </a:r>
          </a:p>
        </p:txBody>
      </p:sp>
      <p:sp>
        <p:nvSpPr>
          <p:cNvPr id="62" name="uncertainty-key">
            <a:extLst xmlns:a="http://schemas.openxmlformats.org/drawingml/2006/main">
              <a:ext uri="{FF2B5EF4-FFF2-40B4-BE49-F238E27FC236}">
                <a16:creationId xmlns:a16="http://schemas.microsoft.com/office/drawing/2014/main" id="{EF331080-57EE-4918-A42D-6755450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514350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 : Uncertainty of value functions</a:t>
            </a:r>
          </a:p>
        </p:txBody>
      </p:sp>
      <p:sp>
        <p:nvSpPr>
          <p:cNvPr id="63" name="equation9">
            <a:extLst xmlns:a="http://schemas.openxmlformats.org/drawingml/2006/main">
              <a:ext uri="{FF2B5EF4-FFF2-40B4-BE49-F238E27FC236}">
                <a16:creationId xmlns:a16="http://schemas.microsoft.com/office/drawing/2014/main" id="{5133C014-168E-4E32-AEB8-A6F9E1A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981325"/>
            <a:ext cx="1828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(Equation 9)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07BAB6-5638-4E0E-99B7-479D2B059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fde2fa41f40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0775" y="3514725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65" name="goal15">
            <a:extLst xmlns:a="http://schemas.openxmlformats.org/drawingml/2006/main">
              <a:ext uri="{FF2B5EF4-FFF2-40B4-BE49-F238E27FC236}">
                <a16:creationId xmlns:a16="http://schemas.microsoft.com/office/drawing/2014/main" id="{55CE8568-B4AC-44BA-8EB8-7AD8D19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514725"/>
            <a:ext cx="157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goal15-caption-back">
            <a:extLst xmlns:a="http://schemas.openxmlformats.org/drawingml/2006/main">
              <a:ext uri="{FF2B5EF4-FFF2-40B4-BE49-F238E27FC236}">
                <a16:creationId xmlns:a16="http://schemas.microsoft.com/office/drawing/2014/main" id="{C61C89C9-1A40-410A-B45B-973E0B0A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35433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F4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goal15-caption">
            <a:extLst xmlns:a="http://schemas.openxmlformats.org/drawingml/2006/main">
              <a:ext uri="{FF2B5EF4-FFF2-40B4-BE49-F238E27FC236}">
                <a16:creationId xmlns:a16="http://schemas.microsoft.com/office/drawing/2014/main" id="{7640E835-3254-49F3-BE54-5F9F87B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543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angle: 15°</a:t>
            </a: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4C6CF8-F2F5-460C-88BE-EE91798968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8c87c910e48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275" y="3514725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69" name="goal0">
            <a:extLst xmlns:a="http://schemas.openxmlformats.org/drawingml/2006/main">
              <a:ext uri="{FF2B5EF4-FFF2-40B4-BE49-F238E27FC236}">
                <a16:creationId xmlns:a16="http://schemas.microsoft.com/office/drawing/2014/main" id="{3FFDD664-DD5D-4451-9F01-8E68665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514725"/>
            <a:ext cx="157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goal0-caption-back">
            <a:extLst xmlns:a="http://schemas.openxmlformats.org/drawingml/2006/main">
              <a:ext uri="{FF2B5EF4-FFF2-40B4-BE49-F238E27FC236}">
                <a16:creationId xmlns:a16="http://schemas.microsoft.com/office/drawing/2014/main" id="{1D74C962-C1DA-4AA7-9A8C-AE6B352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35433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F4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goal0-caption">
            <a:extLst xmlns:a="http://schemas.openxmlformats.org/drawingml/2006/main">
              <a:ext uri="{FF2B5EF4-FFF2-40B4-BE49-F238E27FC236}">
                <a16:creationId xmlns:a16="http://schemas.microsoft.com/office/drawing/2014/main" id="{5A1AC280-9EFF-494D-9EFB-2884DF2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543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angle: 0°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9A4A85-7966-4ADC-9619-E88C6F3E4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4597ab15e4e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0425" y="3514725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73" name="goal60">
            <a:extLst xmlns:a="http://schemas.openxmlformats.org/drawingml/2006/main">
              <a:ext uri="{FF2B5EF4-FFF2-40B4-BE49-F238E27FC236}">
                <a16:creationId xmlns:a16="http://schemas.microsoft.com/office/drawing/2014/main" id="{621DF1C0-141A-4A5A-B448-EE5EC3A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514725"/>
            <a:ext cx="157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goal60-caption-back">
            <a:extLst xmlns:a="http://schemas.openxmlformats.org/drawingml/2006/main">
              <a:ext uri="{FF2B5EF4-FFF2-40B4-BE49-F238E27FC236}">
                <a16:creationId xmlns:a16="http://schemas.microsoft.com/office/drawing/2014/main" id="{1708D7F8-E9CA-4EAB-9ED3-C773CE9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525" y="35433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F4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goal60-caption">
            <a:extLst xmlns:a="http://schemas.openxmlformats.org/drawingml/2006/main">
              <a:ext uri="{FF2B5EF4-FFF2-40B4-BE49-F238E27FC236}">
                <a16:creationId xmlns:a16="http://schemas.microsoft.com/office/drawing/2014/main" id="{20E0ECEA-9B15-4F8C-8143-F54A3D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543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angle: 60°</a:t>
            </a:r>
          </a:p>
        </p:txBody>
      </p:sp>
      <p:sp>
        <p:nvSpPr>
          <p:cNvPr id="76" name="sample15">
            <a:extLst xmlns:a="http://schemas.openxmlformats.org/drawingml/2006/main">
              <a:ext uri="{FF2B5EF4-FFF2-40B4-BE49-F238E27FC236}">
                <a16:creationId xmlns:a16="http://schemas.microsoft.com/office/drawing/2014/main" id="{F89B676A-DEAA-4344-B024-36570E8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1285875"/>
            <a:ext cx="647700" cy="2228850"/>
          </a:xfrm>
          <a:custGeom xmlns:a="http://schemas.openxmlformats.org/drawingml/2006/main">
            <a:pathLst>
              <a:path w="647700" h="2228850">
                <a:moveTo>
                  <a:pt x="0" y="222885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77" name="sample15-arrow">
            <a:extLst xmlns:a="http://schemas.openxmlformats.org/drawingml/2006/main">
              <a:ext uri="{FF2B5EF4-FFF2-40B4-BE49-F238E27FC236}">
                <a16:creationId xmlns:a16="http://schemas.microsoft.com/office/drawing/2014/main" id="{97A6F189-D4FD-4154-B65B-C9D0735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8556" y="1285875"/>
            <a:ext cx="85978" cy="103959"/>
          </a:xfrm>
          <a:custGeom xmlns:a="http://schemas.openxmlformats.org/drawingml/2006/main">
            <a:pathLst>
              <a:path w="85978" h="103959">
                <a:moveTo>
                  <a:pt x="69569" y="0"/>
                </a:moveTo>
                <a:lnTo>
                  <a:pt x="85978" y="103959"/>
                </a:lnTo>
                <a:lnTo>
                  <a:pt x="0" y="78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sample0">
            <a:extLst xmlns:a="http://schemas.openxmlformats.org/drawingml/2006/main">
              <a:ext uri="{FF2B5EF4-FFF2-40B4-BE49-F238E27FC236}">
                <a16:creationId xmlns:a16="http://schemas.microsoft.com/office/drawing/2014/main" id="{FF570C55-C5F5-4206-AEFD-A28ECB3A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343150"/>
            <a:ext cx="57150" cy="1171575"/>
          </a:xfrm>
          <a:custGeom xmlns:a="http://schemas.openxmlformats.org/drawingml/2006/main">
            <a:pathLst>
              <a:path w="57150" h="1171575">
                <a:moveTo>
                  <a:pt x="5715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79" name="sample0-arrow">
            <a:extLst xmlns:a="http://schemas.openxmlformats.org/drawingml/2006/main">
              <a:ext uri="{FF2B5EF4-FFF2-40B4-BE49-F238E27FC236}">
                <a16:creationId xmlns:a16="http://schemas.microsoft.com/office/drawing/2014/main" id="{839ACB07-B4C0-4F66-8520-47BE31D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1526" y="2343150"/>
            <a:ext cx="89429" cy="97318"/>
          </a:xfrm>
          <a:custGeom xmlns:a="http://schemas.openxmlformats.org/drawingml/2006/main">
            <a:pathLst>
              <a:path w="89429" h="97318">
                <a:moveTo>
                  <a:pt x="40074" y="0"/>
                </a:moveTo>
                <a:lnTo>
                  <a:pt x="89429" y="92956"/>
                </a:lnTo>
                <a:lnTo>
                  <a:pt x="0" y="97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sample60">
            <a:extLst xmlns:a="http://schemas.openxmlformats.org/drawingml/2006/main">
              <a:ext uri="{FF2B5EF4-FFF2-40B4-BE49-F238E27FC236}">
                <a16:creationId xmlns:a16="http://schemas.microsoft.com/office/drawing/2014/main" id="{A76BB62D-C3B9-4986-956B-A325C43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571750"/>
            <a:ext cx="733425" cy="942975"/>
          </a:xfrm>
          <a:custGeom xmlns:a="http://schemas.openxmlformats.org/drawingml/2006/main">
            <a:pathLst>
              <a:path w="733425" h="942975">
                <a:moveTo>
                  <a:pt x="733425" y="942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81" name="sample60-arrow">
            <a:extLst xmlns:a="http://schemas.openxmlformats.org/drawingml/2006/main">
              <a:ext uri="{FF2B5EF4-FFF2-40B4-BE49-F238E27FC236}">
                <a16:creationId xmlns:a16="http://schemas.microsoft.com/office/drawing/2014/main" id="{297A03E5-E30A-4C47-BBCA-DF297E14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571750"/>
            <a:ext cx="93815" cy="102670"/>
          </a:xfrm>
          <a:custGeom xmlns:a="http://schemas.openxmlformats.org/drawingml/2006/main">
            <a:pathLst>
              <a:path w="93815" h="102670">
                <a:moveTo>
                  <a:pt x="0" y="0"/>
                </a:moveTo>
                <a:lnTo>
                  <a:pt x="93815" y="47701"/>
                </a:lnTo>
                <a:lnTo>
                  <a:pt x="23141" y="102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selected-goal-1">
            <a:extLst xmlns:a="http://schemas.openxmlformats.org/drawingml/2006/main">
              <a:ext uri="{FF2B5EF4-FFF2-40B4-BE49-F238E27FC236}">
                <a16:creationId xmlns:a16="http://schemas.microsoft.com/office/drawing/2014/main" id="{DB207DDF-53A0-4F34-98C7-67C46496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1133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selected-goal-2">
            <a:extLst xmlns:a="http://schemas.openxmlformats.org/drawingml/2006/main">
              <a:ext uri="{FF2B5EF4-FFF2-40B4-BE49-F238E27FC236}">
                <a16:creationId xmlns:a16="http://schemas.microsoft.com/office/drawing/2014/main" id="{C81663B6-77EE-4D61-B4EE-55796C57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elected-goal-3">
            <a:extLst xmlns:a="http://schemas.openxmlformats.org/drawingml/2006/main">
              <a:ext uri="{FF2B5EF4-FFF2-40B4-BE49-F238E27FC236}">
                <a16:creationId xmlns:a16="http://schemas.microsoft.com/office/drawing/2014/main" id="{28CCA600-10F7-48E1-8782-F078F73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43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goals-title">
            <a:extLst xmlns:a="http://schemas.openxmlformats.org/drawingml/2006/main">
              <a:ext uri="{FF2B5EF4-FFF2-40B4-BE49-F238E27FC236}">
                <a16:creationId xmlns:a16="http://schemas.microsoft.com/office/drawing/2014/main" id="{182998AB-7CBE-4FC6-B08F-50B367F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752850"/>
            <a:ext cx="1666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potential</a:t>
            </a:r>
          </a:p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curriculum</a:t>
            </a:r>
          </a:p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86" name="density-title">
            <a:extLst xmlns:a="http://schemas.openxmlformats.org/drawingml/2006/main">
              <a:ext uri="{FF2B5EF4-FFF2-40B4-BE49-F238E27FC236}">
                <a16:creationId xmlns:a16="http://schemas.microsoft.com/office/drawing/2014/main" id="{F395DABA-C52A-4A88-91F9-942179A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286375"/>
            <a:ext cx="1676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density</a:t>
            </a:r>
          </a:p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87" name="uncertainty-title">
            <a:extLst xmlns:a="http://schemas.openxmlformats.org/drawingml/2006/main">
              <a:ext uri="{FF2B5EF4-FFF2-40B4-BE49-F238E27FC236}">
                <a16:creationId xmlns:a16="http://schemas.microsoft.com/office/drawing/2014/main" id="{1B1A12B5-F0C5-4021-A20A-76189440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6296025"/>
            <a:ext cx="1685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88" name="equation7">
            <a:extLst xmlns:a="http://schemas.openxmlformats.org/drawingml/2006/main">
              <a:ext uri="{FF2B5EF4-FFF2-40B4-BE49-F238E27FC236}">
                <a16:creationId xmlns:a16="http://schemas.microsoft.com/office/drawing/2014/main" id="{B650D53E-A8F0-4A9D-A133-FA52CF1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6648450"/>
            <a:ext cx="1685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(Equation 7)</a:t>
            </a:r>
          </a:p>
        </p:txBody>
      </p:sp>
      <p:sp>
        <p:nvSpPr>
          <p:cNvPr id="89" name="ellipsis-goals">
            <a:extLst xmlns:a="http://schemas.openxmlformats.org/drawingml/2006/main">
              <a:ext uri="{FF2B5EF4-FFF2-40B4-BE49-F238E27FC236}">
                <a16:creationId xmlns:a16="http://schemas.microsoft.com/office/drawing/2014/main" id="{DB029B56-4BDC-4167-85EE-788D350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3971925"/>
            <a:ext cx="60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sp>
        <p:nvSpPr>
          <p:cNvPr id="90" name="ellipsis-density">
            <a:extLst xmlns:a="http://schemas.openxmlformats.org/drawingml/2006/main">
              <a:ext uri="{FF2B5EF4-FFF2-40B4-BE49-F238E27FC236}">
                <a16:creationId xmlns:a16="http://schemas.microsoft.com/office/drawing/2014/main" id="{94EC4B2E-B16B-4BB5-A51D-8D2FD748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5353050"/>
            <a:ext cx="60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sp>
        <p:nvSpPr>
          <p:cNvPr id="91" name="ellipsis-uncertainty">
            <a:extLst xmlns:a="http://schemas.openxmlformats.org/drawingml/2006/main">
              <a:ext uri="{FF2B5EF4-FFF2-40B4-BE49-F238E27FC236}">
                <a16:creationId xmlns:a16="http://schemas.microsoft.com/office/drawing/2014/main" id="{50D1D0A7-CF98-4AE9-8276-FBBB520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6238875"/>
            <a:ext cx="60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sp>
        <p:nvSpPr>
          <p:cNvPr id="92" name="goal-separator-0">
            <a:extLst xmlns:a="http://schemas.openxmlformats.org/drawingml/2006/main">
              <a:ext uri="{FF2B5EF4-FFF2-40B4-BE49-F238E27FC236}">
                <a16:creationId xmlns:a16="http://schemas.microsoft.com/office/drawing/2014/main" id="{904EC1F6-40FB-4CF8-9A40-D604CCEE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505200"/>
            <a:ext cx="953" cy="1571625"/>
          </a:xfrm>
          <a:custGeom xmlns:a="http://schemas.openxmlformats.org/drawingml/2006/main">
            <a:pathLst>
              <a:path w="953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55555"/>
            </a:solidFill>
            <a:prstDash val="dash"/>
          </a:ln>
        </p:spPr>
      </p:sp>
      <p:sp>
        <p:nvSpPr>
          <p:cNvPr id="93" name="density-separator-0">
            <a:extLst xmlns:a="http://schemas.openxmlformats.org/drawingml/2006/main">
              <a:ext uri="{FF2B5EF4-FFF2-40B4-BE49-F238E27FC236}">
                <a16:creationId xmlns:a16="http://schemas.microsoft.com/office/drawing/2014/main" id="{C68D3A9F-1142-4A0D-B1C2-E8CCE796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5334000"/>
            <a:ext cx="953" cy="752475"/>
          </a:xfrm>
          <a:custGeom xmlns:a="http://schemas.openxmlformats.org/drawingml/2006/main">
            <a:pathLst>
              <a:path w="953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94" name="uncertainty-separator-0">
            <a:extLst xmlns:a="http://schemas.openxmlformats.org/drawingml/2006/main">
              <a:ext uri="{FF2B5EF4-FFF2-40B4-BE49-F238E27FC236}">
                <a16:creationId xmlns:a16="http://schemas.microsoft.com/office/drawing/2014/main" id="{C26FC8E9-1460-4E28-B153-5D11FC6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6305550"/>
            <a:ext cx="953" cy="790575"/>
          </a:xfrm>
          <a:custGeom xmlns:a="http://schemas.openxmlformats.org/drawingml/2006/main">
            <a:pathLst>
              <a:path w="953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95" name="goal-separator-1">
            <a:extLst xmlns:a="http://schemas.openxmlformats.org/drawingml/2006/main">
              <a:ext uri="{FF2B5EF4-FFF2-40B4-BE49-F238E27FC236}">
                <a16:creationId xmlns:a16="http://schemas.microsoft.com/office/drawing/2014/main" id="{5ED95FD6-E2E6-4BAD-A0E5-A6F4FF1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3505200"/>
            <a:ext cx="953" cy="1571625"/>
          </a:xfrm>
          <a:custGeom xmlns:a="http://schemas.openxmlformats.org/drawingml/2006/main">
            <a:pathLst>
              <a:path w="953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55555"/>
            </a:solidFill>
            <a:prstDash val="dash"/>
          </a:ln>
        </p:spPr>
      </p:sp>
      <p:sp>
        <p:nvSpPr>
          <p:cNvPr id="96" name="density-separator-1">
            <a:extLst xmlns:a="http://schemas.openxmlformats.org/drawingml/2006/main">
              <a:ext uri="{FF2B5EF4-FFF2-40B4-BE49-F238E27FC236}">
                <a16:creationId xmlns:a16="http://schemas.microsoft.com/office/drawing/2014/main" id="{4EE70152-3F49-46C0-A4D0-C5F2C239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5334000"/>
            <a:ext cx="953" cy="752475"/>
          </a:xfrm>
          <a:custGeom xmlns:a="http://schemas.openxmlformats.org/drawingml/2006/main">
            <a:pathLst>
              <a:path w="953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97" name="uncertainty-separator-1">
            <a:extLst xmlns:a="http://schemas.openxmlformats.org/drawingml/2006/main">
              <a:ext uri="{FF2B5EF4-FFF2-40B4-BE49-F238E27FC236}">
                <a16:creationId xmlns:a16="http://schemas.microsoft.com/office/drawing/2014/main" id="{E6CC3E28-ACBB-4F44-BDCA-E17D55E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6305550"/>
            <a:ext cx="953" cy="790575"/>
          </a:xfrm>
          <a:custGeom xmlns:a="http://schemas.openxmlformats.org/drawingml/2006/main">
            <a:pathLst>
              <a:path w="953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98" name="goal-separator-2">
            <a:extLst xmlns:a="http://schemas.openxmlformats.org/drawingml/2006/main">
              <a:ext uri="{FF2B5EF4-FFF2-40B4-BE49-F238E27FC236}">
                <a16:creationId xmlns:a16="http://schemas.microsoft.com/office/drawing/2014/main" id="{8B74F1B6-2AC4-4688-8BEE-41AF5EE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3505200"/>
            <a:ext cx="953" cy="1571625"/>
          </a:xfrm>
          <a:custGeom xmlns:a="http://schemas.openxmlformats.org/drawingml/2006/main">
            <a:pathLst>
              <a:path w="953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55555"/>
            </a:solidFill>
            <a:prstDash val="dash"/>
          </a:ln>
        </p:spPr>
      </p:sp>
      <p:sp>
        <p:nvSpPr>
          <p:cNvPr id="99" name="density-separator-2">
            <a:extLst xmlns:a="http://schemas.openxmlformats.org/drawingml/2006/main">
              <a:ext uri="{FF2B5EF4-FFF2-40B4-BE49-F238E27FC236}">
                <a16:creationId xmlns:a16="http://schemas.microsoft.com/office/drawing/2014/main" id="{B796A37D-99B5-4613-971E-5F4B51A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5334000"/>
            <a:ext cx="953" cy="752475"/>
          </a:xfrm>
          <a:custGeom xmlns:a="http://schemas.openxmlformats.org/drawingml/2006/main">
            <a:pathLst>
              <a:path w="953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100" name="uncertainty-separator-2">
            <a:extLst xmlns:a="http://schemas.openxmlformats.org/drawingml/2006/main">
              <a:ext uri="{FF2B5EF4-FFF2-40B4-BE49-F238E27FC236}">
                <a16:creationId xmlns:a16="http://schemas.microsoft.com/office/drawing/2014/main" id="{D3EC135D-0394-4D73-944E-D625C8E6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6305550"/>
            <a:ext cx="953" cy="790575"/>
          </a:xfrm>
          <a:custGeom xmlns:a="http://schemas.openxmlformats.org/drawingml/2006/main">
            <a:pathLst>
              <a:path w="953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dash"/>
          </a:ln>
        </p:spPr>
      </p:sp>
      <p:sp>
        <p:nvSpPr>
          <p:cNvPr id="101" name="density-estimate-panel">
            <a:extLst xmlns:a="http://schemas.openxmlformats.org/drawingml/2006/main">
              <a:ext uri="{FF2B5EF4-FFF2-40B4-BE49-F238E27FC236}">
                <a16:creationId xmlns:a16="http://schemas.microsoft.com/office/drawing/2014/main" id="{3E7DEB51-FE81-4157-A7B5-562EC3E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5181600"/>
            <a:ext cx="6638925" cy="1009650"/>
          </a:xfrm>
          <a:custGeom xmlns:a="http://schemas.openxmlformats.org/drawingml/2006/main">
            <a:pathLst>
              <a:path w="6638925" h="1009650">
                <a:moveTo>
                  <a:pt x="171450" y="0"/>
                </a:moveTo>
                <a:lnTo>
                  <a:pt x="6467475" y="0"/>
                </a:lnTo>
                <a:cubicBezTo>
                  <a:pt x="6562164" y="0"/>
                  <a:pt x="6638925" y="76761"/>
                  <a:pt x="6638925" y="171450"/>
                </a:cubicBezTo>
                <a:lnTo>
                  <a:pt x="6638925" y="838200"/>
                </a:lnTo>
                <a:cubicBezTo>
                  <a:pt x="6638925" y="932889"/>
                  <a:pt x="6562164" y="1009650"/>
                  <a:pt x="6467475" y="1009650"/>
                </a:cubicBezTo>
                <a:lnTo>
                  <a:pt x="171450" y="1009650"/>
                </a:lnTo>
                <a:cubicBezTo>
                  <a:pt x="76761" y="1009650"/>
                  <a:pt x="0" y="932889"/>
                  <a:pt x="0" y="8382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102" name="density-axis-1">
            <a:extLst xmlns:a="http://schemas.openxmlformats.org/drawingml/2006/main">
              <a:ext uri="{FF2B5EF4-FFF2-40B4-BE49-F238E27FC236}">
                <a16:creationId xmlns:a16="http://schemas.microsoft.com/office/drawing/2014/main" id="{0701AF91-4B8E-4B6E-8AAF-6FAF1530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6029325"/>
            <a:ext cx="1343025" cy="953"/>
          </a:xfrm>
          <a:custGeom xmlns:a="http://schemas.openxmlformats.org/drawingml/2006/main">
            <a:pathLst>
              <a:path w="1343025" h="953">
                <a:moveTo>
                  <a:pt x="0" y="0"/>
                </a:moveTo>
                <a:lnTo>
                  <a:pt x="1343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solid"/>
          </a:ln>
        </p:spPr>
      </p:sp>
      <p:sp>
        <p:nvSpPr>
          <p:cNvPr id="103" name="density-axis-1-arrow">
            <a:extLst xmlns:a="http://schemas.openxmlformats.org/drawingml/2006/main">
              <a:ext uri="{FF2B5EF4-FFF2-40B4-BE49-F238E27FC236}">
                <a16:creationId xmlns:a16="http://schemas.microsoft.com/office/drawing/2014/main" id="{FF980DAF-EC72-4022-B841-0068A4A7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85725" y="40291"/>
                </a:moveTo>
                <a:lnTo>
                  <a:pt x="0" y="805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4" name="density-axis-1-head">
            <a:extLst xmlns:a="http://schemas.openxmlformats.org/drawingml/2006/main">
              <a:ext uri="{FF2B5EF4-FFF2-40B4-BE49-F238E27FC236}">
                <a16:creationId xmlns:a16="http://schemas.microsoft.com/office/drawing/2014/main" id="{B827A31C-DE48-4864-BF13-B1C111D1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0" y="40291"/>
                </a:moveTo>
                <a:lnTo>
                  <a:pt x="85725" y="0"/>
                </a:lnTo>
                <a:lnTo>
                  <a:pt x="85725" y="80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5" name="density-g-1">
            <a:extLst xmlns:a="http://schemas.openxmlformats.org/drawingml/2006/main">
              <a:ext uri="{FF2B5EF4-FFF2-40B4-BE49-F238E27FC236}">
                <a16:creationId xmlns:a16="http://schemas.microsoft.com/office/drawing/2014/main" id="{7E67C69B-3641-4301-953E-2E31939D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5829300"/>
            <a:ext cx="219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06" name="density-curve-1">
            <a:extLst xmlns:a="http://schemas.openxmlformats.org/drawingml/2006/main">
              <a:ext uri="{FF2B5EF4-FFF2-40B4-BE49-F238E27FC236}">
                <a16:creationId xmlns:a16="http://schemas.microsoft.com/office/drawing/2014/main" id="{C9E3371F-B491-4CD2-B745-F6367DD2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5257800"/>
            <a:ext cx="1247775" cy="676275"/>
          </a:xfrm>
          <a:custGeom xmlns:a="http://schemas.openxmlformats.org/drawingml/2006/main">
            <a:pathLst>
              <a:path w="1247775" h="676275">
                <a:moveTo>
                  <a:pt x="0" y="676275"/>
                </a:moveTo>
                <a:cubicBezTo>
                  <a:pt x="219075" y="676275"/>
                  <a:pt x="323850" y="552450"/>
                  <a:pt x="400050" y="285750"/>
                </a:cubicBezTo>
                <a:cubicBezTo>
                  <a:pt x="447675" y="133350"/>
                  <a:pt x="514350" y="0"/>
                  <a:pt x="628650" y="28575"/>
                </a:cubicBezTo>
                <a:cubicBezTo>
                  <a:pt x="781050" y="38100"/>
                  <a:pt x="790575" y="247650"/>
                  <a:pt x="885825" y="457200"/>
                </a:cubicBezTo>
                <a:cubicBezTo>
                  <a:pt x="981075" y="638175"/>
                  <a:pt x="1114425" y="676275"/>
                  <a:pt x="1247775" y="676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7" name="density-marker-1">
            <a:extLst xmlns:a="http://schemas.openxmlformats.org/drawingml/2006/main">
              <a:ext uri="{FF2B5EF4-FFF2-40B4-BE49-F238E27FC236}">
                <a16:creationId xmlns:a16="http://schemas.microsoft.com/office/drawing/2014/main" id="{47C9999B-214A-4C60-8CD9-0C3B9C3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5695950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dash"/>
          </a:ln>
        </p:spPr>
      </p:sp>
      <p:sp>
        <p:nvSpPr>
          <p:cNvPr id="108" name="density-marker-dot-1">
            <a:extLst xmlns:a="http://schemas.openxmlformats.org/drawingml/2006/main">
              <a:ext uri="{FF2B5EF4-FFF2-40B4-BE49-F238E27FC236}">
                <a16:creationId xmlns:a16="http://schemas.microsoft.com/office/drawing/2014/main" id="{2D991FC6-0313-4405-9FFC-00FA5D3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564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density-axis-2">
            <a:extLst xmlns:a="http://schemas.openxmlformats.org/drawingml/2006/main">
              <a:ext uri="{FF2B5EF4-FFF2-40B4-BE49-F238E27FC236}">
                <a16:creationId xmlns:a16="http://schemas.microsoft.com/office/drawing/2014/main" id="{301A2926-322E-4E8D-A365-94FF7AB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029325"/>
            <a:ext cx="1343025" cy="953"/>
          </a:xfrm>
          <a:custGeom xmlns:a="http://schemas.openxmlformats.org/drawingml/2006/main">
            <a:pathLst>
              <a:path w="1343025" h="953">
                <a:moveTo>
                  <a:pt x="0" y="0"/>
                </a:moveTo>
                <a:lnTo>
                  <a:pt x="1343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solid"/>
          </a:ln>
        </p:spPr>
      </p:sp>
      <p:sp>
        <p:nvSpPr>
          <p:cNvPr id="110" name="density-axis-2-arrow">
            <a:extLst xmlns:a="http://schemas.openxmlformats.org/drawingml/2006/main">
              <a:ext uri="{FF2B5EF4-FFF2-40B4-BE49-F238E27FC236}">
                <a16:creationId xmlns:a16="http://schemas.microsoft.com/office/drawing/2014/main" id="{07C367EA-3790-4628-AA82-2DCF0D8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85725" y="40291"/>
                </a:moveTo>
                <a:lnTo>
                  <a:pt x="0" y="805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1" name="density-axis-2-head">
            <a:extLst xmlns:a="http://schemas.openxmlformats.org/drawingml/2006/main">
              <a:ext uri="{FF2B5EF4-FFF2-40B4-BE49-F238E27FC236}">
                <a16:creationId xmlns:a16="http://schemas.microsoft.com/office/drawing/2014/main" id="{C36A69AC-6630-424D-A0DB-C969B0B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0" y="40291"/>
                </a:moveTo>
                <a:lnTo>
                  <a:pt x="85725" y="0"/>
                </a:lnTo>
                <a:lnTo>
                  <a:pt x="85725" y="80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2" name="density-g-2">
            <a:extLst xmlns:a="http://schemas.openxmlformats.org/drawingml/2006/main">
              <a:ext uri="{FF2B5EF4-FFF2-40B4-BE49-F238E27FC236}">
                <a16:creationId xmlns:a16="http://schemas.microsoft.com/office/drawing/2014/main" id="{AADAE72C-EE7B-49A4-B8CC-E48CE51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829300"/>
            <a:ext cx="219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13" name="density-curve-2">
            <a:extLst xmlns:a="http://schemas.openxmlformats.org/drawingml/2006/main">
              <a:ext uri="{FF2B5EF4-FFF2-40B4-BE49-F238E27FC236}">
                <a16:creationId xmlns:a16="http://schemas.microsoft.com/office/drawing/2014/main" id="{56C52ABD-4E0A-4795-BFB7-0794EFD6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5257800"/>
            <a:ext cx="1247775" cy="676275"/>
          </a:xfrm>
          <a:custGeom xmlns:a="http://schemas.openxmlformats.org/drawingml/2006/main">
            <a:pathLst>
              <a:path w="1247775" h="676275">
                <a:moveTo>
                  <a:pt x="0" y="676275"/>
                </a:moveTo>
                <a:cubicBezTo>
                  <a:pt x="219075" y="676275"/>
                  <a:pt x="323850" y="552450"/>
                  <a:pt x="400050" y="285750"/>
                </a:cubicBezTo>
                <a:cubicBezTo>
                  <a:pt x="447675" y="133350"/>
                  <a:pt x="514350" y="0"/>
                  <a:pt x="628650" y="28575"/>
                </a:cubicBezTo>
                <a:cubicBezTo>
                  <a:pt x="781050" y="38100"/>
                  <a:pt x="790575" y="247650"/>
                  <a:pt x="885825" y="457200"/>
                </a:cubicBezTo>
                <a:cubicBezTo>
                  <a:pt x="981075" y="638175"/>
                  <a:pt x="1114425" y="676275"/>
                  <a:pt x="1247775" y="676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4" name="density-marker-2">
            <a:extLst xmlns:a="http://schemas.openxmlformats.org/drawingml/2006/main">
              <a:ext uri="{FF2B5EF4-FFF2-40B4-BE49-F238E27FC236}">
                <a16:creationId xmlns:a16="http://schemas.microsoft.com/office/drawing/2014/main" id="{B3D6DDC0-3D8E-406C-BCAA-4183504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305425"/>
            <a:ext cx="953" cy="723900"/>
          </a:xfrm>
          <a:custGeom xmlns:a="http://schemas.openxmlformats.org/drawingml/2006/main">
            <a:pathLst>
              <a:path w="953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dash"/>
          </a:ln>
        </p:spPr>
      </p:sp>
      <p:sp>
        <p:nvSpPr>
          <p:cNvPr id="115" name="density-marker-dot-2">
            <a:extLst xmlns:a="http://schemas.openxmlformats.org/drawingml/2006/main">
              <a:ext uri="{FF2B5EF4-FFF2-40B4-BE49-F238E27FC236}">
                <a16:creationId xmlns:a16="http://schemas.microsoft.com/office/drawing/2014/main" id="{B6C76D14-7951-43E0-B26D-67B91A6E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density-axis-3">
            <a:extLst xmlns:a="http://schemas.openxmlformats.org/drawingml/2006/main">
              <a:ext uri="{FF2B5EF4-FFF2-40B4-BE49-F238E27FC236}">
                <a16:creationId xmlns:a16="http://schemas.microsoft.com/office/drawing/2014/main" id="{0FD750BE-AAE2-4D4C-8824-37C02B4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029325"/>
            <a:ext cx="1343025" cy="953"/>
          </a:xfrm>
          <a:custGeom xmlns:a="http://schemas.openxmlformats.org/drawingml/2006/main">
            <a:pathLst>
              <a:path w="1343025" h="953">
                <a:moveTo>
                  <a:pt x="0" y="0"/>
                </a:moveTo>
                <a:lnTo>
                  <a:pt x="1343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solid"/>
          </a:ln>
        </p:spPr>
      </p:sp>
      <p:sp>
        <p:nvSpPr>
          <p:cNvPr id="117" name="density-axis-3-arrow">
            <a:extLst xmlns:a="http://schemas.openxmlformats.org/drawingml/2006/main">
              <a:ext uri="{FF2B5EF4-FFF2-40B4-BE49-F238E27FC236}">
                <a16:creationId xmlns:a16="http://schemas.microsoft.com/office/drawing/2014/main" id="{9A07B26F-193C-4F9A-842F-ABD7770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85725" y="40291"/>
                </a:moveTo>
                <a:lnTo>
                  <a:pt x="0" y="805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8" name="density-axis-3-head">
            <a:extLst xmlns:a="http://schemas.openxmlformats.org/drawingml/2006/main">
              <a:ext uri="{FF2B5EF4-FFF2-40B4-BE49-F238E27FC236}">
                <a16:creationId xmlns:a16="http://schemas.microsoft.com/office/drawing/2014/main" id="{AFC2AE39-E9FC-4AE1-9D99-BDF82866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5989034"/>
            <a:ext cx="85725" cy="80582"/>
          </a:xfrm>
          <a:custGeom xmlns:a="http://schemas.openxmlformats.org/drawingml/2006/main">
            <a:pathLst>
              <a:path w="85725" h="80582">
                <a:moveTo>
                  <a:pt x="0" y="40291"/>
                </a:moveTo>
                <a:lnTo>
                  <a:pt x="85725" y="0"/>
                </a:lnTo>
                <a:lnTo>
                  <a:pt x="85725" y="80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9" name="density-g-3">
            <a:extLst xmlns:a="http://schemas.openxmlformats.org/drawingml/2006/main">
              <a:ext uri="{FF2B5EF4-FFF2-40B4-BE49-F238E27FC236}">
                <a16:creationId xmlns:a16="http://schemas.microsoft.com/office/drawing/2014/main" id="{4F824DF1-3C43-43D7-ABFA-587A3D1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5829300"/>
            <a:ext cx="219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20" name="density-curve-3">
            <a:extLst xmlns:a="http://schemas.openxmlformats.org/drawingml/2006/main">
              <a:ext uri="{FF2B5EF4-FFF2-40B4-BE49-F238E27FC236}">
                <a16:creationId xmlns:a16="http://schemas.microsoft.com/office/drawing/2014/main" id="{EC3FCBFF-333D-47DC-83C2-46A7058A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5257800"/>
            <a:ext cx="1247775" cy="676275"/>
          </a:xfrm>
          <a:custGeom xmlns:a="http://schemas.openxmlformats.org/drawingml/2006/main">
            <a:pathLst>
              <a:path w="1247775" h="676275">
                <a:moveTo>
                  <a:pt x="0" y="676275"/>
                </a:moveTo>
                <a:cubicBezTo>
                  <a:pt x="219075" y="676275"/>
                  <a:pt x="323850" y="552450"/>
                  <a:pt x="400050" y="285750"/>
                </a:cubicBezTo>
                <a:cubicBezTo>
                  <a:pt x="447675" y="133350"/>
                  <a:pt x="514350" y="0"/>
                  <a:pt x="628650" y="28575"/>
                </a:cubicBezTo>
                <a:cubicBezTo>
                  <a:pt x="781050" y="38100"/>
                  <a:pt x="790575" y="247650"/>
                  <a:pt x="885825" y="457200"/>
                </a:cubicBezTo>
                <a:cubicBezTo>
                  <a:pt x="981075" y="638175"/>
                  <a:pt x="1114425" y="676275"/>
                  <a:pt x="1247775" y="676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1" name="density-marker-3">
            <a:extLst xmlns:a="http://schemas.openxmlformats.org/drawingml/2006/main">
              <a:ext uri="{FF2B5EF4-FFF2-40B4-BE49-F238E27FC236}">
                <a16:creationId xmlns:a16="http://schemas.microsoft.com/office/drawing/2014/main" id="{A4675E58-A42D-4FF4-8EAE-37BB758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581977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0000"/>
            </a:solidFill>
            <a:prstDash val="dash"/>
          </a:ln>
        </p:spPr>
      </p:sp>
      <p:sp>
        <p:nvSpPr>
          <p:cNvPr id="122" name="density-marker-dot-3">
            <a:extLst xmlns:a="http://schemas.openxmlformats.org/drawingml/2006/main">
              <a:ext uri="{FF2B5EF4-FFF2-40B4-BE49-F238E27FC236}">
                <a16:creationId xmlns:a16="http://schemas.microsoft.com/office/drawing/2014/main" id="{4DD59B0A-5087-4FE8-8D98-7C8E292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43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uncertainty-bin-1-0">
            <a:extLst xmlns:a="http://schemas.openxmlformats.org/drawingml/2006/main">
              <a:ext uri="{FF2B5EF4-FFF2-40B4-BE49-F238E27FC236}">
                <a16:creationId xmlns:a16="http://schemas.microsoft.com/office/drawing/2014/main" id="{06CF5D92-2381-480F-AEA9-B026F9D9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uncertainty-bar-1-0">
            <a:extLst xmlns:a="http://schemas.openxmlformats.org/drawingml/2006/main">
              <a:ext uri="{FF2B5EF4-FFF2-40B4-BE49-F238E27FC236}">
                <a16:creationId xmlns:a16="http://schemas.microsoft.com/office/drawing/2014/main" id="{9A20B7B0-F26F-4092-BDB5-82426EE2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6381750"/>
            <a:ext cx="219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value-label-1-0">
            <a:extLst xmlns:a="http://schemas.openxmlformats.org/drawingml/2006/main">
              <a:ext uri="{FF2B5EF4-FFF2-40B4-BE49-F238E27FC236}">
                <a16:creationId xmlns:a16="http://schemas.microsoft.com/office/drawing/2014/main" id="{0051CA1D-9D00-49C4-B46E-6449D0F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126" name="uncertainty-bin-1-1">
            <a:extLst xmlns:a="http://schemas.openxmlformats.org/drawingml/2006/main">
              <a:ext uri="{FF2B5EF4-FFF2-40B4-BE49-F238E27FC236}">
                <a16:creationId xmlns:a16="http://schemas.microsoft.com/office/drawing/2014/main" id="{586A7ADB-F721-4BCD-8DD6-25B48C80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uncertainty-bar-1-1">
            <a:extLst xmlns:a="http://schemas.openxmlformats.org/drawingml/2006/main">
              <a:ext uri="{FF2B5EF4-FFF2-40B4-BE49-F238E27FC236}">
                <a16:creationId xmlns:a16="http://schemas.microsoft.com/office/drawing/2014/main" id="{BF571CDC-68B8-4B5D-8E54-7A712528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66484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value-label-1-1">
            <a:extLst xmlns:a="http://schemas.openxmlformats.org/drawingml/2006/main">
              <a:ext uri="{FF2B5EF4-FFF2-40B4-BE49-F238E27FC236}">
                <a16:creationId xmlns:a16="http://schemas.microsoft.com/office/drawing/2014/main" id="{A8D1ECB9-2F2F-4421-BC43-DCC3ACB5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129" name="uncertainty-bin-1-2">
            <a:extLst xmlns:a="http://schemas.openxmlformats.org/drawingml/2006/main">
              <a:ext uri="{FF2B5EF4-FFF2-40B4-BE49-F238E27FC236}">
                <a16:creationId xmlns:a16="http://schemas.microsoft.com/office/drawing/2014/main" id="{61E5A40F-2573-4919-BC37-836BDF4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uncertainty-bar-1-2">
            <a:extLst xmlns:a="http://schemas.openxmlformats.org/drawingml/2006/main">
              <a:ext uri="{FF2B5EF4-FFF2-40B4-BE49-F238E27FC236}">
                <a16:creationId xmlns:a16="http://schemas.microsoft.com/office/drawing/2014/main" id="{CE6608D3-0E03-4031-B10D-67259BB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6534150"/>
            <a:ext cx="219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value-label-1-2">
            <a:extLst xmlns:a="http://schemas.openxmlformats.org/drawingml/2006/main">
              <a:ext uri="{FF2B5EF4-FFF2-40B4-BE49-F238E27FC236}">
                <a16:creationId xmlns:a16="http://schemas.microsoft.com/office/drawing/2014/main" id="{4CEEC504-250F-411B-BB2D-0FC0AECD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V₃</a:t>
            </a:r>
          </a:p>
        </p:txBody>
      </p:sp>
      <p:sp>
        <p:nvSpPr>
          <p:cNvPr id="132" name="uncertainty-output-1">
            <a:extLst xmlns:a="http://schemas.openxmlformats.org/drawingml/2006/main">
              <a:ext uri="{FF2B5EF4-FFF2-40B4-BE49-F238E27FC236}">
                <a16:creationId xmlns:a16="http://schemas.microsoft.com/office/drawing/2014/main" id="{F6A23767-6CDE-4AE9-8121-12DFC77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315075"/>
            <a:ext cx="409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uncertainty-output-bar-1">
            <a:extLst xmlns:a="http://schemas.openxmlformats.org/drawingml/2006/main">
              <a:ext uri="{FF2B5EF4-FFF2-40B4-BE49-F238E27FC236}">
                <a16:creationId xmlns:a16="http://schemas.microsoft.com/office/drawing/2014/main" id="{24E573CB-F11B-4B2C-8D63-3207406F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638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4" name="uncertainty-to-output-1">
            <a:extLst xmlns:a="http://schemas.openxmlformats.org/drawingml/2006/main">
              <a:ext uri="{FF2B5EF4-FFF2-40B4-BE49-F238E27FC236}">
                <a16:creationId xmlns:a16="http://schemas.microsoft.com/office/drawing/2014/main" id="{766C0585-C1B8-4DC1-8CDF-A65CC038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653415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5" name="uncertainty-to-output-1-arrow">
            <a:extLst xmlns:a="http://schemas.openxmlformats.org/drawingml/2006/main">
              <a:ext uri="{FF2B5EF4-FFF2-40B4-BE49-F238E27FC236}">
                <a16:creationId xmlns:a16="http://schemas.microsoft.com/office/drawing/2014/main" id="{97A77D88-8910-4322-AC7D-3BF70BD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649833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6" name="uncertainty-U-1">
            <a:extLst xmlns:a="http://schemas.openxmlformats.org/drawingml/2006/main">
              <a:ext uri="{FF2B5EF4-FFF2-40B4-BE49-F238E27FC236}">
                <a16:creationId xmlns:a16="http://schemas.microsoft.com/office/drawing/2014/main" id="{D7077AAA-818C-40C5-8317-5EBCCDBC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743700"/>
            <a:ext cx="409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37" name="uncertainty-bin-2-0">
            <a:extLst xmlns:a="http://schemas.openxmlformats.org/drawingml/2006/main">
              <a:ext uri="{FF2B5EF4-FFF2-40B4-BE49-F238E27FC236}">
                <a16:creationId xmlns:a16="http://schemas.microsoft.com/office/drawing/2014/main" id="{67F5E3CA-B69E-42A8-B3EB-C5DC5A2E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uncertainty-bar-2-0">
            <a:extLst xmlns:a="http://schemas.openxmlformats.org/drawingml/2006/main">
              <a:ext uri="{FF2B5EF4-FFF2-40B4-BE49-F238E27FC236}">
                <a16:creationId xmlns:a16="http://schemas.microsoft.com/office/drawing/2014/main" id="{B5620EC0-5AA0-4F89-87C6-C16112F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6372225"/>
            <a:ext cx="2190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value-label-2-0">
            <a:extLst xmlns:a="http://schemas.openxmlformats.org/drawingml/2006/main">
              <a:ext uri="{FF2B5EF4-FFF2-40B4-BE49-F238E27FC236}">
                <a16:creationId xmlns:a16="http://schemas.microsoft.com/office/drawing/2014/main" id="{18CAF621-0EDE-48EF-856B-A1DF1DD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140" name="uncertainty-bin-2-1">
            <a:extLst xmlns:a="http://schemas.openxmlformats.org/drawingml/2006/main">
              <a:ext uri="{FF2B5EF4-FFF2-40B4-BE49-F238E27FC236}">
                <a16:creationId xmlns:a16="http://schemas.microsoft.com/office/drawing/2014/main" id="{298F11BE-6B58-4A57-8C9F-F814EF15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uncertainty-bar-2-1">
            <a:extLst xmlns:a="http://schemas.openxmlformats.org/drawingml/2006/main">
              <a:ext uri="{FF2B5EF4-FFF2-40B4-BE49-F238E27FC236}">
                <a16:creationId xmlns:a16="http://schemas.microsoft.com/office/drawing/2014/main" id="{FC025DD8-8CF5-42D6-B774-364CBB2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6353175"/>
            <a:ext cx="2190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value-label-2-1">
            <a:extLst xmlns:a="http://schemas.openxmlformats.org/drawingml/2006/main">
              <a:ext uri="{FF2B5EF4-FFF2-40B4-BE49-F238E27FC236}">
                <a16:creationId xmlns:a16="http://schemas.microsoft.com/office/drawing/2014/main" id="{AB78D9A7-8903-47A9-99CD-0CC2F99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143" name="uncertainty-bin-2-2">
            <a:extLst xmlns:a="http://schemas.openxmlformats.org/drawingml/2006/main">
              <a:ext uri="{FF2B5EF4-FFF2-40B4-BE49-F238E27FC236}">
                <a16:creationId xmlns:a16="http://schemas.microsoft.com/office/drawing/2014/main" id="{7BC7675F-5D83-4F5C-9ACA-AB86CEA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uncertainty-bar-2-2">
            <a:extLst xmlns:a="http://schemas.openxmlformats.org/drawingml/2006/main">
              <a:ext uri="{FF2B5EF4-FFF2-40B4-BE49-F238E27FC236}">
                <a16:creationId xmlns:a16="http://schemas.microsoft.com/office/drawing/2014/main" id="{6D93B695-43F9-44AE-8606-9A99693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6362700"/>
            <a:ext cx="219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value-label-2-2">
            <a:extLst xmlns:a="http://schemas.openxmlformats.org/drawingml/2006/main">
              <a:ext uri="{FF2B5EF4-FFF2-40B4-BE49-F238E27FC236}">
                <a16:creationId xmlns:a16="http://schemas.microsoft.com/office/drawing/2014/main" id="{BAF59779-9BCA-459A-8B79-FCA068F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V₃</a:t>
            </a:r>
          </a:p>
        </p:txBody>
      </p:sp>
      <p:sp>
        <p:nvSpPr>
          <p:cNvPr id="146" name="uncertainty-output-2">
            <a:extLst xmlns:a="http://schemas.openxmlformats.org/drawingml/2006/main">
              <a:ext uri="{FF2B5EF4-FFF2-40B4-BE49-F238E27FC236}">
                <a16:creationId xmlns:a16="http://schemas.microsoft.com/office/drawing/2014/main" id="{B6B6CB7C-E403-42B1-A1A1-8AA079C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6315075"/>
            <a:ext cx="409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uncertainty-output-bar-2">
            <a:extLst xmlns:a="http://schemas.openxmlformats.org/drawingml/2006/main">
              <a:ext uri="{FF2B5EF4-FFF2-40B4-BE49-F238E27FC236}">
                <a16:creationId xmlns:a16="http://schemas.microsoft.com/office/drawing/2014/main" id="{ACE02C87-A47B-480C-B478-758E1C7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975" y="6677025"/>
            <a:ext cx="209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uncertainty-to-output-2">
            <a:extLst xmlns:a="http://schemas.openxmlformats.org/drawingml/2006/main">
              <a:ext uri="{FF2B5EF4-FFF2-40B4-BE49-F238E27FC236}">
                <a16:creationId xmlns:a16="http://schemas.microsoft.com/office/drawing/2014/main" id="{08ACCA9B-EFA9-4A51-8D10-3384E53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653415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9" name="uncertainty-to-output-2-arrow">
            <a:extLst xmlns:a="http://schemas.openxmlformats.org/drawingml/2006/main">
              <a:ext uri="{FF2B5EF4-FFF2-40B4-BE49-F238E27FC236}">
                <a16:creationId xmlns:a16="http://schemas.microsoft.com/office/drawing/2014/main" id="{2359CE98-5BD9-45A2-BB41-AE03E6B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649833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0" name="uncertainty-U-2">
            <a:extLst xmlns:a="http://schemas.openxmlformats.org/drawingml/2006/main">
              <a:ext uri="{FF2B5EF4-FFF2-40B4-BE49-F238E27FC236}">
                <a16:creationId xmlns:a16="http://schemas.microsoft.com/office/drawing/2014/main" id="{271EA4D0-A46B-4146-A3F1-12C0D79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6743700"/>
            <a:ext cx="409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51" name="uncertainty-bin-3-0">
            <a:extLst xmlns:a="http://schemas.openxmlformats.org/drawingml/2006/main">
              <a:ext uri="{FF2B5EF4-FFF2-40B4-BE49-F238E27FC236}">
                <a16:creationId xmlns:a16="http://schemas.microsoft.com/office/drawing/2014/main" id="{FFB93057-7D03-4DF5-8D0B-E969D51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uncertainty-bar-3-0">
            <a:extLst xmlns:a="http://schemas.openxmlformats.org/drawingml/2006/main">
              <a:ext uri="{FF2B5EF4-FFF2-40B4-BE49-F238E27FC236}">
                <a16:creationId xmlns:a16="http://schemas.microsoft.com/office/drawing/2014/main" id="{69A85048-E76B-498F-87FC-9F152343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6581775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3" name="value-label-3-0">
            <a:extLst xmlns:a="http://schemas.openxmlformats.org/drawingml/2006/main">
              <a:ext uri="{FF2B5EF4-FFF2-40B4-BE49-F238E27FC236}">
                <a16:creationId xmlns:a16="http://schemas.microsoft.com/office/drawing/2014/main" id="{9011715F-8E61-4F64-B163-C6EE2B2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154" name="uncertainty-bin-3-1">
            <a:extLst xmlns:a="http://schemas.openxmlformats.org/drawingml/2006/main">
              <a:ext uri="{FF2B5EF4-FFF2-40B4-BE49-F238E27FC236}">
                <a16:creationId xmlns:a16="http://schemas.microsoft.com/office/drawing/2014/main" id="{FA2774DC-64A5-48B9-9582-73630B36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uncertainty-bar-3-1">
            <a:extLst xmlns:a="http://schemas.openxmlformats.org/drawingml/2006/main">
              <a:ext uri="{FF2B5EF4-FFF2-40B4-BE49-F238E27FC236}">
                <a16:creationId xmlns:a16="http://schemas.microsoft.com/office/drawing/2014/main" id="{CCC4AEF2-E8B6-4385-AB2D-0B7E9016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629400"/>
            <a:ext cx="219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value-label-3-1">
            <a:extLst xmlns:a="http://schemas.openxmlformats.org/drawingml/2006/main">
              <a:ext uri="{FF2B5EF4-FFF2-40B4-BE49-F238E27FC236}">
                <a16:creationId xmlns:a16="http://schemas.microsoft.com/office/drawing/2014/main" id="{D94C7549-51F3-4DC5-B13A-D9536A17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157" name="uncertainty-bin-3-2">
            <a:extLst xmlns:a="http://schemas.openxmlformats.org/drawingml/2006/main">
              <a:ext uri="{FF2B5EF4-FFF2-40B4-BE49-F238E27FC236}">
                <a16:creationId xmlns:a16="http://schemas.microsoft.com/office/drawing/2014/main" id="{78506DD1-F7C1-4772-9473-9654A8A2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6315075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222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uncertainty-bar-3-2">
            <a:extLst xmlns:a="http://schemas.openxmlformats.org/drawingml/2006/main">
              <a:ext uri="{FF2B5EF4-FFF2-40B4-BE49-F238E27FC236}">
                <a16:creationId xmlns:a16="http://schemas.microsoft.com/office/drawing/2014/main" id="{855193EA-6231-4B20-88DE-4E14503D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6581775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value-label-3-2">
            <a:extLst xmlns:a="http://schemas.openxmlformats.org/drawingml/2006/main">
              <a:ext uri="{FF2B5EF4-FFF2-40B4-BE49-F238E27FC236}">
                <a16:creationId xmlns:a16="http://schemas.microsoft.com/office/drawing/2014/main" id="{E31B77CB-9D7C-4F9D-9717-596E533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6743700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V₃</a:t>
            </a:r>
          </a:p>
        </p:txBody>
      </p:sp>
      <p:sp>
        <p:nvSpPr>
          <p:cNvPr id="160" name="uncertainty-output-3">
            <a:extLst xmlns:a="http://schemas.openxmlformats.org/drawingml/2006/main">
              <a:ext uri="{FF2B5EF4-FFF2-40B4-BE49-F238E27FC236}">
                <a16:creationId xmlns:a16="http://schemas.microsoft.com/office/drawing/2014/main" id="{C27F5D36-4F0C-4284-8BCE-15A5A780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6315075"/>
            <a:ext cx="409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uncertainty-output-bar-3">
            <a:extLst xmlns:a="http://schemas.openxmlformats.org/drawingml/2006/main">
              <a:ext uri="{FF2B5EF4-FFF2-40B4-BE49-F238E27FC236}">
                <a16:creationId xmlns:a16="http://schemas.microsoft.com/office/drawing/2014/main" id="{6C442843-6387-4F47-9924-E62A294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6677025"/>
            <a:ext cx="209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C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uncertainty-to-output-3">
            <a:extLst xmlns:a="http://schemas.openxmlformats.org/drawingml/2006/main">
              <a:ext uri="{FF2B5EF4-FFF2-40B4-BE49-F238E27FC236}">
                <a16:creationId xmlns:a16="http://schemas.microsoft.com/office/drawing/2014/main" id="{9CFD520F-E6B3-4385-8A30-B2958784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653415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3" name="uncertainty-to-output-3-arrow">
            <a:extLst xmlns:a="http://schemas.openxmlformats.org/drawingml/2006/main">
              <a:ext uri="{FF2B5EF4-FFF2-40B4-BE49-F238E27FC236}">
                <a16:creationId xmlns:a16="http://schemas.microsoft.com/office/drawing/2014/main" id="{B359B59D-7E59-406E-9930-A7300291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649833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4" name="uncertainty-U-3">
            <a:extLst xmlns:a="http://schemas.openxmlformats.org/drawingml/2006/main">
              <a:ext uri="{FF2B5EF4-FFF2-40B4-BE49-F238E27FC236}">
                <a16:creationId xmlns:a16="http://schemas.microsoft.com/office/drawing/2014/main" id="{D2B80AA1-FF5D-4B1D-AE1C-9136E14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6743700"/>
            <a:ext cx="409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62726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2026-10-09T20:43:20.1910000Z</dcterms:created>
  <dcterms:modified xsi:type="dcterms:W3CDTF">2026-10-09T20:43:20.1910000Z</dcterms:modified>
</coreProperties>
</file>