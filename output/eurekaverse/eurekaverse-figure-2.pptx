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943c1b9f894e43" /><Relationship Type="http://schemas.openxmlformats.org/officeDocument/2006/relationships/extended-properties" Target="/docProps/app.xml" Id="Rd52463bd2f684867" /><Relationship Type="http://schemas.openxmlformats.org/officeDocument/2006/relationships/officeDocument" Target="/ppt/presentation.xml" Id="Ra24bd1447e3547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4e5d0ed05a4a86"/>
  </p:sldMasterIdLst>
  <p:notesMasterIdLst>
    <p:notesMasterId xmlns:r="http://schemas.openxmlformats.org/officeDocument/2006/relationships" r:id="Rb6a4671e352d47b7"/>
  </p:notesMasterIdLst>
  <p:sldIdLst>
    <p:sldId xmlns:r="http://schemas.openxmlformats.org/officeDocument/2006/relationships" id="256" r:id="Rb661d15a61294809"/>
  </p:sldIdLst>
  <p:sldSz cx="11458575" cy="34004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c5d55f48fc4c30" /><Relationship Type="http://schemas.openxmlformats.org/officeDocument/2006/relationships/slideMaster" Target="/ppt/slideMasters/slideMaster1.xml" Id="Rfe4e5d0ed05a4a86" /><Relationship Type="http://schemas.openxmlformats.org/officeDocument/2006/relationships/notesMaster" Target="/ppt/notesMasters/notesMaster1.xml" Id="Rb6a4671e352d47b7" /><Relationship Type="http://schemas.openxmlformats.org/officeDocument/2006/relationships/presProps" Target="/ppt/presProps.xml" Id="R820a4d56a90b4f63" /><Relationship Type="http://schemas.openxmlformats.org/officeDocument/2006/relationships/tableStyles" Target="/ppt/tableStyles.xml" Id="R1b7b2549a6d840d0" /><Relationship Type="http://schemas.openxmlformats.org/officeDocument/2006/relationships/slide" Target="/ppt/slides/slide1.xml" Id="Rb661d15a612948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5d47b1730148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6632efa064512" /><Relationship Type="http://schemas.openxmlformats.org/officeDocument/2006/relationships/notesMaster" Target="/ppt/notesMasters/notesMaster1.xml" Id="R1c9454cd900a40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"Eurekaverse: Environment Curriculum Generation via Large Language Models",</a:t>
            </a:r>
          </a:p>
          <a:p xmlns:a="http://schemas.openxmlformats.org/drawingml/2006/main">
            <a:r>
              <a:t>  "paper_url": "https://arxiv.org/abs/2411.01775v1",</a:t>
            </a:r>
          </a:p>
          <a:p xmlns:a="http://schemas.openxmlformats.org/drawingml/2006/main">
            <a:r>
              <a:t>  "pdf_url": "https://arxiv.org/pdf/2411.01775v1",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"license": "http://arxiv.org/licenses/nonexclusive-distrib/1.0/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Seven photo crops retain robot and simulated terrain examples; small branding/status icons are separate raster crops. Prompts, message bubbles, titles, training/evaluation panels and loop arrows are native.",</a:t>
            </a:r>
          </a:p>
          <a:p xmlns:a="http://schemas.openxmlformats.org/drawingml/2006/main">
            <a:r>
              <a:t>  "source_sha256": "ab63c77ce4dd8cae2ebd03594cca5140e90a8c9c6f9daf791badf79208e14459",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105,</a:t>
            </a:r>
          </a:p>
          <a:p xmlns:a="http://schemas.openxmlformats.org/drawingml/2006/main">
            <a:r>
              <a:t>    71,</a:t>
            </a:r>
          </a:p>
          <a:p xmlns:a="http://schemas.openxmlformats.org/drawingml/2006/main">
            <a:r>
              <a:t>    506,</a:t>
            </a:r>
          </a:p>
          <a:p xmlns:a="http://schemas.openxmlformats.org/drawingml/2006/main">
            <a:r>
              <a:t>    190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false,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"robot-photo",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127,</a:t>
            </a:r>
          </a:p>
          <a:p xmlns:a="http://schemas.openxmlformats.org/drawingml/2006/main">
            <a:r>
              <a:t>        245,</a:t>
            </a:r>
          </a:p>
          <a:p xmlns:a="http://schemas.openxmlformats.org/drawingml/2006/main">
            <a:r>
              <a:t>        274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quadruped robot parkour photograph"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"train-top",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959,</a:t>
            </a:r>
          </a:p>
          <a:p xmlns:a="http://schemas.openxmlformats.org/drawingml/2006/main">
            <a:r>
              <a:t>        57,</a:t>
            </a:r>
          </a:p>
          <a:p xmlns:a="http://schemas.openxmlformats.org/drawingml/2006/main">
            <a:r>
              <a:t>        1182,</a:t>
            </a:r>
          </a:p>
          <a:p xmlns:a="http://schemas.openxmlformats.org/drawingml/2006/main">
            <a:r>
              <a:t>        149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simulated terrain example; terrain and robot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"train-middle",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959,</a:t>
            </a:r>
          </a:p>
          <a:p xmlns:a="http://schemas.openxmlformats.org/drawingml/2006/main">
            <a:r>
              <a:t>        153,</a:t>
            </a:r>
          </a:p>
          <a:p xmlns:a="http://schemas.openxmlformats.org/drawingml/2006/main">
            <a:r>
              <a:t>        1182,</a:t>
            </a:r>
          </a:p>
          <a:p xmlns:a="http://schemas.openxmlformats.org/drawingml/2006/main">
            <a:r>
              <a:t>        245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simulated terrain example; terrain and robot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"train-bottom",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959,</a:t>
            </a:r>
          </a:p>
          <a:p xmlns:a="http://schemas.openxmlformats.org/drawingml/2006/main">
            <a:r>
              <a:t>        249,</a:t>
            </a:r>
          </a:p>
          <a:p xmlns:a="http://schemas.openxmlformats.org/drawingml/2006/main">
            <a:r>
              <a:t>        1182,</a:t>
            </a:r>
          </a:p>
          <a:p xmlns:a="http://schemas.openxmlformats.org/drawingml/2006/main">
            <a:r>
              <a:t>        341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simulated terrain example; terrain and robot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"evaluate-left",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624,</a:t>
            </a:r>
          </a:p>
          <a:p xmlns:a="http://schemas.openxmlformats.org/drawingml/2006/main">
            <a:r>
              <a:t>        186,</a:t>
            </a:r>
          </a:p>
          <a:p xmlns:a="http://schemas.openxmlformats.org/drawingml/2006/main">
            <a:r>
              <a:t>        732,</a:t>
            </a:r>
          </a:p>
          <a:p xmlns:a="http://schemas.openxmlformats.org/drawingml/2006/main">
            <a:r>
              <a:t>        341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simulated terrain example; terrain and robot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"evaluate-right",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736,</a:t>
            </a:r>
          </a:p>
          <a:p xmlns:a="http://schemas.openxmlformats.org/drawingml/2006/main">
            <a:r>
              <a:t>        186,</a:t>
            </a:r>
          </a:p>
          <a:p xmlns:a="http://schemas.openxmlformats.org/drawingml/2006/main">
            <a:r>
              <a:t>        847,</a:t>
            </a:r>
          </a:p>
          <a:p xmlns:a="http://schemas.openxmlformats.org/drawingml/2006/main">
            <a:r>
              <a:t>        341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simulated terrain example; terrain and robot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"clipboard",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18,</a:t>
            </a:r>
          </a:p>
          <a:p xmlns:a="http://schemas.openxmlformats.org/drawingml/2006/main">
            <a:r>
              <a:t>        12,</a:t>
            </a:r>
          </a:p>
          <a:p xmlns:a="http://schemas.openxmlformats.org/drawingml/2006/main">
            <a:r>
              <a:t>        46,</a:t>
            </a:r>
          </a:p>
          <a:p xmlns:a="http://schemas.openxmlformats.org/drawingml/2006/main">
            <a:r>
              <a:t>        46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decorative/branding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"parkour-robot",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18,</a:t>
            </a:r>
          </a:p>
          <a:p xmlns:a="http://schemas.openxmlformats.org/drawingml/2006/main">
            <a:r>
              <a:t>        87,</a:t>
            </a:r>
          </a:p>
          <a:p xmlns:a="http://schemas.openxmlformats.org/drawingml/2006/main">
            <a:r>
              <a:t>        47,</a:t>
            </a:r>
          </a:p>
          <a:p xmlns:a="http://schemas.openxmlformats.org/drawingml/2006/main">
            <a:r>
              <a:t>        118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decorative/branding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"llm-icon",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335,</a:t>
            </a:r>
          </a:p>
          <a:p xmlns:a="http://schemas.openxmlformats.org/drawingml/2006/main">
            <a:r>
              <a:t>        241,</a:t>
            </a:r>
          </a:p>
          <a:p xmlns:a="http://schemas.openxmlformats.org/drawingml/2006/main">
            <a:r>
              <a:t>        361,</a:t>
            </a:r>
          </a:p>
          <a:p xmlns:a="http://schemas.openxmlformats.org/drawingml/2006/main">
            <a:r>
              <a:t>        267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decorative/branding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"training-icon",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963,</a:t>
            </a:r>
          </a:p>
          <a:p xmlns:a="http://schemas.openxmlformats.org/drawingml/2006/main">
            <a:r>
              <a:t>        20,</a:t>
            </a:r>
          </a:p>
          <a:p xmlns:a="http://schemas.openxmlformats.org/drawingml/2006/main">
            <a:r>
              <a:t>        994,</a:t>
            </a:r>
          </a:p>
          <a:p xmlns:a="http://schemas.openxmlformats.org/drawingml/2006/main">
            <a:r>
              <a:t>        52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decorative/branding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"code-icon",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507,</a:t>
            </a:r>
          </a:p>
          <a:p xmlns:a="http://schemas.openxmlformats.org/drawingml/2006/main">
            <a:r>
              <a:t>        22,</a:t>
            </a:r>
          </a:p>
          <a:p xmlns:a="http://schemas.openxmlformats.org/drawingml/2006/main">
            <a:r>
              <a:t>        536,</a:t>
            </a:r>
          </a:p>
          <a:p xmlns:a="http://schemas.openxmlformats.org/drawingml/2006/main">
            <a:r>
              <a:t>        49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decorative/branding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"evaluation-icon",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630,</a:t>
            </a:r>
          </a:p>
          <a:p xmlns:a="http://schemas.openxmlformats.org/drawingml/2006/main">
            <a:r>
              <a:t>        152,</a:t>
            </a:r>
          </a:p>
          <a:p xmlns:a="http://schemas.openxmlformats.org/drawingml/2006/main">
            <a:r>
              <a:t>        664,</a:t>
            </a:r>
          </a:p>
          <a:p xmlns:a="http://schemas.openxmlformats.org/drawingml/2006/main">
            <a:r>
              <a:t>        181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decorative/branding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"best-policy-icon",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571,</a:t>
            </a:r>
          </a:p>
          <a:p xmlns:a="http://schemas.openxmlformats.org/drawingml/2006/main">
            <a:r>
              <a:t>        102,</a:t>
            </a:r>
          </a:p>
          <a:p xmlns:a="http://schemas.openxmlformats.org/drawingml/2006/main">
            <a:r>
              <a:t>        598,</a:t>
            </a:r>
          </a:p>
          <a:p xmlns:a="http://schemas.openxmlformats.org/drawingml/2006/main">
            <a:r>
              <a:t>        127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decorative/branding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"evolution-icon",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510,</a:t>
            </a:r>
          </a:p>
          <a:p xmlns:a="http://schemas.openxmlformats.org/drawingml/2006/main">
            <a:r>
              <a:t>        241,</a:t>
            </a:r>
          </a:p>
          <a:p xmlns:a="http://schemas.openxmlformats.org/drawingml/2006/main">
            <a:r>
              <a:t>        537,</a:t>
            </a:r>
          </a:p>
          <a:p xmlns:a="http://schemas.openxmlformats.org/drawingml/2006/main">
            <a:r>
              <a:t>        267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decorative/branding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"brain-icon",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913,</a:t>
            </a:r>
          </a:p>
          <a:p xmlns:a="http://schemas.openxmlformats.org/drawingml/2006/main">
            <a:r>
              <a:t>        240,</a:t>
            </a:r>
          </a:p>
          <a:p xmlns:a="http://schemas.openxmlformats.org/drawingml/2006/main">
            <a:r>
              <a:t>        945,</a:t>
            </a:r>
          </a:p>
          <a:p xmlns:a="http://schemas.openxmlformats.org/drawingml/2006/main">
            <a:r>
              <a:t>        272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decorative/branding icon;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"logo",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23,</a:t>
            </a:r>
          </a:p>
          <a:p xmlns:a="http://schemas.openxmlformats.org/drawingml/2006/main">
            <a:r>
              <a:t>        288,</a:t>
            </a:r>
          </a:p>
          <a:p xmlns:a="http://schemas.openxmlformats.org/drawingml/2006/main">
            <a:r>
              <a:t>        84,</a:t>
            </a:r>
          </a:p>
          <a:p xmlns:a="http://schemas.openxmlformats.org/drawingml/2006/main">
            <a:r>
              <a:t>        351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decorative/branding icon; internal artwork remains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9ccedbc0849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1668cf37248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2a19be65046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b209e63b143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ea1d16df64d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e8b1b98c54f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B2D6BF-6CD5-4A38-B5B8-391C5C84D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5858" y="1284605"/>
            <a:ext cx="9166860" cy="491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118E99-99D7-4200-9BB5-2780A2AEF7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8786" y="1870234"/>
            <a:ext cx="8021003" cy="37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1A6778-4793-4813-B99D-39B87965FD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5858" y="1416844"/>
            <a:ext cx="916686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9B23C3-F456-4D12-A856-F599CDB10B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4545" y="264478"/>
            <a:ext cx="10169485" cy="41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A17D6A-BB33-4F1C-9D60-85EF3C8512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4545" y="944563"/>
            <a:ext cx="10169485" cy="211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334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1pPr>
            <a:lvl2pPr marL="26447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2pPr>
            <a:lvl3pPr marL="41560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3pPr>
            <a:lvl4pPr marL="56673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4pPr>
            <a:lvl5pPr marL="71786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5pPr>
            <a:lvl6pPr marL="86899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6pPr>
            <a:lvl7pPr marL="102012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7pPr>
            <a:lvl8pPr marL="117125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8pPr>
            <a:lvl9pPr marL="132238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0A3EB8-0AA8-41E0-9F5E-34FB3795F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4545" y="264478"/>
            <a:ext cx="10169485" cy="41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E1E627-4954-4D17-B8BD-0154B1AA82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4545" y="944563"/>
            <a:ext cx="4726662" cy="211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334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1pPr>
            <a:lvl2pPr marL="26447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2pPr>
            <a:lvl3pPr marL="41560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3pPr>
            <a:lvl4pPr marL="56673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4pPr>
            <a:lvl5pPr marL="71786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5pPr>
            <a:lvl6pPr marL="86899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6pPr>
            <a:lvl7pPr marL="102012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7pPr>
            <a:lvl8pPr marL="117125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8pPr>
            <a:lvl9pPr marL="132238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3E6D12A-20C0-4A54-A87E-57F9DFE691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87368" y="944563"/>
            <a:ext cx="4726662" cy="211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334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1pPr>
            <a:lvl2pPr marL="26447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2pPr>
            <a:lvl3pPr marL="41560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3pPr>
            <a:lvl4pPr marL="56673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4pPr>
            <a:lvl5pPr marL="71786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5pPr>
            <a:lvl6pPr marL="86899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6pPr>
            <a:lvl7pPr marL="102012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7pPr>
            <a:lvl8pPr marL="117125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8pPr>
            <a:lvl9pPr marL="132238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0ED2EF-7C6D-40BE-8E9C-B7067AB6D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4545" y="264478"/>
            <a:ext cx="10169485" cy="41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C6CD54-DE37-49D1-81B0-7AED926C85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4545" y="944563"/>
            <a:ext cx="4726662" cy="211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334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1pPr>
            <a:lvl2pPr marL="26447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2pPr>
            <a:lvl3pPr marL="41560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3pPr>
            <a:lvl4pPr marL="56673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4pPr>
            <a:lvl5pPr marL="71786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5pPr>
            <a:lvl6pPr marL="86899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6pPr>
            <a:lvl7pPr marL="102012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7pPr>
            <a:lvl8pPr marL="117125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8pPr>
            <a:lvl9pPr marL="1322388" indent="-113347">
              <a:lnSpc>
                <a:spcPct val="110000"/>
              </a:lnSpc>
              <a:spcBef>
                <a:spcPts val="0"/>
              </a:spcBef>
              <a:spcAft>
                <a:spcPts val="59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12372a4cd741ca" /><Relationship Type="http://schemas.openxmlformats.org/officeDocument/2006/relationships/slideLayout" Target="/ppt/slideLayouts/slideLayout1.xml" Id="R60c72a8e248b4e6c" /><Relationship Type="http://schemas.openxmlformats.org/officeDocument/2006/relationships/slideLayout" Target="/ppt/slideLayouts/slideLayout2.xml" Id="R415ef99cae674b6a" /><Relationship Type="http://schemas.openxmlformats.org/officeDocument/2006/relationships/slideLayout" Target="/ppt/slideLayouts/slideLayout3.xml" Id="R9f83cef887c34cbd" /><Relationship Type="http://schemas.openxmlformats.org/officeDocument/2006/relationships/slideLayout" Target="/ppt/slideLayouts/slideLayout4.xml" Id="R1b8d677f76e340d1" /><Relationship Type="http://schemas.openxmlformats.org/officeDocument/2006/relationships/slideLayout" Target="/ppt/slideLayouts/slideLayout5.xml" Id="Rf938c4bed0d64a6e" /><Relationship Type="http://schemas.openxmlformats.org/officeDocument/2006/relationships/slideLayout" Target="/ppt/slideLayouts/slideLayout6.xml" Id="R7ccb23eb4c41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c72a8e248b4e6c"/>
    <p:sldLayoutId xmlns:r="http://schemas.openxmlformats.org/officeDocument/2006/relationships" id="2147483650" r:id="R415ef99cae674b6a"/>
    <p:sldLayoutId xmlns:r="http://schemas.openxmlformats.org/officeDocument/2006/relationships" id="2147483651" r:id="R9f83cef887c34cbd"/>
    <p:sldLayoutId xmlns:r="http://schemas.openxmlformats.org/officeDocument/2006/relationships" id="2147483652" r:id="R1b8d677f76e340d1"/>
    <p:sldLayoutId xmlns:r="http://schemas.openxmlformats.org/officeDocument/2006/relationships" id="2147483653" r:id="Rf938c4bed0d64a6e"/>
    <p:sldLayoutId xmlns:r="http://schemas.openxmlformats.org/officeDocument/2006/relationships" id="2147483654" r:id="R7ccb23eb4c41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8eb7a126f4a2c" /><Relationship Type="http://schemas.openxmlformats.org/officeDocument/2006/relationships/image" Target="/ppt/media/image.png" Id="R0dbd48a9a68343d5" /><Relationship Type="http://schemas.openxmlformats.org/officeDocument/2006/relationships/image" Target="/ppt/media/image2.png" Id="R2fdce3b89bb04ee7" /><Relationship Type="http://schemas.openxmlformats.org/officeDocument/2006/relationships/image" Target="/ppt/media/image3.png" Id="Ra705e92b83a74dab" /><Relationship Type="http://schemas.openxmlformats.org/officeDocument/2006/relationships/image" Target="/ppt/media/image4.png" Id="R1e375f6a207e4417" /><Relationship Type="http://schemas.openxmlformats.org/officeDocument/2006/relationships/image" Target="/ppt/media/image5.png" Id="R391abc01e0814f5a" /><Relationship Type="http://schemas.openxmlformats.org/officeDocument/2006/relationships/image" Target="/ppt/media/image6.png" Id="R9b2d2654ca4a40ff" /><Relationship Type="http://schemas.openxmlformats.org/officeDocument/2006/relationships/image" Target="/ppt/media/image7.png" Id="R645b2b79111e4fd9" /><Relationship Type="http://schemas.openxmlformats.org/officeDocument/2006/relationships/image" Target="/ppt/media/image8.png" Id="R6d8a3e952da14339" /><Relationship Type="http://schemas.openxmlformats.org/officeDocument/2006/relationships/image" Target="/ppt/media/image9.png" Id="R0b67df9a4dff439b" /><Relationship Type="http://schemas.openxmlformats.org/officeDocument/2006/relationships/image" Target="/ppt/media/image10.png" Id="R5f603f131d3e4ae4" /><Relationship Type="http://schemas.openxmlformats.org/officeDocument/2006/relationships/image" Target="/ppt/media/image11.png" Id="R4f99aecff89544c8" /><Relationship Type="http://schemas.openxmlformats.org/officeDocument/2006/relationships/image" Target="/ppt/media/image12.png" Id="R9e1be186243847d0" /><Relationship Type="http://schemas.openxmlformats.org/officeDocument/2006/relationships/image" Target="/ppt/media/image13.png" Id="Rb8ee1b355ac943d8" /><Relationship Type="http://schemas.openxmlformats.org/officeDocument/2006/relationships/image" Target="/ppt/media/image14.png" Id="R991015abfc3a4071" /><Relationship Type="http://schemas.openxmlformats.org/officeDocument/2006/relationships/image" Target="/ppt/media/image15.png" Id="R15a6d32637c5475c" /><Relationship Type="http://schemas.openxmlformats.org/officeDocument/2006/relationships/image" Target="/ppt/media/image16.png" Id="R612e6475ce4e4340" /><Relationship Type="http://schemas.openxmlformats.org/officeDocument/2006/relationships/notesSlide" Target="/ppt/notesSlides/notesSlide1.xml" Id="R52148143dcc844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framework">
            <a:extLst xmlns:a="http://schemas.openxmlformats.org/drawingml/2006/main">
              <a:ext uri="{FF2B5EF4-FFF2-40B4-BE49-F238E27FC236}">
                <a16:creationId xmlns:a16="http://schemas.microsoft.com/office/drawing/2014/main" id="{2A5E0BF3-C2C4-421C-8812-8ABE8D96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28575"/>
            <a:ext cx="8820150" cy="3362325"/>
          </a:xfrm>
          <a:custGeom xmlns:a="http://schemas.openxmlformats.org/drawingml/2006/main">
            <a:pathLst>
              <a:path w="8820150" h="3362325">
                <a:moveTo>
                  <a:pt x="47625" y="0"/>
                </a:moveTo>
                <a:lnTo>
                  <a:pt x="8772525" y="0"/>
                </a:lnTo>
                <a:cubicBezTo>
                  <a:pt x="8798828" y="0"/>
                  <a:pt x="8820150" y="21322"/>
                  <a:pt x="8820150" y="47625"/>
                </a:cubicBezTo>
                <a:lnTo>
                  <a:pt x="8820150" y="3314700"/>
                </a:lnTo>
                <a:cubicBezTo>
                  <a:pt x="8820150" y="3341003"/>
                  <a:pt x="8798828" y="3362325"/>
                  <a:pt x="8772525" y="3362325"/>
                </a:cubicBezTo>
                <a:lnTo>
                  <a:pt x="47625" y="3362325"/>
                </a:lnTo>
                <a:cubicBezTo>
                  <a:pt x="21322" y="3362325"/>
                  <a:pt x="0" y="3341003"/>
                  <a:pt x="0" y="331470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DDDDD"/>
            </a:solidFill>
            <a:prstDash val="solid"/>
          </a:ln>
        </p:spPr>
      </p:sp>
      <p:sp>
        <p:nvSpPr>
          <p:cNvPr id="2" name="initial-prompt">
            <a:extLst xmlns:a="http://schemas.openxmlformats.org/drawingml/2006/main">
              <a:ext uri="{FF2B5EF4-FFF2-40B4-BE49-F238E27FC236}">
                <a16:creationId xmlns:a16="http://schemas.microsoft.com/office/drawing/2014/main" id="{1ABD484D-1D11-4F91-8C7C-F4C97B4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76200"/>
            <a:ext cx="2247900" cy="438150"/>
          </a:xfrm>
          <a:custGeom xmlns:a="http://schemas.openxmlformats.org/drawingml/2006/main">
            <a:pathLst>
              <a:path w="2247900" h="438150">
                <a:moveTo>
                  <a:pt x="38100" y="0"/>
                </a:moveTo>
                <a:lnTo>
                  <a:pt x="2209800" y="0"/>
                </a:lnTo>
                <a:cubicBezTo>
                  <a:pt x="2230842" y="0"/>
                  <a:pt x="2247900" y="17058"/>
                  <a:pt x="2247900" y="38100"/>
                </a:cubicBezTo>
                <a:lnTo>
                  <a:pt x="2247900" y="400050"/>
                </a:lnTo>
                <a:cubicBezTo>
                  <a:pt x="2247900" y="421092"/>
                  <a:pt x="2230842" y="438150"/>
                  <a:pt x="2209800" y="438150"/>
                </a:cubicBezTo>
                <a:lnTo>
                  <a:pt x="38100" y="438150"/>
                </a:lnTo>
                <a:cubicBezTo>
                  <a:pt x="17058" y="438150"/>
                  <a:pt x="0" y="421092"/>
                  <a:pt x="0" y="4000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5E3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rkour">
            <a:extLst xmlns:a="http://schemas.openxmlformats.org/drawingml/2006/main">
              <a:ext uri="{FF2B5EF4-FFF2-40B4-BE49-F238E27FC236}">
                <a16:creationId xmlns:a16="http://schemas.microsoft.com/office/drawing/2014/main" id="{4329B21D-C824-4505-80C9-D2E5E887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714375"/>
            <a:ext cx="2247900" cy="447675"/>
          </a:xfrm>
          <a:custGeom xmlns:a="http://schemas.openxmlformats.org/drawingml/2006/main">
            <a:pathLst>
              <a:path w="2247900" h="447675">
                <a:moveTo>
                  <a:pt x="38100" y="0"/>
                </a:moveTo>
                <a:lnTo>
                  <a:pt x="2209800" y="0"/>
                </a:lnTo>
                <a:cubicBezTo>
                  <a:pt x="2230842" y="0"/>
                  <a:pt x="2247900" y="17058"/>
                  <a:pt x="2247900" y="38100"/>
                </a:cubicBezTo>
                <a:lnTo>
                  <a:pt x="2247900" y="409575"/>
                </a:lnTo>
                <a:cubicBezTo>
                  <a:pt x="2247900" y="430617"/>
                  <a:pt x="2230842" y="447675"/>
                  <a:pt x="2209800" y="447675"/>
                </a:cubicBezTo>
                <a:lnTo>
                  <a:pt x="38100" y="447675"/>
                </a:lnTo>
                <a:cubicBezTo>
                  <a:pt x="17058" y="447675"/>
                  <a:pt x="0" y="430617"/>
                  <a:pt x="0" y="4095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ing-model">
            <a:extLst xmlns:a="http://schemas.openxmlformats.org/drawingml/2006/main">
              <a:ext uri="{FF2B5EF4-FFF2-40B4-BE49-F238E27FC236}">
                <a16:creationId xmlns:a16="http://schemas.microsoft.com/office/drawing/2014/main" id="{770E5450-A935-469B-927B-5962C286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114300"/>
            <a:ext cx="2038350" cy="2486025"/>
          </a:xfrm>
          <a:custGeom xmlns:a="http://schemas.openxmlformats.org/drawingml/2006/main">
            <a:pathLst>
              <a:path w="2038350" h="2486025">
                <a:moveTo>
                  <a:pt x="47625" y="0"/>
                </a:moveTo>
                <a:lnTo>
                  <a:pt x="1990725" y="0"/>
                </a:lnTo>
                <a:cubicBezTo>
                  <a:pt x="2017028" y="0"/>
                  <a:pt x="2038350" y="21322"/>
                  <a:pt x="2038350" y="47625"/>
                </a:cubicBezTo>
                <a:lnTo>
                  <a:pt x="2038350" y="2438400"/>
                </a:lnTo>
                <a:cubicBezTo>
                  <a:pt x="2038350" y="2464703"/>
                  <a:pt x="2017028" y="2486025"/>
                  <a:pt x="1990725" y="2486025"/>
                </a:cubicBezTo>
                <a:lnTo>
                  <a:pt x="47625" y="2486025"/>
                </a:lnTo>
                <a:cubicBezTo>
                  <a:pt x="21322" y="2486025"/>
                  <a:pt x="0" y="2464703"/>
                  <a:pt x="0" y="243840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7D7D7"/>
            </a:solidFill>
            <a:prstDash val="solid"/>
          </a:ln>
        </p:spPr>
      </p:sp>
      <p:sp>
        <p:nvSpPr>
          <p:cNvPr id="5" name="training-panel">
            <a:extLst xmlns:a="http://schemas.openxmlformats.org/drawingml/2006/main">
              <a:ext uri="{FF2B5EF4-FFF2-40B4-BE49-F238E27FC236}">
                <a16:creationId xmlns:a16="http://schemas.microsoft.com/office/drawing/2014/main" id="{60356B91-A45B-482C-B349-9D5F9020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7325" y="114300"/>
            <a:ext cx="2238375" cy="3200400"/>
          </a:xfrm>
          <a:custGeom xmlns:a="http://schemas.openxmlformats.org/drawingml/2006/main">
            <a:pathLst>
              <a:path w="2238375" h="3200400">
                <a:moveTo>
                  <a:pt x="57150" y="0"/>
                </a:moveTo>
                <a:lnTo>
                  <a:pt x="2181225" y="0"/>
                </a:lnTo>
                <a:cubicBezTo>
                  <a:pt x="2212788" y="0"/>
                  <a:pt x="2238375" y="25587"/>
                  <a:pt x="2238375" y="57150"/>
                </a:cubicBezTo>
                <a:lnTo>
                  <a:pt x="2238375" y="3143250"/>
                </a:lnTo>
                <a:cubicBezTo>
                  <a:pt x="2238375" y="3174813"/>
                  <a:pt x="2212788" y="3200400"/>
                  <a:pt x="2181225" y="3200400"/>
                </a:cubicBezTo>
                <a:lnTo>
                  <a:pt x="57150" y="3200400"/>
                </a:lnTo>
                <a:cubicBezTo>
                  <a:pt x="25587" y="3200400"/>
                  <a:pt x="0" y="3174813"/>
                  <a:pt x="0" y="3143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BF21"/>
            </a:solidFill>
            <a:prstDash val="solid"/>
          </a:ln>
        </p:spPr>
      </p:sp>
      <p:sp>
        <p:nvSpPr>
          <p:cNvPr id="6" name="evaluation-panel">
            <a:extLst xmlns:a="http://schemas.openxmlformats.org/drawingml/2006/main">
              <a:ext uri="{FF2B5EF4-FFF2-40B4-BE49-F238E27FC236}">
                <a16:creationId xmlns:a16="http://schemas.microsoft.com/office/drawing/2014/main" id="{A4D091B4-DBD5-4207-94B9-58626D8A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1371600"/>
            <a:ext cx="2200275" cy="1924050"/>
          </a:xfrm>
          <a:custGeom xmlns:a="http://schemas.openxmlformats.org/drawingml/2006/main">
            <a:pathLst>
              <a:path w="2200275" h="1924050">
                <a:moveTo>
                  <a:pt x="47625" y="0"/>
                </a:moveTo>
                <a:lnTo>
                  <a:pt x="2152650" y="0"/>
                </a:lnTo>
                <a:cubicBezTo>
                  <a:pt x="2178953" y="0"/>
                  <a:pt x="2200275" y="21322"/>
                  <a:pt x="2200275" y="47625"/>
                </a:cubicBezTo>
                <a:lnTo>
                  <a:pt x="2200275" y="1876425"/>
                </a:lnTo>
                <a:cubicBezTo>
                  <a:pt x="2200275" y="1902728"/>
                  <a:pt x="2178953" y="1924050"/>
                  <a:pt x="2152650" y="1924050"/>
                </a:cubicBezTo>
                <a:lnTo>
                  <a:pt x="47625" y="1924050"/>
                </a:lnTo>
                <a:cubicBezTo>
                  <a:pt x="21322" y="1924050"/>
                  <a:pt x="0" y="1902728"/>
                  <a:pt x="0" y="18764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3B45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9A7B8-C437-4F3F-9DAD-DD8C87004D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d48a9a68343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" y="1209675"/>
            <a:ext cx="2247900" cy="1400175"/>
          </a:xfrm>
          <a:prstGeom xmlns:a="http://schemas.openxmlformats.org/drawingml/2006/main" prst="rect">
            <a:avLst/>
          </a:prstGeom>
        </p:spPr>
      </p:pic>
      <p:sp>
        <p:nvSpPr>
          <p:cNvPr id="8" name="robot-photo">
            <a:extLst xmlns:a="http://schemas.openxmlformats.org/drawingml/2006/main">
              <a:ext uri="{FF2B5EF4-FFF2-40B4-BE49-F238E27FC236}">
                <a16:creationId xmlns:a16="http://schemas.microsoft.com/office/drawing/2014/main" id="{4E7F64D6-CD6A-4C5B-AB7C-6382F275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1209675"/>
            <a:ext cx="22479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0D7F2-86C5-4EDC-98C2-114D6D1F4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ce3b89bb04e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34475" y="542925"/>
            <a:ext cx="2124075" cy="876300"/>
          </a:xfrm>
          <a:prstGeom xmlns:a="http://schemas.openxmlformats.org/drawingml/2006/main" prst="rect">
            <a:avLst/>
          </a:prstGeom>
        </p:spPr>
      </p:pic>
      <p:sp>
        <p:nvSpPr>
          <p:cNvPr id="10" name="train-top">
            <a:extLst xmlns:a="http://schemas.openxmlformats.org/drawingml/2006/main">
              <a:ext uri="{FF2B5EF4-FFF2-40B4-BE49-F238E27FC236}">
                <a16:creationId xmlns:a16="http://schemas.microsoft.com/office/drawing/2014/main" id="{9D829D77-AB5F-4BFD-9949-4CE50D31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475" y="542925"/>
            <a:ext cx="21240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F69D1-EABB-4C60-909F-55634FBCB1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5e92b83a74d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34475" y="1457325"/>
            <a:ext cx="2124075" cy="876300"/>
          </a:xfrm>
          <a:prstGeom xmlns:a="http://schemas.openxmlformats.org/drawingml/2006/main" prst="rect">
            <a:avLst/>
          </a:prstGeom>
        </p:spPr>
      </p:pic>
      <p:sp>
        <p:nvSpPr>
          <p:cNvPr id="12" name="train-middle">
            <a:extLst xmlns:a="http://schemas.openxmlformats.org/drawingml/2006/main">
              <a:ext uri="{FF2B5EF4-FFF2-40B4-BE49-F238E27FC236}">
                <a16:creationId xmlns:a16="http://schemas.microsoft.com/office/drawing/2014/main" id="{17A326C5-B14D-407E-8EDE-B77FFF82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475" y="1457325"/>
            <a:ext cx="21240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4044A-84DA-444A-B6C5-43729580D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75f6a207e44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34475" y="2371725"/>
            <a:ext cx="2124075" cy="876300"/>
          </a:xfrm>
          <a:prstGeom xmlns:a="http://schemas.openxmlformats.org/drawingml/2006/main" prst="rect">
            <a:avLst/>
          </a:prstGeom>
        </p:spPr>
      </p:pic>
      <p:sp>
        <p:nvSpPr>
          <p:cNvPr id="14" name="train-bottom">
            <a:extLst xmlns:a="http://schemas.openxmlformats.org/drawingml/2006/main">
              <a:ext uri="{FF2B5EF4-FFF2-40B4-BE49-F238E27FC236}">
                <a16:creationId xmlns:a16="http://schemas.microsoft.com/office/drawing/2014/main" id="{BC8349AE-8990-4821-9717-5EC50817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475" y="2371725"/>
            <a:ext cx="21240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580AC-3DF7-4C23-A4FF-4DA45656C4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abc01e0814f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771650"/>
            <a:ext cx="1028700" cy="1476375"/>
          </a:xfrm>
          <a:prstGeom xmlns:a="http://schemas.openxmlformats.org/drawingml/2006/main" prst="rect">
            <a:avLst/>
          </a:prstGeom>
        </p:spPr>
      </p:pic>
      <p:sp>
        <p:nvSpPr>
          <p:cNvPr id="16" name="evaluate-left">
            <a:extLst xmlns:a="http://schemas.openxmlformats.org/drawingml/2006/main">
              <a:ext uri="{FF2B5EF4-FFF2-40B4-BE49-F238E27FC236}">
                <a16:creationId xmlns:a16="http://schemas.microsoft.com/office/drawing/2014/main" id="{9005D203-B092-4854-BFBD-81F04621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1771650"/>
            <a:ext cx="1028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465B5-13AB-46E3-839E-9E8F0408D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d2654ca4a40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0400" y="1771650"/>
            <a:ext cx="1057275" cy="1476375"/>
          </a:xfrm>
          <a:prstGeom xmlns:a="http://schemas.openxmlformats.org/drawingml/2006/main" prst="rect">
            <a:avLst/>
          </a:prstGeom>
        </p:spPr>
      </p:pic>
      <p:sp>
        <p:nvSpPr>
          <p:cNvPr id="18" name="evaluate-right">
            <a:extLst xmlns:a="http://schemas.openxmlformats.org/drawingml/2006/main">
              <a:ext uri="{FF2B5EF4-FFF2-40B4-BE49-F238E27FC236}">
                <a16:creationId xmlns:a16="http://schemas.microsoft.com/office/drawing/2014/main" id="{8426F046-68FC-4A98-AFA8-6C31D098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00" y="1771650"/>
            <a:ext cx="10572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93113-586D-4DDB-8FF0-7DFAAE6B05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b2b79111e4f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" y="114300"/>
            <a:ext cx="266700" cy="323850"/>
          </a:xfrm>
          <a:prstGeom xmlns:a="http://schemas.openxmlformats.org/drawingml/2006/main" prst="rect">
            <a:avLst/>
          </a:prstGeom>
        </p:spPr>
      </p:pic>
      <p:sp>
        <p:nvSpPr>
          <p:cNvPr id="20" name="clipboard">
            <a:extLst xmlns:a="http://schemas.openxmlformats.org/drawingml/2006/main">
              <a:ext uri="{FF2B5EF4-FFF2-40B4-BE49-F238E27FC236}">
                <a16:creationId xmlns:a16="http://schemas.microsoft.com/office/drawing/2014/main" id="{EB6043E2-C063-4538-A4AF-8CCC6369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114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904E4-C554-4EB6-9076-6627A6458B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a3e952da143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" y="828675"/>
            <a:ext cx="27622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parkour-robot">
            <a:extLst xmlns:a="http://schemas.openxmlformats.org/drawingml/2006/main">
              <a:ext uri="{FF2B5EF4-FFF2-40B4-BE49-F238E27FC236}">
                <a16:creationId xmlns:a16="http://schemas.microsoft.com/office/drawing/2014/main" id="{10CE96A0-DD07-46E2-8A77-FD2023F6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828675"/>
            <a:ext cx="276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78493-308E-44B0-8C12-D61E291C20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7df9a4dff43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875" y="22955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4" name="llm-icon">
            <a:extLst xmlns:a="http://schemas.openxmlformats.org/drawingml/2006/main">
              <a:ext uri="{FF2B5EF4-FFF2-40B4-BE49-F238E27FC236}">
                <a16:creationId xmlns:a16="http://schemas.microsoft.com/office/drawing/2014/main" id="{B1E118F0-8818-4FF0-89ED-AF222AA7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875" y="22955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B8BEC-70F8-4D3A-9433-FFBA0B83E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03f131d3e4a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72575" y="190500"/>
            <a:ext cx="295275" cy="304800"/>
          </a:xfrm>
          <a:prstGeom xmlns:a="http://schemas.openxmlformats.org/drawingml/2006/main" prst="rect">
            <a:avLst/>
          </a:prstGeom>
        </p:spPr>
      </p:pic>
      <p:sp>
        <p:nvSpPr>
          <p:cNvPr id="26" name="training-icon">
            <a:extLst xmlns:a="http://schemas.openxmlformats.org/drawingml/2006/main">
              <a:ext uri="{FF2B5EF4-FFF2-40B4-BE49-F238E27FC236}">
                <a16:creationId xmlns:a16="http://schemas.microsoft.com/office/drawing/2014/main" id="{0FC56151-23DA-474D-B38D-6762A5B1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19050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F5B99-E799-4ECE-A3D1-9175DFEA66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9aecff89544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9175" y="209550"/>
            <a:ext cx="276225" cy="257175"/>
          </a:xfrm>
          <a:prstGeom xmlns:a="http://schemas.openxmlformats.org/drawingml/2006/main" prst="rect">
            <a:avLst/>
          </a:prstGeom>
        </p:spPr>
      </p:pic>
      <p:sp>
        <p:nvSpPr>
          <p:cNvPr id="28" name="code-icon">
            <a:extLst xmlns:a="http://schemas.openxmlformats.org/drawingml/2006/main">
              <a:ext uri="{FF2B5EF4-FFF2-40B4-BE49-F238E27FC236}">
                <a16:creationId xmlns:a16="http://schemas.microsoft.com/office/drawing/2014/main" id="{26DE650F-8265-4E7C-9395-575F8F3E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09550"/>
            <a:ext cx="276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E63E6-05CF-4B56-950E-841DDCA87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be186243847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447800"/>
            <a:ext cx="323850" cy="276225"/>
          </a:xfrm>
          <a:prstGeom xmlns:a="http://schemas.openxmlformats.org/drawingml/2006/main" prst="rect">
            <a:avLst/>
          </a:prstGeom>
        </p:spPr>
      </p:pic>
      <p:sp>
        <p:nvSpPr>
          <p:cNvPr id="30" name="evaluation-icon">
            <a:extLst xmlns:a="http://schemas.openxmlformats.org/drawingml/2006/main">
              <a:ext uri="{FF2B5EF4-FFF2-40B4-BE49-F238E27FC236}">
                <a16:creationId xmlns:a16="http://schemas.microsoft.com/office/drawing/2014/main" id="{615AB870-FDF1-4220-825E-E4E55A4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1447800"/>
            <a:ext cx="323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D65D85-BE56-4DF0-AB38-B646A568A1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e1b355ac943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38775" y="971550"/>
            <a:ext cx="257175" cy="238125"/>
          </a:xfrm>
          <a:prstGeom xmlns:a="http://schemas.openxmlformats.org/drawingml/2006/main" prst="rect">
            <a:avLst/>
          </a:prstGeom>
        </p:spPr>
      </p:pic>
      <p:sp>
        <p:nvSpPr>
          <p:cNvPr id="32" name="best-policy-icon">
            <a:extLst xmlns:a="http://schemas.openxmlformats.org/drawingml/2006/main">
              <a:ext uri="{FF2B5EF4-FFF2-40B4-BE49-F238E27FC236}">
                <a16:creationId xmlns:a16="http://schemas.microsoft.com/office/drawing/2014/main" id="{AC3F131F-0F6D-4875-860E-B6F1E968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775" y="97155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AF7458-6CB0-4034-B2C0-13DFE76E62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015abfc3a40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295525"/>
            <a:ext cx="257175" cy="247650"/>
          </a:xfrm>
          <a:prstGeom xmlns:a="http://schemas.openxmlformats.org/drawingml/2006/main" prst="rect">
            <a:avLst/>
          </a:prstGeom>
        </p:spPr>
      </p:pic>
      <p:sp>
        <p:nvSpPr>
          <p:cNvPr id="34" name="evolution-icon">
            <a:extLst xmlns:a="http://schemas.openxmlformats.org/drawingml/2006/main">
              <a:ext uri="{FF2B5EF4-FFF2-40B4-BE49-F238E27FC236}">
                <a16:creationId xmlns:a16="http://schemas.microsoft.com/office/drawing/2014/main" id="{791A426E-8CF5-4AAD-AA35-6EDF461D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295525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D22717-B08A-4309-A2A8-385891ED1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6d32637c547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96325" y="2286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6" name="brain-icon">
            <a:extLst xmlns:a="http://schemas.openxmlformats.org/drawingml/2006/main">
              <a:ext uri="{FF2B5EF4-FFF2-40B4-BE49-F238E27FC236}">
                <a16:creationId xmlns:a16="http://schemas.microsoft.com/office/drawing/2014/main" id="{6CD63857-95DD-4243-8FDC-8FEB6F6E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325" y="2286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D2D74C-D8D1-4202-B46A-8116407F58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e6475ce4e43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075" y="2743200"/>
            <a:ext cx="581025" cy="600075"/>
          </a:xfrm>
          <a:prstGeom xmlns:a="http://schemas.openxmlformats.org/drawingml/2006/main" prst="rect">
            <a:avLst/>
          </a:prstGeom>
        </p:spPr>
      </p:pic>
      <p:sp>
        <p:nvSpPr>
          <p:cNvPr id="38" name="logo">
            <a:extLst xmlns:a="http://schemas.openxmlformats.org/drawingml/2006/main">
              <a:ext uri="{FF2B5EF4-FFF2-40B4-BE49-F238E27FC236}">
                <a16:creationId xmlns:a16="http://schemas.microsoft.com/office/drawing/2014/main" id="{6F8D5206-75BC-4D5F-9CFB-49C79A58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2743200"/>
            <a:ext cx="581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initial-label">
            <a:extLst xmlns:a="http://schemas.openxmlformats.org/drawingml/2006/main">
              <a:ext uri="{FF2B5EF4-FFF2-40B4-BE49-F238E27FC236}">
                <a16:creationId xmlns:a16="http://schemas.microsoft.com/office/drawing/2014/main" id="{70BADFBE-27BA-4477-8473-F260EA34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333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0" i="0">
                <a:solidFill>
                  <a:srgbClr val="327F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 i="0">
                <a:solidFill>
                  <a:srgbClr val="327FF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27FF0"/>
                </a:solidFill>
                <a:latin typeface="Arial"/>
                <a:ea typeface="Arial"/>
                <a:cs typeface="Arial"/>
              </a:rPr>
              <a:t>Initial Prompt</a:t>
            </a:r>
          </a:p>
        </p:txBody>
      </p:sp>
      <p:sp>
        <p:nvSpPr>
          <p:cNvPr id="40" name="parkour-label">
            <a:extLst xmlns:a="http://schemas.openxmlformats.org/drawingml/2006/main">
              <a:ext uri="{FF2B5EF4-FFF2-40B4-BE49-F238E27FC236}">
                <a16:creationId xmlns:a16="http://schemas.microsoft.com/office/drawing/2014/main" id="{861E3CFF-B4D8-4A13-BBC8-B75DA7FA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76200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0" i="0">
                <a:solidFill>
                  <a:srgbClr val="606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 i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606060"/>
                </a:solidFill>
                <a:latin typeface="Arial"/>
                <a:ea typeface="Arial"/>
                <a:cs typeface="Arial"/>
              </a:rPr>
              <a:t>Robot Parkour</a:t>
            </a:r>
          </a:p>
        </p:txBody>
      </p:sp>
      <p:sp>
        <p:nvSpPr>
          <p:cNvPr id="41" name="code-label">
            <a:extLst xmlns:a="http://schemas.openxmlformats.org/drawingml/2006/main">
              <a:ext uri="{FF2B5EF4-FFF2-40B4-BE49-F238E27FC236}">
                <a16:creationId xmlns:a16="http://schemas.microsoft.com/office/drawing/2014/main" id="{583E8E08-2A0B-47E6-BF87-461C0183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152400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0" i="0">
                <a:solidFill>
                  <a:srgbClr val="A966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 i="0">
                <a:solidFill>
                  <a:srgbClr val="A966E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A966ED"/>
                </a:solidFill>
                <a:latin typeface="Arial"/>
                <a:ea typeface="Arial"/>
                <a:cs typeface="Arial"/>
              </a:rPr>
              <a:t>Environment Code</a:t>
            </a:r>
          </a:p>
        </p:txBody>
      </p:sp>
      <p:sp>
        <p:nvSpPr>
          <p:cNvPr id="42" name="training-label">
            <a:extLst xmlns:a="http://schemas.openxmlformats.org/drawingml/2006/main">
              <a:ext uri="{FF2B5EF4-FFF2-40B4-BE49-F238E27FC236}">
                <a16:creationId xmlns:a16="http://schemas.microsoft.com/office/drawing/2014/main" id="{A6D8007C-1F00-4EF9-9C71-56CEB5EC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200025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0" i="0">
                <a:solidFill>
                  <a:srgbClr val="FF9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 i="0">
                <a:solidFill>
                  <a:srgbClr val="FF91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9100"/>
                </a:solidFill>
                <a:latin typeface="Arial"/>
                <a:ea typeface="Arial"/>
                <a:cs typeface="Arial"/>
              </a:rPr>
              <a:t>Policy Training</a:t>
            </a:r>
          </a:p>
        </p:txBody>
      </p:sp>
      <p:sp>
        <p:nvSpPr>
          <p:cNvPr id="43" name="evaluation-label">
            <a:extLst xmlns:a="http://schemas.openxmlformats.org/drawingml/2006/main">
              <a:ext uri="{FF2B5EF4-FFF2-40B4-BE49-F238E27FC236}">
                <a16:creationId xmlns:a16="http://schemas.microsoft.com/office/drawing/2014/main" id="{48F3F902-1A2F-414F-9A58-505DFD6C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14382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 i="0">
                <a:solidFill>
                  <a:srgbClr val="FF3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FF3B4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3B45"/>
                </a:solidFill>
                <a:latin typeface="Arial"/>
                <a:ea typeface="Arial"/>
                <a:cs typeface="Arial"/>
              </a:rPr>
              <a:t>Policy Evaluation</a:t>
            </a:r>
          </a:p>
        </p:txBody>
      </p:sp>
      <p:sp>
        <p:nvSpPr>
          <p:cNvPr id="44" name="llm-label">
            <a:extLst xmlns:a="http://schemas.openxmlformats.org/drawingml/2006/main">
              <a:ext uri="{FF2B5EF4-FFF2-40B4-BE49-F238E27FC236}">
                <a16:creationId xmlns:a16="http://schemas.microsoft.com/office/drawing/2014/main" id="{3A13149D-7FFD-4EA8-8FFB-82FB4A04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22479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 i="0">
                <a:solidFill>
                  <a:srgbClr val="606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60606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06060"/>
                </a:solidFill>
                <a:latin typeface="Arial"/>
                <a:ea typeface="Arial"/>
                <a:cs typeface="Arial"/>
              </a:rPr>
              <a:t>Coding LLM</a:t>
            </a:r>
          </a:p>
        </p:txBody>
      </p:sp>
      <p:sp>
        <p:nvSpPr>
          <p:cNvPr id="45" name="best-policy">
            <a:extLst xmlns:a="http://schemas.openxmlformats.org/drawingml/2006/main">
              <a:ext uri="{FF2B5EF4-FFF2-40B4-BE49-F238E27FC236}">
                <a16:creationId xmlns:a16="http://schemas.microsoft.com/office/drawing/2014/main" id="{4B1A3A5A-C550-475E-A13B-F21A1393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1209675"/>
            <a:ext cx="762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0" i="0">
                <a:solidFill>
                  <a:srgbClr val="FF3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 i="0">
                <a:solidFill>
                  <a:srgbClr val="FF3B4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3B45"/>
                </a:solidFill>
                <a:latin typeface="Arial"/>
                <a:ea typeface="Arial"/>
                <a:cs typeface="Arial"/>
              </a:rPr>
              <a:t>Best</a:t>
            </a:r>
          </a:p>
          <a:p xmlns:a="http://schemas.openxmlformats.org/drawingml/2006/main">
            <a:pPr algn="ctr">
              <a:defRPr sz="1875" b="0" i="0">
                <a:solidFill>
                  <a:srgbClr val="FF3B4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3B45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46" name="evolution-prompt">
            <a:extLst xmlns:a="http://schemas.openxmlformats.org/drawingml/2006/main">
              <a:ext uri="{FF2B5EF4-FFF2-40B4-BE49-F238E27FC236}">
                <a16:creationId xmlns:a16="http://schemas.microsoft.com/office/drawing/2014/main" id="{441B9CC2-3673-4D1D-86B2-08DE919C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2581275"/>
            <a:ext cx="1057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0" i="0">
                <a:solidFill>
                  <a:srgbClr val="FF3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 i="0">
                <a:solidFill>
                  <a:srgbClr val="FF3B4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3B45"/>
                </a:solidFill>
                <a:latin typeface="Arial"/>
                <a:ea typeface="Arial"/>
                <a:cs typeface="Arial"/>
              </a:rPr>
              <a:t>Evolution</a:t>
            </a:r>
          </a:p>
          <a:p xmlns:a="http://schemas.openxmlformats.org/drawingml/2006/main">
            <a:pPr algn="l">
              <a:defRPr sz="1875" b="0" i="0">
                <a:solidFill>
                  <a:srgbClr val="FF3B4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3B45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47" name="policies">
            <a:extLst xmlns:a="http://schemas.openxmlformats.org/drawingml/2006/main">
              <a:ext uri="{FF2B5EF4-FFF2-40B4-BE49-F238E27FC236}">
                <a16:creationId xmlns:a16="http://schemas.microsoft.com/office/drawing/2014/main" id="{75314A23-EEF5-4DCE-91D9-BE8FCC0D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2552700"/>
            <a:ext cx="790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 i="0">
                <a:solidFill>
                  <a:srgbClr val="FF9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FF91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9100"/>
                </a:solidFill>
                <a:latin typeface="Arial"/>
                <a:ea typeface="Arial"/>
                <a:cs typeface="Arial"/>
              </a:rPr>
              <a:t>Policies</a:t>
            </a:r>
          </a:p>
        </p:txBody>
      </p:sp>
      <p:sp>
        <p:nvSpPr>
          <p:cNvPr id="48" name="logo-label">
            <a:extLst xmlns:a="http://schemas.openxmlformats.org/drawingml/2006/main">
              <a:ext uri="{FF2B5EF4-FFF2-40B4-BE49-F238E27FC236}">
                <a16:creationId xmlns:a16="http://schemas.microsoft.com/office/drawing/2014/main" id="{ADF4C41A-9F4D-4553-9EDE-1B25D87C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8098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30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Eurekaverse</a:t>
            </a:r>
          </a:p>
        </p:txBody>
      </p:sp>
      <p:sp>
        <p:nvSpPr>
          <p:cNvPr id="49" name="initial-message">
            <a:extLst xmlns:a="http://schemas.openxmlformats.org/drawingml/2006/main">
              <a:ext uri="{FF2B5EF4-FFF2-40B4-BE49-F238E27FC236}">
                <a16:creationId xmlns:a16="http://schemas.microsoft.com/office/drawing/2014/main" id="{7A79B1AE-1CEE-47CB-A0D6-E64D1D3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200025"/>
            <a:ext cx="666750" cy="219075"/>
          </a:xfrm>
          <a:custGeom xmlns:a="http://schemas.openxmlformats.org/drawingml/2006/main">
            <a:pathLst>
              <a:path w="666750" h="219075">
                <a:moveTo>
                  <a:pt x="114300" y="0"/>
                </a:moveTo>
                <a:lnTo>
                  <a:pt x="552450" y="0"/>
                </a:lnTo>
                <a:cubicBezTo>
                  <a:pt x="615576" y="0"/>
                  <a:pt x="666750" y="51174"/>
                  <a:pt x="666750" y="114300"/>
                </a:cubicBezTo>
                <a:lnTo>
                  <a:pt x="666750" y="104775"/>
                </a:lnTo>
                <a:cubicBezTo>
                  <a:pt x="666750" y="167901"/>
                  <a:pt x="615576" y="219075"/>
                  <a:pt x="552450" y="219075"/>
                </a:cubicBezTo>
                <a:lnTo>
                  <a:pt x="114300" y="219075"/>
                </a:lnTo>
                <a:cubicBezTo>
                  <a:pt x="51174" y="219075"/>
                  <a:pt x="0" y="167901"/>
                  <a:pt x="0" y="1047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358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initial-message-tail">
            <a:extLst xmlns:a="http://schemas.openxmlformats.org/drawingml/2006/main">
              <a:ext uri="{FF2B5EF4-FFF2-40B4-BE49-F238E27FC236}">
                <a16:creationId xmlns:a16="http://schemas.microsoft.com/office/drawing/2014/main" id="{CBC31504-DDAA-491E-AA0D-08428D7D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247650"/>
            <a:ext cx="123825" cy="85725"/>
          </a:xfrm>
          <a:custGeom xmlns:a="http://schemas.openxmlformats.org/drawingml/2006/main">
            <a:pathLst>
              <a:path w="123825" h="85725">
                <a:moveTo>
                  <a:pt x="104775" y="0"/>
                </a:moveTo>
                <a:lnTo>
                  <a:pt x="0" y="66675"/>
                </a:lnTo>
                <a:lnTo>
                  <a:pt x="123825" y="85725"/>
                </a:lnTo>
                <a:close/>
              </a:path>
            </a:pathLst>
          </a:custGeom>
          <a:solidFill xmlns:a="http://schemas.openxmlformats.org/drawingml/2006/main">
            <a:srgbClr val="327FF0"/>
          </a:solidFill>
          <a:ln xmlns:a="http://schemas.openxmlformats.org/drawingml/2006/main" w="0">
            <a:solidFill>
              <a:srgbClr val="327FF0"/>
            </a:solidFill>
            <a:prstDash val="solid"/>
          </a:ln>
        </p:spPr>
      </p:sp>
      <p:sp>
        <p:nvSpPr>
          <p:cNvPr id="51" name="code-message-0">
            <a:extLst xmlns:a="http://schemas.openxmlformats.org/drawingml/2006/main">
              <a:ext uri="{FF2B5EF4-FFF2-40B4-BE49-F238E27FC236}">
                <a16:creationId xmlns:a16="http://schemas.microsoft.com/office/drawing/2014/main" id="{7645EFB1-1AE9-4E5B-8B0F-94F2CC60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447675"/>
            <a:ext cx="1009650" cy="219075"/>
          </a:xfrm>
          <a:custGeom xmlns:a="http://schemas.openxmlformats.org/drawingml/2006/main">
            <a:pathLst>
              <a:path w="1009650" h="219075">
                <a:moveTo>
                  <a:pt x="114300" y="0"/>
                </a:moveTo>
                <a:lnTo>
                  <a:pt x="895350" y="0"/>
                </a:lnTo>
                <a:cubicBezTo>
                  <a:pt x="958476" y="0"/>
                  <a:pt x="1009650" y="51174"/>
                  <a:pt x="1009650" y="114300"/>
                </a:cubicBezTo>
                <a:lnTo>
                  <a:pt x="1009650" y="104775"/>
                </a:lnTo>
                <a:cubicBezTo>
                  <a:pt x="1009650" y="167901"/>
                  <a:pt x="958476" y="219075"/>
                  <a:pt x="895350" y="219075"/>
                </a:cubicBezTo>
                <a:lnTo>
                  <a:pt x="114300" y="219075"/>
                </a:lnTo>
                <a:cubicBezTo>
                  <a:pt x="51174" y="219075"/>
                  <a:pt x="0" y="167901"/>
                  <a:pt x="0" y="1047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AC6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de-message-tail-0">
            <a:extLst xmlns:a="http://schemas.openxmlformats.org/drawingml/2006/main">
              <a:ext uri="{FF2B5EF4-FFF2-40B4-BE49-F238E27FC236}">
                <a16:creationId xmlns:a16="http://schemas.microsoft.com/office/drawing/2014/main" id="{35FCE855-44A7-45FC-ADE9-31603833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5048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9525" y="0"/>
                </a:moveTo>
                <a:lnTo>
                  <a:pt x="104775" y="4762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AC6EEF"/>
          </a:solidFill>
          <a:ln xmlns:a="http://schemas.openxmlformats.org/drawingml/2006/main" w="0">
            <a:solidFill>
              <a:srgbClr val="A966ED"/>
            </a:solidFill>
            <a:prstDash val="solid"/>
          </a:ln>
        </p:spPr>
      </p:sp>
      <p:sp>
        <p:nvSpPr>
          <p:cNvPr id="53" name="code-message-1">
            <a:extLst xmlns:a="http://schemas.openxmlformats.org/drawingml/2006/main">
              <a:ext uri="{FF2B5EF4-FFF2-40B4-BE49-F238E27FC236}">
                <a16:creationId xmlns:a16="http://schemas.microsoft.com/office/drawing/2014/main" id="{424596A2-D996-4C0B-ACF6-7894CDF4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742950"/>
            <a:ext cx="1009650" cy="219075"/>
          </a:xfrm>
          <a:custGeom xmlns:a="http://schemas.openxmlformats.org/drawingml/2006/main">
            <a:pathLst>
              <a:path w="1009650" h="219075">
                <a:moveTo>
                  <a:pt x="114300" y="0"/>
                </a:moveTo>
                <a:lnTo>
                  <a:pt x="895350" y="0"/>
                </a:lnTo>
                <a:cubicBezTo>
                  <a:pt x="958476" y="0"/>
                  <a:pt x="1009650" y="51174"/>
                  <a:pt x="1009650" y="114300"/>
                </a:cubicBezTo>
                <a:lnTo>
                  <a:pt x="1009650" y="104775"/>
                </a:lnTo>
                <a:cubicBezTo>
                  <a:pt x="1009650" y="167901"/>
                  <a:pt x="958476" y="219075"/>
                  <a:pt x="895350" y="219075"/>
                </a:cubicBezTo>
                <a:lnTo>
                  <a:pt x="114300" y="219075"/>
                </a:lnTo>
                <a:cubicBezTo>
                  <a:pt x="51174" y="219075"/>
                  <a:pt x="0" y="167901"/>
                  <a:pt x="0" y="1047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AC6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de-message-tail-1">
            <a:extLst xmlns:a="http://schemas.openxmlformats.org/drawingml/2006/main">
              <a:ext uri="{FF2B5EF4-FFF2-40B4-BE49-F238E27FC236}">
                <a16:creationId xmlns:a16="http://schemas.microsoft.com/office/drawing/2014/main" id="{47089A6E-7CF3-4657-908A-5FAE21D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80010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9525" y="0"/>
                </a:moveTo>
                <a:lnTo>
                  <a:pt x="104775" y="4762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AC6EEF"/>
          </a:solidFill>
          <a:ln xmlns:a="http://schemas.openxmlformats.org/drawingml/2006/main" w="0">
            <a:solidFill>
              <a:srgbClr val="A966ED"/>
            </a:solidFill>
            <a:prstDash val="solid"/>
          </a:ln>
        </p:spPr>
      </p:sp>
      <p:sp>
        <p:nvSpPr>
          <p:cNvPr id="55" name="code-message-2">
            <a:extLst xmlns:a="http://schemas.openxmlformats.org/drawingml/2006/main">
              <a:ext uri="{FF2B5EF4-FFF2-40B4-BE49-F238E27FC236}">
                <a16:creationId xmlns:a16="http://schemas.microsoft.com/office/drawing/2014/main" id="{E4FD3A07-DD1D-4D4A-BE6E-8DFF2BBE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1028700"/>
            <a:ext cx="1009650" cy="219075"/>
          </a:xfrm>
          <a:custGeom xmlns:a="http://schemas.openxmlformats.org/drawingml/2006/main">
            <a:pathLst>
              <a:path w="1009650" h="219075">
                <a:moveTo>
                  <a:pt x="114300" y="0"/>
                </a:moveTo>
                <a:lnTo>
                  <a:pt x="895350" y="0"/>
                </a:lnTo>
                <a:cubicBezTo>
                  <a:pt x="958476" y="0"/>
                  <a:pt x="1009650" y="51174"/>
                  <a:pt x="1009650" y="114300"/>
                </a:cubicBezTo>
                <a:lnTo>
                  <a:pt x="1009650" y="104775"/>
                </a:lnTo>
                <a:cubicBezTo>
                  <a:pt x="1009650" y="167901"/>
                  <a:pt x="958476" y="219075"/>
                  <a:pt x="895350" y="219075"/>
                </a:cubicBezTo>
                <a:lnTo>
                  <a:pt x="114300" y="219075"/>
                </a:lnTo>
                <a:cubicBezTo>
                  <a:pt x="51174" y="219075"/>
                  <a:pt x="0" y="167901"/>
                  <a:pt x="0" y="1047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AC6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de-message-tail-2">
            <a:extLst xmlns:a="http://schemas.openxmlformats.org/drawingml/2006/main">
              <a:ext uri="{FF2B5EF4-FFF2-40B4-BE49-F238E27FC236}">
                <a16:creationId xmlns:a16="http://schemas.microsoft.com/office/drawing/2014/main" id="{681BBED3-7BDD-4F21-96F0-83F94AC0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0858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9525" y="0"/>
                </a:moveTo>
                <a:lnTo>
                  <a:pt x="104775" y="4762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AC6EEF"/>
          </a:solidFill>
          <a:ln xmlns:a="http://schemas.openxmlformats.org/drawingml/2006/main" w="0">
            <a:solidFill>
              <a:srgbClr val="A966ED"/>
            </a:solidFill>
            <a:prstDash val="solid"/>
          </a:ln>
        </p:spPr>
      </p:sp>
      <p:sp>
        <p:nvSpPr>
          <p:cNvPr id="57" name="code-message-3">
            <a:extLst xmlns:a="http://schemas.openxmlformats.org/drawingml/2006/main">
              <a:ext uri="{FF2B5EF4-FFF2-40B4-BE49-F238E27FC236}">
                <a16:creationId xmlns:a16="http://schemas.microsoft.com/office/drawing/2014/main" id="{93D737B0-3BA9-4BAE-A011-8E8B52CC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1323975"/>
            <a:ext cx="1009650" cy="219075"/>
          </a:xfrm>
          <a:custGeom xmlns:a="http://schemas.openxmlformats.org/drawingml/2006/main">
            <a:pathLst>
              <a:path w="1009650" h="219075">
                <a:moveTo>
                  <a:pt x="114300" y="0"/>
                </a:moveTo>
                <a:lnTo>
                  <a:pt x="895350" y="0"/>
                </a:lnTo>
                <a:cubicBezTo>
                  <a:pt x="958476" y="0"/>
                  <a:pt x="1009650" y="51174"/>
                  <a:pt x="1009650" y="114300"/>
                </a:cubicBezTo>
                <a:lnTo>
                  <a:pt x="1009650" y="104775"/>
                </a:lnTo>
                <a:cubicBezTo>
                  <a:pt x="1009650" y="167901"/>
                  <a:pt x="958476" y="219075"/>
                  <a:pt x="895350" y="219075"/>
                </a:cubicBezTo>
                <a:lnTo>
                  <a:pt x="114300" y="219075"/>
                </a:lnTo>
                <a:cubicBezTo>
                  <a:pt x="51174" y="219075"/>
                  <a:pt x="0" y="167901"/>
                  <a:pt x="0" y="1047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AC6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de-message-tail-3">
            <a:extLst xmlns:a="http://schemas.openxmlformats.org/drawingml/2006/main">
              <a:ext uri="{FF2B5EF4-FFF2-40B4-BE49-F238E27FC236}">
                <a16:creationId xmlns:a16="http://schemas.microsoft.com/office/drawing/2014/main" id="{ECF14550-36F3-42C2-9F17-938453C8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38112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9525" y="0"/>
                </a:moveTo>
                <a:lnTo>
                  <a:pt x="104775" y="47625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AC6EEF"/>
          </a:solidFill>
          <a:ln xmlns:a="http://schemas.openxmlformats.org/drawingml/2006/main" w="0">
            <a:solidFill>
              <a:srgbClr val="A966ED"/>
            </a:solidFill>
            <a:prstDash val="solid"/>
          </a:ln>
        </p:spPr>
      </p:sp>
      <p:sp>
        <p:nvSpPr>
          <p:cNvPr id="59" name="feedback-message">
            <a:extLst xmlns:a="http://schemas.openxmlformats.org/drawingml/2006/main">
              <a:ext uri="{FF2B5EF4-FFF2-40B4-BE49-F238E27FC236}">
                <a16:creationId xmlns:a16="http://schemas.microsoft.com/office/drawing/2014/main" id="{05A5BD31-3A55-41C1-80DC-D2C20F1B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1676400"/>
            <a:ext cx="647700" cy="219075"/>
          </a:xfrm>
          <a:custGeom xmlns:a="http://schemas.openxmlformats.org/drawingml/2006/main">
            <a:pathLst>
              <a:path w="647700" h="219075">
                <a:moveTo>
                  <a:pt x="114300" y="0"/>
                </a:moveTo>
                <a:lnTo>
                  <a:pt x="533400" y="0"/>
                </a:lnTo>
                <a:cubicBezTo>
                  <a:pt x="596526" y="0"/>
                  <a:pt x="647700" y="51174"/>
                  <a:pt x="647700" y="114300"/>
                </a:cubicBezTo>
                <a:lnTo>
                  <a:pt x="647700" y="104775"/>
                </a:lnTo>
                <a:cubicBezTo>
                  <a:pt x="647700" y="167901"/>
                  <a:pt x="596526" y="219075"/>
                  <a:pt x="533400" y="219075"/>
                </a:cubicBezTo>
                <a:lnTo>
                  <a:pt x="114300" y="219075"/>
                </a:lnTo>
                <a:cubicBezTo>
                  <a:pt x="51174" y="219075"/>
                  <a:pt x="0" y="167901"/>
                  <a:pt x="0" y="1047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F4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feedback-tail">
            <a:extLst xmlns:a="http://schemas.openxmlformats.org/drawingml/2006/main">
              <a:ext uri="{FF2B5EF4-FFF2-40B4-BE49-F238E27FC236}">
                <a16:creationId xmlns:a16="http://schemas.microsoft.com/office/drawing/2014/main" id="{033AD56A-749A-423D-91FD-7CC615ED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1733550"/>
            <a:ext cx="114300" cy="104775"/>
          </a:xfrm>
          <a:custGeom xmlns:a="http://schemas.openxmlformats.org/drawingml/2006/main">
            <a:pathLst>
              <a:path w="114300" h="104775">
                <a:moveTo>
                  <a:pt x="104775" y="0"/>
                </a:moveTo>
                <a:lnTo>
                  <a:pt x="0" y="57150"/>
                </a:lnTo>
                <a:lnTo>
                  <a:pt x="114300" y="104775"/>
                </a:lnTo>
                <a:close/>
              </a:path>
            </a:pathLst>
          </a:custGeom>
          <a:solidFill xmlns:a="http://schemas.openxmlformats.org/drawingml/2006/main">
            <a:srgbClr val="FF424B"/>
          </a:solidFill>
          <a:ln xmlns:a="http://schemas.openxmlformats.org/drawingml/2006/main" w="0">
            <a:solidFill>
              <a:srgbClr val="FF3B45"/>
            </a:solidFill>
            <a:prstDash val="solid"/>
          </a:ln>
        </p:spPr>
      </p:sp>
      <p:sp>
        <p:nvSpPr>
          <p:cNvPr id="61" name="initial-flow">
            <a:extLst xmlns:a="http://schemas.openxmlformats.org/drawingml/2006/main">
              <a:ext uri="{FF2B5EF4-FFF2-40B4-BE49-F238E27FC236}">
                <a16:creationId xmlns:a16="http://schemas.microsoft.com/office/drawing/2014/main" id="{4472707A-1580-447B-8789-2AA764ED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304800"/>
            <a:ext cx="504825" cy="953"/>
          </a:xfrm>
          <a:custGeom xmlns:a="http://schemas.openxmlformats.org/drawingml/2006/main">
            <a:pathLst>
              <a:path w="504825" h="953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27FF0"/>
            </a:solidFill>
            <a:prstDash val="solid"/>
          </a:ln>
        </p:spPr>
      </p:sp>
      <p:sp>
        <p:nvSpPr>
          <p:cNvPr id="62" name="initial-flow-arrow">
            <a:extLst xmlns:a="http://schemas.openxmlformats.org/drawingml/2006/main">
              <a:ext uri="{FF2B5EF4-FFF2-40B4-BE49-F238E27FC236}">
                <a16:creationId xmlns:a16="http://schemas.microsoft.com/office/drawing/2014/main" id="{67E18528-A46C-42FC-B432-614CF422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260033"/>
            <a:ext cx="95250" cy="89535"/>
          </a:xfrm>
          <a:custGeom xmlns:a="http://schemas.openxmlformats.org/drawingml/2006/main">
            <a:pathLst>
              <a:path w="95250" h="89535">
                <a:moveTo>
                  <a:pt x="0" y="89535"/>
                </a:moveTo>
                <a:lnTo>
                  <a:pt x="95250" y="4476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27FF0"/>
            </a:solidFill>
            <a:prstDash val="solid"/>
          </a:ln>
        </p:spPr>
      </p:sp>
      <p:sp>
        <p:nvSpPr>
          <p:cNvPr id="63" name="code-to-training">
            <a:extLst xmlns:a="http://schemas.openxmlformats.org/drawingml/2006/main">
              <a:ext uri="{FF2B5EF4-FFF2-40B4-BE49-F238E27FC236}">
                <a16:creationId xmlns:a16="http://schemas.microsoft.com/office/drawing/2014/main" id="{45D8DEEB-6D4D-47CC-83CD-4E042F6C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8675" y="552450"/>
            <a:ext cx="4438650" cy="953"/>
          </a:xfrm>
          <a:custGeom xmlns:a="http://schemas.openxmlformats.org/drawingml/2006/main">
            <a:pathLst>
              <a:path w="4438650" h="953">
                <a:moveTo>
                  <a:pt x="0" y="0"/>
                </a:moveTo>
                <a:lnTo>
                  <a:pt x="443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966ED"/>
            </a:solidFill>
            <a:prstDash val="solid"/>
          </a:ln>
        </p:spPr>
      </p:sp>
      <p:sp>
        <p:nvSpPr>
          <p:cNvPr id="64" name="code-to-training-arrow">
            <a:extLst xmlns:a="http://schemas.openxmlformats.org/drawingml/2006/main">
              <a:ext uri="{FF2B5EF4-FFF2-40B4-BE49-F238E27FC236}">
                <a16:creationId xmlns:a16="http://schemas.microsoft.com/office/drawing/2014/main" id="{73E76F17-E6F5-4849-885B-54EB8EF3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2075" y="507683"/>
            <a:ext cx="95250" cy="89535"/>
          </a:xfrm>
          <a:custGeom xmlns:a="http://schemas.openxmlformats.org/drawingml/2006/main">
            <a:pathLst>
              <a:path w="95250" h="89535">
                <a:moveTo>
                  <a:pt x="0" y="89535"/>
                </a:moveTo>
                <a:lnTo>
                  <a:pt x="95250" y="44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966ED"/>
            </a:solidFill>
            <a:prstDash val="solid"/>
          </a:ln>
        </p:spPr>
      </p:sp>
      <p:sp>
        <p:nvSpPr>
          <p:cNvPr id="65" name="deploy-parkour">
            <a:extLst xmlns:a="http://schemas.openxmlformats.org/drawingml/2006/main">
              <a:ext uri="{FF2B5EF4-FFF2-40B4-BE49-F238E27FC236}">
                <a16:creationId xmlns:a16="http://schemas.microsoft.com/office/drawing/2014/main" id="{03B51648-EE8A-4644-8E74-48BCE1E3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971550"/>
            <a:ext cx="266700" cy="953"/>
          </a:xfrm>
          <a:custGeom xmlns:a="http://schemas.openxmlformats.org/drawingml/2006/main">
            <a:pathLst>
              <a:path w="266700" h="953">
                <a:moveTo>
                  <a:pt x="2667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060"/>
            </a:solidFill>
            <a:prstDash val="solid"/>
          </a:ln>
        </p:spPr>
      </p:sp>
      <p:sp>
        <p:nvSpPr>
          <p:cNvPr id="66" name="deploy-parkour-arrow">
            <a:extLst xmlns:a="http://schemas.openxmlformats.org/drawingml/2006/main">
              <a:ext uri="{FF2B5EF4-FFF2-40B4-BE49-F238E27FC236}">
                <a16:creationId xmlns:a16="http://schemas.microsoft.com/office/drawing/2014/main" id="{0E5E1406-9ECF-4FFC-BEE0-97CBD64E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926783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0"/>
                </a:moveTo>
                <a:lnTo>
                  <a:pt x="0" y="44768"/>
                </a:lnTo>
                <a:lnTo>
                  <a:pt x="95250" y="8953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060"/>
            </a:solidFill>
            <a:prstDash val="solid"/>
          </a:ln>
        </p:spPr>
      </p:sp>
      <p:sp>
        <p:nvSpPr>
          <p:cNvPr id="67" name="best-to-training">
            <a:extLst xmlns:a="http://schemas.openxmlformats.org/drawingml/2006/main">
              <a:ext uri="{FF2B5EF4-FFF2-40B4-BE49-F238E27FC236}">
                <a16:creationId xmlns:a16="http://schemas.microsoft.com/office/drawing/2014/main" id="{5A2A3738-9436-4D75-B18B-41C71CFA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625" y="733425"/>
            <a:ext cx="3314700" cy="1314450"/>
          </a:xfrm>
          <a:custGeom xmlns:a="http://schemas.openxmlformats.org/drawingml/2006/main">
            <a:pathLst>
              <a:path w="3314700" h="1314450">
                <a:moveTo>
                  <a:pt x="152400" y="1314450"/>
                </a:moveTo>
                <a:lnTo>
                  <a:pt x="0" y="1314450"/>
                </a:lnTo>
                <a:lnTo>
                  <a:pt x="0" y="0"/>
                </a:lnTo>
                <a:lnTo>
                  <a:pt x="331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3B45"/>
            </a:solidFill>
            <a:prstDash val="solid"/>
          </a:ln>
        </p:spPr>
      </p:sp>
      <p:sp>
        <p:nvSpPr>
          <p:cNvPr id="68" name="best-to-training-arrow">
            <a:extLst xmlns:a="http://schemas.openxmlformats.org/drawingml/2006/main">
              <a:ext uri="{FF2B5EF4-FFF2-40B4-BE49-F238E27FC236}">
                <a16:creationId xmlns:a16="http://schemas.microsoft.com/office/drawing/2014/main" id="{CAEEB0A7-0BB9-4132-BC3D-AA2CD7BA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2075" y="688658"/>
            <a:ext cx="95250" cy="89535"/>
          </a:xfrm>
          <a:custGeom xmlns:a="http://schemas.openxmlformats.org/drawingml/2006/main">
            <a:pathLst>
              <a:path w="95250" h="89535">
                <a:moveTo>
                  <a:pt x="0" y="89535"/>
                </a:moveTo>
                <a:lnTo>
                  <a:pt x="95250" y="447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3B45"/>
            </a:solidFill>
            <a:prstDash val="solid"/>
          </a:ln>
        </p:spPr>
      </p:sp>
      <p:sp>
        <p:nvSpPr>
          <p:cNvPr id="69" name="evaluation-feedback">
            <a:extLst xmlns:a="http://schemas.openxmlformats.org/drawingml/2006/main">
              <a:ext uri="{FF2B5EF4-FFF2-40B4-BE49-F238E27FC236}">
                <a16:creationId xmlns:a16="http://schemas.microsoft.com/office/drawing/2014/main" id="{A1C021CE-05B1-42E4-8ED5-4C0E3394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133600"/>
            <a:ext cx="1200150" cy="953"/>
          </a:xfrm>
          <a:custGeom xmlns:a="http://schemas.openxmlformats.org/drawingml/2006/main">
            <a:pathLst>
              <a:path w="1200150" h="953">
                <a:moveTo>
                  <a:pt x="12001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3B45"/>
            </a:solidFill>
            <a:prstDash val="solid"/>
          </a:ln>
        </p:spPr>
      </p:sp>
      <p:sp>
        <p:nvSpPr>
          <p:cNvPr id="70" name="evaluation-feedback-arrow">
            <a:extLst xmlns:a="http://schemas.openxmlformats.org/drawingml/2006/main">
              <a:ext uri="{FF2B5EF4-FFF2-40B4-BE49-F238E27FC236}">
                <a16:creationId xmlns:a16="http://schemas.microsoft.com/office/drawing/2014/main" id="{23A1AD63-6B96-41BD-AEF7-96E4A3CB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088833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0"/>
                </a:moveTo>
                <a:lnTo>
                  <a:pt x="0" y="44767"/>
                </a:lnTo>
                <a:lnTo>
                  <a:pt x="95250" y="8953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3B45"/>
            </a:solidFill>
            <a:prstDash val="solid"/>
          </a:ln>
        </p:spPr>
      </p:sp>
      <p:sp>
        <p:nvSpPr>
          <p:cNvPr id="71" name="training-to-evaluation">
            <a:extLst xmlns:a="http://schemas.openxmlformats.org/drawingml/2006/main">
              <a:ext uri="{FF2B5EF4-FFF2-40B4-BE49-F238E27FC236}">
                <a16:creationId xmlns:a16="http://schemas.microsoft.com/office/drawing/2014/main" id="{44EA3B0F-8EB6-4FD1-B698-56E03CC0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914650"/>
            <a:ext cx="962025" cy="953"/>
          </a:xfrm>
          <a:custGeom xmlns:a="http://schemas.openxmlformats.org/drawingml/2006/main">
            <a:pathLst>
              <a:path w="962025" h="953">
                <a:moveTo>
                  <a:pt x="9620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9100"/>
            </a:solidFill>
            <a:prstDash val="solid"/>
          </a:ln>
        </p:spPr>
      </p:sp>
      <p:sp>
        <p:nvSpPr>
          <p:cNvPr id="72" name="training-to-evaluation-arrow">
            <a:extLst xmlns:a="http://schemas.openxmlformats.org/drawingml/2006/main">
              <a:ext uri="{FF2B5EF4-FFF2-40B4-BE49-F238E27FC236}">
                <a16:creationId xmlns:a16="http://schemas.microsoft.com/office/drawing/2014/main" id="{D834EAA5-E248-4A93-97CB-730785A5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869883"/>
            <a:ext cx="95250" cy="89535"/>
          </a:xfrm>
          <a:custGeom xmlns:a="http://schemas.openxmlformats.org/drawingml/2006/main">
            <a:pathLst>
              <a:path w="95250" h="89535">
                <a:moveTo>
                  <a:pt x="95250" y="0"/>
                </a:moveTo>
                <a:lnTo>
                  <a:pt x="0" y="44767"/>
                </a:lnTo>
                <a:lnTo>
                  <a:pt x="95250" y="8953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91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5388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2026-10-09T21:04:49.5930000Z</dcterms:created>
  <dcterms:modified xsi:type="dcterms:W3CDTF">2026-10-09T21:04:49.5930000Z</dcterms:modified>
</coreProperties>
</file>