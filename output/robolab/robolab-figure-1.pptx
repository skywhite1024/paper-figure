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73befabcb74d5c" /><Relationship Type="http://schemas.openxmlformats.org/officeDocument/2006/relationships/extended-properties" Target="/docProps/app.xml" Id="Rffaf7143f9e0407e" /><Relationship Type="http://schemas.openxmlformats.org/officeDocument/2006/relationships/officeDocument" Target="/ppt/presentation.xml" Id="Rbe053cd772bf41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1460979d364193"/>
  </p:sldMasterIdLst>
  <p:notesMasterIdLst>
    <p:notesMasterId xmlns:r="http://schemas.openxmlformats.org/officeDocument/2006/relationships" r:id="R151b9f35569c49d7"/>
  </p:notesMasterIdLst>
  <p:sldIdLst>
    <p:sldId xmlns:r="http://schemas.openxmlformats.org/officeDocument/2006/relationships" id="256" r:id="R86637942fb0943a5"/>
  </p:sldIdLst>
  <p:sldSz cx="14601825" cy="7058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f059eb0a35429c" /><Relationship Type="http://schemas.openxmlformats.org/officeDocument/2006/relationships/slideMaster" Target="/ppt/slideMasters/slideMaster1.xml" Id="R0b1460979d364193" /><Relationship Type="http://schemas.openxmlformats.org/officeDocument/2006/relationships/notesMaster" Target="/ppt/notesMasters/notesMaster1.xml" Id="R151b9f35569c49d7" /><Relationship Type="http://schemas.openxmlformats.org/officeDocument/2006/relationships/presProps" Target="/ppt/presProps.xml" Id="Rdb19ce7c7aa045cb" /><Relationship Type="http://schemas.openxmlformats.org/officeDocument/2006/relationships/tableStyles" Target="/ppt/tableStyles.xml" Id="Rfe0522edba6e420d" /><Relationship Type="http://schemas.openxmlformats.org/officeDocument/2006/relationships/slide" Target="/ppt/slides/slide1.xml" Id="R86637942fb0943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0beeb88f3645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5909361c3440c4" /><Relationship Type="http://schemas.openxmlformats.org/officeDocument/2006/relationships/notesMaster" Target="/ppt/notesMasters/notesMaster1.xml" Id="Rfdb094057c0744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"RoboLab: A High-Fidelity Simulation Benchmark for Analysis of Task Generalist Policies",</a:t>
            </a:r>
          </a:p>
          <a:p xmlns:a="http://schemas.openxmlformats.org/drawingml/2006/main">
            <a:r>
              <a:t>  "paper_url": "https://arxiv.org/abs/2604.09860v4",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"page": 1,</a:t>
            </a:r>
          </a:p>
          <a:p xmlns:a="http://schemas.openxmlformats.org/drawingml/2006/main">
            <a:r>
              <a:t>  "license": "unverified",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"49da5e317e36c4320eb3896cfca4ea1600908f8ed591a1e643ff65c405fba73e",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50,</a:t>
            </a:r>
          </a:p>
          <a:p xmlns:a="http://schemas.openxmlformats.org/drawingml/2006/main">
            <a:r>
              <a:t>    178,</a:t>
            </a:r>
          </a:p>
          <a:p xmlns:a="http://schemas.openxmlformats.org/drawingml/2006/main">
            <a:r>
              <a:t>    561,</a:t>
            </a:r>
          </a:p>
          <a:p xmlns:a="http://schemas.openxmlformats.org/drawingml/2006/main">
            <a:r>
              <a:t>    425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"notes": "Manually reconstructed after inspecting actual source pixels. Original source is a flattened raster. Layout, native panels, labels and connecting geometry are recreated; no whole-figure raster backdrop. Font metrics and curve/arrow geometry approximated. Small original mathematical/photo details retained only where explicitly noted. Independent target-application QA pending. Native framework panels, ordinary labels, metric descriptions, continuous curves, sensitivity chart and policy list. Eighteen bounded example photo/icon assets plus legend icons and original small performance plot remain raster; no whole-figure backdrop."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c7a8f2c116480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e8460ce609456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18019629f14e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9b335b90504a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883b5daea8456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69d7abdc7d44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85A203-FD61-4462-9C97-A05BF2727C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60183" y="2666365"/>
            <a:ext cx="11681460" cy="1019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9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49349DE-CB0E-412C-8F43-6D8ABB15EC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90274" y="3881914"/>
            <a:ext cx="10221278" cy="784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4DABB4A-87DB-4520-880D-77F100088D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60183" y="2940844"/>
            <a:ext cx="11681460" cy="1176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3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428CCC-51F7-422B-ADC7-12CE2B1F3D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1353" y="548957"/>
            <a:ext cx="12959120" cy="86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A8C8581-044E-47AD-BB38-5EBD6472E6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1353" y="1960562"/>
            <a:ext cx="12959120" cy="4391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5267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1pPr>
            <a:lvl2pPr marL="548957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2pPr>
            <a:lvl3pPr marL="862648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3pPr>
            <a:lvl4pPr marL="1176337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4pPr>
            <a:lvl5pPr marL="1490027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5pPr>
            <a:lvl6pPr marL="1803717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6pPr>
            <a:lvl7pPr marL="2117408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7pPr>
            <a:lvl8pPr marL="2431098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8pPr>
            <a:lvl9pPr marL="2744787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7581C49-F47B-49DB-AC2C-D474883AE6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1353" y="548957"/>
            <a:ext cx="12959120" cy="86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AFC12A-D2F1-4515-AA0E-5A50C1303D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1353" y="1960562"/>
            <a:ext cx="6023253" cy="4391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5267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1pPr>
            <a:lvl2pPr marL="548957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2pPr>
            <a:lvl3pPr marL="862648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3pPr>
            <a:lvl4pPr marL="1176337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4pPr>
            <a:lvl5pPr marL="1490027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5pPr>
            <a:lvl6pPr marL="1803717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6pPr>
            <a:lvl7pPr marL="2117408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7pPr>
            <a:lvl8pPr marL="2431098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8pPr>
            <a:lvl9pPr marL="2744787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722EA8C-304F-45AA-A359-19174C8430D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757220" y="1960562"/>
            <a:ext cx="6023253" cy="4391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5267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1pPr>
            <a:lvl2pPr marL="548957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2pPr>
            <a:lvl3pPr marL="862648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3pPr>
            <a:lvl4pPr marL="1176337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4pPr>
            <a:lvl5pPr marL="1490027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5pPr>
            <a:lvl6pPr marL="1803717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6pPr>
            <a:lvl7pPr marL="2117408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7pPr>
            <a:lvl8pPr marL="2431098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8pPr>
            <a:lvl9pPr marL="2744787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C4D74F-729B-45B1-AC1E-AF6B82A9D2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1353" y="548957"/>
            <a:ext cx="12959120" cy="86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C3807B-7B0E-43FC-A12D-6922CFF797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1353" y="1960562"/>
            <a:ext cx="6023253" cy="4391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5267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1pPr>
            <a:lvl2pPr marL="548957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2pPr>
            <a:lvl3pPr marL="862648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3pPr>
            <a:lvl4pPr marL="1176337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4pPr>
            <a:lvl5pPr marL="1490027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5pPr>
            <a:lvl6pPr marL="1803717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6pPr>
            <a:lvl7pPr marL="2117408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7pPr>
            <a:lvl8pPr marL="2431098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8pPr>
            <a:lvl9pPr marL="2744787" indent="-235267">
              <a:lnSpc>
                <a:spcPct val="110000"/>
              </a:lnSpc>
              <a:spcBef>
                <a:spcPts val="0"/>
              </a:spcBef>
              <a:spcAft>
                <a:spcPts val="123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bec929bec74c19" /><Relationship Type="http://schemas.openxmlformats.org/officeDocument/2006/relationships/slideLayout" Target="/ppt/slideLayouts/slideLayout1.xml" Id="R170fe04790224341" /><Relationship Type="http://schemas.openxmlformats.org/officeDocument/2006/relationships/slideLayout" Target="/ppt/slideLayouts/slideLayout2.xml" Id="R822d9c32407044c3" /><Relationship Type="http://schemas.openxmlformats.org/officeDocument/2006/relationships/slideLayout" Target="/ppt/slideLayouts/slideLayout3.xml" Id="R8d537e10cb8b495e" /><Relationship Type="http://schemas.openxmlformats.org/officeDocument/2006/relationships/slideLayout" Target="/ppt/slideLayouts/slideLayout4.xml" Id="R92073c2167a04a46" /><Relationship Type="http://schemas.openxmlformats.org/officeDocument/2006/relationships/slideLayout" Target="/ppt/slideLayouts/slideLayout5.xml" Id="Racc333f4c0204c9a" /><Relationship Type="http://schemas.openxmlformats.org/officeDocument/2006/relationships/slideLayout" Target="/ppt/slideLayouts/slideLayout6.xml" Id="Rb1b188b0f45e47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0fe04790224341"/>
    <p:sldLayoutId xmlns:r="http://schemas.openxmlformats.org/officeDocument/2006/relationships" id="2147483650" r:id="R822d9c32407044c3"/>
    <p:sldLayoutId xmlns:r="http://schemas.openxmlformats.org/officeDocument/2006/relationships" id="2147483651" r:id="R8d537e10cb8b495e"/>
    <p:sldLayoutId xmlns:r="http://schemas.openxmlformats.org/officeDocument/2006/relationships" id="2147483652" r:id="R92073c2167a04a46"/>
    <p:sldLayoutId xmlns:r="http://schemas.openxmlformats.org/officeDocument/2006/relationships" id="2147483653" r:id="Racc333f4c0204c9a"/>
    <p:sldLayoutId xmlns:r="http://schemas.openxmlformats.org/officeDocument/2006/relationships" id="2147483654" r:id="Rb1b188b0f45e47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f9b26aa4a54dca" /><Relationship Type="http://schemas.openxmlformats.org/officeDocument/2006/relationships/image" Target="/ppt/media/image.png" Id="R0288789d099b4ee8" /><Relationship Type="http://schemas.openxmlformats.org/officeDocument/2006/relationships/image" Target="/ppt/media/image2.png" Id="Ra9f64646ec874ccb" /><Relationship Type="http://schemas.openxmlformats.org/officeDocument/2006/relationships/image" Target="/ppt/media/image3.png" Id="R537597b9900644d2" /><Relationship Type="http://schemas.openxmlformats.org/officeDocument/2006/relationships/image" Target="/ppt/media/image4.png" Id="Ra8cdc917e2524c24" /><Relationship Type="http://schemas.openxmlformats.org/officeDocument/2006/relationships/image" Target="/ppt/media/image5.png" Id="R205a89f6305f406f" /><Relationship Type="http://schemas.openxmlformats.org/officeDocument/2006/relationships/image" Target="/ppt/media/image6.png" Id="R4d58bf5a28494174" /><Relationship Type="http://schemas.openxmlformats.org/officeDocument/2006/relationships/image" Target="/ppt/media/image7.png" Id="R553672c052b34e0b" /><Relationship Type="http://schemas.openxmlformats.org/officeDocument/2006/relationships/image" Target="/ppt/media/image8.png" Id="R87c55acaf17746d6" /><Relationship Type="http://schemas.openxmlformats.org/officeDocument/2006/relationships/image" Target="/ppt/media/image9.png" Id="R1ed00555c873445c" /><Relationship Type="http://schemas.openxmlformats.org/officeDocument/2006/relationships/image" Target="/ppt/media/image10.png" Id="R7ba41395086c4f41" /><Relationship Type="http://schemas.openxmlformats.org/officeDocument/2006/relationships/image" Target="/ppt/media/image11.png" Id="R7c7f95579f5f4174" /><Relationship Type="http://schemas.openxmlformats.org/officeDocument/2006/relationships/image" Target="/ppt/media/image12.png" Id="R206991c2ada1457f" /><Relationship Type="http://schemas.openxmlformats.org/officeDocument/2006/relationships/image" Target="/ppt/media/image13.png" Id="R0e31a16cb5994460" /><Relationship Type="http://schemas.openxmlformats.org/officeDocument/2006/relationships/image" Target="/ppt/media/image14.png" Id="R51f7e21ec7b94daf" /><Relationship Type="http://schemas.openxmlformats.org/officeDocument/2006/relationships/image" Target="/ppt/media/image15.png" Id="Rfb09337e46cc4243" /><Relationship Type="http://schemas.openxmlformats.org/officeDocument/2006/relationships/image" Target="/ppt/media/image16.png" Id="R971ef612a0994975" /><Relationship Type="http://schemas.openxmlformats.org/officeDocument/2006/relationships/image" Target="/ppt/media/image17.png" Id="R6762b21c2fc845c6" /><Relationship Type="http://schemas.openxmlformats.org/officeDocument/2006/relationships/image" Target="/ppt/media/image18.png" Id="Raea764ffebba45f4" /><Relationship Type="http://schemas.openxmlformats.org/officeDocument/2006/relationships/image" Target="/ppt/media/image19.png" Id="Rbbaaffd624744749" /><Relationship Type="http://schemas.openxmlformats.org/officeDocument/2006/relationships/image" Target="/ppt/media/image20.png" Id="R0852429788c24e58" /><Relationship Type="http://schemas.openxmlformats.org/officeDocument/2006/relationships/notesSlide" Target="/ppt/notesSlides/notesSlide1.xml" Id="R3d39ff0463ec4c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framework-title-bar">
            <a:extLst xmlns:a="http://schemas.openxmlformats.org/drawingml/2006/main">
              <a:ext uri="{FF2B5EF4-FFF2-40B4-BE49-F238E27FC236}">
                <a16:creationId xmlns:a16="http://schemas.microsoft.com/office/drawing/2014/main" id="{855E67ED-2FAF-48AE-BCCF-DE07E3C0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" y="38100"/>
            <a:ext cx="14487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framework-title">
            <a:extLst xmlns:a="http://schemas.openxmlformats.org/drawingml/2006/main">
              <a:ext uri="{FF2B5EF4-FFF2-40B4-BE49-F238E27FC236}">
                <a16:creationId xmlns:a16="http://schemas.microsoft.com/office/drawing/2014/main" id="{2B8840D4-F77E-49C9-8E23-631607AD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85725"/>
            <a:ext cx="5981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025" b="1" i="0">
                <a:solidFill>
                  <a:srgbClr val="4545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454545"/>
                </a:solidFill>
                <a:latin typeface="Arial"/>
                <a:ea typeface="Arial"/>
                <a:cs typeface="Arial"/>
              </a:rPr>
              <a:t>RoboLab Benchmarking Framework</a:t>
            </a:r>
          </a:p>
        </p:txBody>
      </p:sp>
      <p:sp>
        <p:nvSpPr>
          <p:cNvPr id="3" name="analysis-title-bar">
            <a:extLst xmlns:a="http://schemas.openxmlformats.org/drawingml/2006/main">
              <a:ext uri="{FF2B5EF4-FFF2-40B4-BE49-F238E27FC236}">
                <a16:creationId xmlns:a16="http://schemas.microsoft.com/office/drawing/2014/main" id="{9F4A26A3-D99B-42B3-A161-CDFAA68B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" y="4543425"/>
            <a:ext cx="144875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analysis-title">
            <a:extLst xmlns:a="http://schemas.openxmlformats.org/drawingml/2006/main">
              <a:ext uri="{FF2B5EF4-FFF2-40B4-BE49-F238E27FC236}">
                <a16:creationId xmlns:a16="http://schemas.microsoft.com/office/drawing/2014/main" id="{5D661284-69B2-4912-85A8-3B683B84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4591050"/>
            <a:ext cx="476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75" b="1" i="0">
                <a:solidFill>
                  <a:srgbClr val="4545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 i="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454545"/>
                </a:solidFill>
                <a:latin typeface="Arial"/>
                <a:ea typeface="Arial"/>
                <a:cs typeface="Arial"/>
              </a:rPr>
              <a:t>Policy Performance Analysis</a:t>
            </a:r>
          </a:p>
        </p:txBody>
      </p:sp>
      <p:sp>
        <p:nvSpPr>
          <p:cNvPr id="5" name="top-panel-0">
            <a:extLst xmlns:a="http://schemas.openxmlformats.org/drawingml/2006/main">
              <a:ext uri="{FF2B5EF4-FFF2-40B4-BE49-F238E27FC236}">
                <a16:creationId xmlns:a16="http://schemas.microsoft.com/office/drawing/2014/main" id="{233D8123-56A7-4AF7-8C42-49703035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25" y="495300"/>
            <a:ext cx="3895725" cy="3943350"/>
          </a:xfrm>
          <a:prstGeom xmlns:a="http://schemas.openxmlformats.org/drawingml/2006/main" prst="roundRect">
            <a:avLst>
              <a:gd name="adj" fmla="val 19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top-title-0">
            <a:extLst xmlns:a="http://schemas.openxmlformats.org/drawingml/2006/main">
              <a:ext uri="{FF2B5EF4-FFF2-40B4-BE49-F238E27FC236}">
                <a16:creationId xmlns:a16="http://schemas.microsoft.com/office/drawing/2014/main" id="{62C026F7-0358-4B23-8E17-2C43B519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1175" y="5810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Scene Generation</a:t>
            </a:r>
          </a:p>
        </p:txBody>
      </p:sp>
      <p:sp>
        <p:nvSpPr>
          <p:cNvPr id="7" name="top-strip-0">
            <a:extLst xmlns:a="http://schemas.openxmlformats.org/drawingml/2006/main">
              <a:ext uri="{FF2B5EF4-FFF2-40B4-BE49-F238E27FC236}">
                <a16:creationId xmlns:a16="http://schemas.microsoft.com/office/drawing/2014/main" id="{7A3431DF-5A3B-4F8F-8BE3-8FC5D968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952500"/>
            <a:ext cx="3600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CEC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top-panel-1">
            <a:extLst xmlns:a="http://schemas.openxmlformats.org/drawingml/2006/main">
              <a:ext uri="{FF2B5EF4-FFF2-40B4-BE49-F238E27FC236}">
                <a16:creationId xmlns:a16="http://schemas.microsoft.com/office/drawing/2014/main" id="{C35ADB06-2ED4-4357-A87E-0C18A9EC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495300"/>
            <a:ext cx="461010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top-title-1">
            <a:extLst xmlns:a="http://schemas.openxmlformats.org/drawingml/2006/main">
              <a:ext uri="{FF2B5EF4-FFF2-40B4-BE49-F238E27FC236}">
                <a16:creationId xmlns:a16="http://schemas.microsoft.com/office/drawing/2014/main" id="{E0A01ED8-9F1A-4C40-B3CD-E984CB74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581025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 Generation</a:t>
            </a:r>
          </a:p>
        </p:txBody>
      </p:sp>
      <p:sp>
        <p:nvSpPr>
          <p:cNvPr id="10" name="top-strip-1">
            <a:extLst xmlns:a="http://schemas.openxmlformats.org/drawingml/2006/main">
              <a:ext uri="{FF2B5EF4-FFF2-40B4-BE49-F238E27FC236}">
                <a16:creationId xmlns:a16="http://schemas.microsoft.com/office/drawing/2014/main" id="{9DB148EE-1161-4060-A8A4-73B7EC70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2575" y="952500"/>
            <a:ext cx="43148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CEC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top-panel-2">
            <a:extLst xmlns:a="http://schemas.openxmlformats.org/drawingml/2006/main">
              <a:ext uri="{FF2B5EF4-FFF2-40B4-BE49-F238E27FC236}">
                <a16:creationId xmlns:a16="http://schemas.microsoft.com/office/drawing/2014/main" id="{5105605D-3526-42AB-B262-4838FBCC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3625" y="495300"/>
            <a:ext cx="4600575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" name="top-title-2">
            <a:extLst xmlns:a="http://schemas.openxmlformats.org/drawingml/2006/main">
              <a:ext uri="{FF2B5EF4-FFF2-40B4-BE49-F238E27FC236}">
                <a16:creationId xmlns:a16="http://schemas.microsoft.com/office/drawing/2014/main" id="{5F24F7CA-DCBC-4A86-A473-F7A01315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44125" y="581025"/>
            <a:ext cx="4219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Environment Generation</a:t>
            </a:r>
          </a:p>
        </p:txBody>
      </p:sp>
      <p:sp>
        <p:nvSpPr>
          <p:cNvPr id="13" name="top-strip-2">
            <a:extLst xmlns:a="http://schemas.openxmlformats.org/drawingml/2006/main">
              <a:ext uri="{FF2B5EF4-FFF2-40B4-BE49-F238E27FC236}">
                <a16:creationId xmlns:a16="http://schemas.microsoft.com/office/drawing/2014/main" id="{A36157A9-AC88-437E-8F11-041971C2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952500"/>
            <a:ext cx="4305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CEC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" name="bottom-panel-0">
            <a:extLst xmlns:a="http://schemas.openxmlformats.org/drawingml/2006/main">
              <a:ext uri="{FF2B5EF4-FFF2-40B4-BE49-F238E27FC236}">
                <a16:creationId xmlns:a16="http://schemas.microsoft.com/office/drawing/2014/main" id="{2C7DB753-F791-4ACC-A90A-00AB9EB9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" y="5029200"/>
            <a:ext cx="243840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5" name="bottom-title-0">
            <a:extLst xmlns:a="http://schemas.openxmlformats.org/drawingml/2006/main">
              <a:ext uri="{FF2B5EF4-FFF2-40B4-BE49-F238E27FC236}">
                <a16:creationId xmlns:a16="http://schemas.microsoft.com/office/drawing/2014/main" id="{9D409455-11E4-4861-8468-DD9E7EB3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" y="50768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025" b="0" i="0">
                <a:solidFill>
                  <a:srgbClr val="4E4E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0" i="0">
                <a:solidFill>
                  <a:srgbClr val="4E4E4E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4E4E4E"/>
                </a:solidFill>
                <a:latin typeface="Arial"/>
                <a:ea typeface="Arial"/>
                <a:cs typeface="Arial"/>
              </a:rPr>
              <a:t>Multiple Eval Axes</a:t>
            </a:r>
          </a:p>
        </p:txBody>
      </p:sp>
      <p:sp>
        <p:nvSpPr>
          <p:cNvPr id="16" name="bottom-panel-1">
            <a:extLst xmlns:a="http://schemas.openxmlformats.org/drawingml/2006/main">
              <a:ext uri="{FF2B5EF4-FFF2-40B4-BE49-F238E27FC236}">
                <a16:creationId xmlns:a16="http://schemas.microsoft.com/office/drawing/2014/main" id="{C3A26686-5F9E-400E-86DE-27FE6DC7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5029200"/>
            <a:ext cx="613410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7" name="bottom-title-1">
            <a:extLst xmlns:a="http://schemas.openxmlformats.org/drawingml/2006/main">
              <a:ext uri="{FF2B5EF4-FFF2-40B4-BE49-F238E27FC236}">
                <a16:creationId xmlns:a16="http://schemas.microsoft.com/office/drawing/2014/main" id="{04574912-3CAE-4AEF-BE93-2429E80C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52725" y="5076825"/>
            <a:ext cx="596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025" b="0" i="0">
                <a:solidFill>
                  <a:srgbClr val="4E4E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0" i="0">
                <a:solidFill>
                  <a:srgbClr val="4E4E4E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4E4E4E"/>
                </a:solidFill>
                <a:latin typeface="Arial"/>
                <a:ea typeface="Arial"/>
                <a:cs typeface="Arial"/>
              </a:rPr>
              <a:t>Metrics</a:t>
            </a:r>
          </a:p>
        </p:txBody>
      </p:sp>
      <p:sp>
        <p:nvSpPr>
          <p:cNvPr id="18" name="bottom-panel-2">
            <a:extLst xmlns:a="http://schemas.openxmlformats.org/drawingml/2006/main">
              <a:ext uri="{FF2B5EF4-FFF2-40B4-BE49-F238E27FC236}">
                <a16:creationId xmlns:a16="http://schemas.microsoft.com/office/drawing/2014/main" id="{C23A9D55-217D-41F1-A084-F301E07E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3975" y="5029200"/>
            <a:ext cx="203835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" name="bottom-title-2">
            <a:extLst xmlns:a="http://schemas.openxmlformats.org/drawingml/2006/main">
              <a:ext uri="{FF2B5EF4-FFF2-40B4-BE49-F238E27FC236}">
                <a16:creationId xmlns:a16="http://schemas.microsoft.com/office/drawing/2014/main" id="{289331AC-F26E-42E2-B1F4-90EED75D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0" y="5076825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025" b="0" i="0">
                <a:solidFill>
                  <a:srgbClr val="4E4E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0" i="0">
                <a:solidFill>
                  <a:srgbClr val="4E4E4E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4E4E4E"/>
                </a:solidFill>
                <a:latin typeface="Arial"/>
                <a:ea typeface="Arial"/>
                <a:cs typeface="Arial"/>
              </a:rPr>
              <a:t>Sensitivity</a:t>
            </a:r>
          </a:p>
          <a:p xmlns:a="http://schemas.openxmlformats.org/drawingml/2006/main">
            <a:pPr algn="ctr">
              <a:defRPr sz="2025" b="0" i="0">
                <a:solidFill>
                  <a:srgbClr val="4E4E4E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4E4E4E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20" name="bottom-panel-3">
            <a:extLst xmlns:a="http://schemas.openxmlformats.org/drawingml/2006/main">
              <a:ext uri="{FF2B5EF4-FFF2-40B4-BE49-F238E27FC236}">
                <a16:creationId xmlns:a16="http://schemas.microsoft.com/office/drawing/2014/main" id="{808D5F23-274C-451E-9E20-49AF1164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34725" y="5029200"/>
            <a:ext cx="340995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1" name="bottom-title-3">
            <a:extLst xmlns:a="http://schemas.openxmlformats.org/drawingml/2006/main">
              <a:ext uri="{FF2B5EF4-FFF2-40B4-BE49-F238E27FC236}">
                <a16:creationId xmlns:a16="http://schemas.microsoft.com/office/drawing/2014/main" id="{65C20CDF-A130-4CCB-A933-FC3192EA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50" y="50768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025" b="0" i="0">
                <a:solidFill>
                  <a:srgbClr val="4E4E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0" i="0">
                <a:solidFill>
                  <a:srgbClr val="4E4E4E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4E4E4E"/>
                </a:solidFill>
                <a:latin typeface="Arial"/>
                <a:ea typeface="Arial"/>
                <a:cs typeface="Arial"/>
              </a:rPr>
              <a:t>Real world correlation</a:t>
            </a: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C65841-55B4-433C-85DC-DFC82AA5AD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8789d099b4e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09700" y="1828800"/>
            <a:ext cx="1685925" cy="1257300"/>
          </a:xfrm>
          <a:prstGeom xmlns:a="http://schemas.openxmlformats.org/drawingml/2006/main" prst="rect">
            <a:avLst/>
          </a:prstGeom>
        </p:spPr>
      </p:pic>
      <p:sp>
        <p:nvSpPr>
          <p:cNvPr id="23" name="example-0">
            <a:extLst xmlns:a="http://schemas.openxmlformats.org/drawingml/2006/main">
              <a:ext uri="{FF2B5EF4-FFF2-40B4-BE49-F238E27FC236}">
                <a16:creationId xmlns:a16="http://schemas.microsoft.com/office/drawing/2014/main" id="{9C79B84F-08B7-46FC-BAE1-5F6416D8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1828800"/>
            <a:ext cx="16859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01C782-B92D-452C-923F-D46639B9EC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64646ec874c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71825" y="1857375"/>
            <a:ext cx="1743075" cy="1228725"/>
          </a:xfrm>
          <a:prstGeom xmlns:a="http://schemas.openxmlformats.org/drawingml/2006/main" prst="rect">
            <a:avLst/>
          </a:prstGeom>
        </p:spPr>
      </p:pic>
      <p:sp>
        <p:nvSpPr>
          <p:cNvPr id="25" name="example-1">
            <a:extLst xmlns:a="http://schemas.openxmlformats.org/drawingml/2006/main">
              <a:ext uri="{FF2B5EF4-FFF2-40B4-BE49-F238E27FC236}">
                <a16:creationId xmlns:a16="http://schemas.microsoft.com/office/drawing/2014/main" id="{8738388E-BA14-4C4B-B755-48B75F27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1825" y="1857375"/>
            <a:ext cx="17430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206261-4253-4FD7-91E6-AF430146C5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7597b9900644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09700" y="3171825"/>
            <a:ext cx="1685925" cy="1104900"/>
          </a:xfrm>
          <a:prstGeom xmlns:a="http://schemas.openxmlformats.org/drawingml/2006/main" prst="rect">
            <a:avLst/>
          </a:prstGeom>
        </p:spPr>
      </p:pic>
      <p:sp>
        <p:nvSpPr>
          <p:cNvPr id="27" name="example-2">
            <a:extLst xmlns:a="http://schemas.openxmlformats.org/drawingml/2006/main">
              <a:ext uri="{FF2B5EF4-FFF2-40B4-BE49-F238E27FC236}">
                <a16:creationId xmlns:a16="http://schemas.microsoft.com/office/drawing/2014/main" id="{BBF214F3-F930-41F4-86C5-65C972BD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3171825"/>
            <a:ext cx="16859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044E87-C9A5-48AA-8175-5D5256CF47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dc917e2524c2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1350" y="3171825"/>
            <a:ext cx="1733550" cy="1104900"/>
          </a:xfrm>
          <a:prstGeom xmlns:a="http://schemas.openxmlformats.org/drawingml/2006/main" prst="rect">
            <a:avLst/>
          </a:prstGeom>
        </p:spPr>
      </p:pic>
      <p:sp>
        <p:nvSpPr>
          <p:cNvPr id="29" name="example-3">
            <a:extLst xmlns:a="http://schemas.openxmlformats.org/drawingml/2006/main">
              <a:ext uri="{FF2B5EF4-FFF2-40B4-BE49-F238E27FC236}">
                <a16:creationId xmlns:a16="http://schemas.microsoft.com/office/drawing/2014/main" id="{436FB063-550F-4065-8FD7-6DA5EF1A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1350" y="3171825"/>
            <a:ext cx="17335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17A2A0-14E8-41E6-8C79-46A99F5218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a89f6305f406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1809750"/>
            <a:ext cx="2190750" cy="1085850"/>
          </a:xfrm>
          <a:prstGeom xmlns:a="http://schemas.openxmlformats.org/drawingml/2006/main" prst="rect">
            <a:avLst/>
          </a:prstGeom>
        </p:spPr>
      </p:pic>
      <p:sp>
        <p:nvSpPr>
          <p:cNvPr id="31" name="example-4">
            <a:extLst xmlns:a="http://schemas.openxmlformats.org/drawingml/2006/main">
              <a:ext uri="{FF2B5EF4-FFF2-40B4-BE49-F238E27FC236}">
                <a16:creationId xmlns:a16="http://schemas.microsoft.com/office/drawing/2014/main" id="{A9BCD6E9-BE53-48F2-97A3-587A4927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1809750"/>
            <a:ext cx="2190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961393-A8A9-4D69-80C0-FD0354957C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8bf5a2849417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2850" y="1809750"/>
            <a:ext cx="2181225" cy="1085850"/>
          </a:xfrm>
          <a:prstGeom xmlns:a="http://schemas.openxmlformats.org/drawingml/2006/main" prst="rect">
            <a:avLst/>
          </a:prstGeom>
        </p:spPr>
      </p:pic>
      <p:sp>
        <p:nvSpPr>
          <p:cNvPr id="33" name="example-5">
            <a:extLst xmlns:a="http://schemas.openxmlformats.org/drawingml/2006/main">
              <a:ext uri="{FF2B5EF4-FFF2-40B4-BE49-F238E27FC236}">
                <a16:creationId xmlns:a16="http://schemas.microsoft.com/office/drawing/2014/main" id="{556265A6-B443-4A0C-A955-1EAA198C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1809750"/>
            <a:ext cx="21812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7F809C-3B51-495B-8759-E087A39237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672c052b34e0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3086100"/>
            <a:ext cx="2190750" cy="1171575"/>
          </a:xfrm>
          <a:prstGeom xmlns:a="http://schemas.openxmlformats.org/drawingml/2006/main" prst="rect">
            <a:avLst/>
          </a:prstGeom>
        </p:spPr>
      </p:pic>
      <p:sp>
        <p:nvSpPr>
          <p:cNvPr id="35" name="example-6">
            <a:extLst xmlns:a="http://schemas.openxmlformats.org/drawingml/2006/main">
              <a:ext uri="{FF2B5EF4-FFF2-40B4-BE49-F238E27FC236}">
                <a16:creationId xmlns:a16="http://schemas.microsoft.com/office/drawing/2014/main" id="{435A9723-DCAC-4830-9CD9-9306528C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3086100"/>
            <a:ext cx="21907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A5B177-05BC-4CD5-998B-9921662308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55acaf17746d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2850" y="3086100"/>
            <a:ext cx="2181225" cy="1171575"/>
          </a:xfrm>
          <a:prstGeom xmlns:a="http://schemas.openxmlformats.org/drawingml/2006/main" prst="rect">
            <a:avLst/>
          </a:prstGeom>
        </p:spPr>
      </p:pic>
      <p:sp>
        <p:nvSpPr>
          <p:cNvPr id="37" name="example-7">
            <a:extLst xmlns:a="http://schemas.openxmlformats.org/drawingml/2006/main">
              <a:ext uri="{FF2B5EF4-FFF2-40B4-BE49-F238E27FC236}">
                <a16:creationId xmlns:a16="http://schemas.microsoft.com/office/drawing/2014/main" id="{36A42CAD-5106-4C6E-8196-B881822C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3086100"/>
            <a:ext cx="21812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B560BB-B819-4A29-86CD-E72F561EA0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d00555c873445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96500" y="1809750"/>
            <a:ext cx="2124075" cy="1171575"/>
          </a:xfrm>
          <a:prstGeom xmlns:a="http://schemas.openxmlformats.org/drawingml/2006/main" prst="rect">
            <a:avLst/>
          </a:prstGeom>
        </p:spPr>
      </p:pic>
      <p:sp>
        <p:nvSpPr>
          <p:cNvPr id="39" name="example-8">
            <a:extLst xmlns:a="http://schemas.openxmlformats.org/drawingml/2006/main">
              <a:ext uri="{FF2B5EF4-FFF2-40B4-BE49-F238E27FC236}">
                <a16:creationId xmlns:a16="http://schemas.microsoft.com/office/drawing/2014/main" id="{DBE6B50C-A707-409C-9B7C-F5EB71FC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1809750"/>
            <a:ext cx="21240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56D0F6-1D9C-4497-A9A9-11CD5CD063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41395086c4f4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34875" y="1809750"/>
            <a:ext cx="2057400" cy="1171575"/>
          </a:xfrm>
          <a:prstGeom xmlns:a="http://schemas.openxmlformats.org/drawingml/2006/main" prst="rect">
            <a:avLst/>
          </a:prstGeom>
        </p:spPr>
      </p:pic>
      <p:sp>
        <p:nvSpPr>
          <p:cNvPr id="41" name="example-9">
            <a:extLst xmlns:a="http://schemas.openxmlformats.org/drawingml/2006/main">
              <a:ext uri="{FF2B5EF4-FFF2-40B4-BE49-F238E27FC236}">
                <a16:creationId xmlns:a16="http://schemas.microsoft.com/office/drawing/2014/main" id="{AD2467D9-52C9-4952-BD7A-01EC462B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34875" y="1809750"/>
            <a:ext cx="20574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E1E435-D270-48DE-B500-9C8E378576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f95579f5f417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96500" y="3086100"/>
            <a:ext cx="2124075" cy="1171575"/>
          </a:xfrm>
          <a:prstGeom xmlns:a="http://schemas.openxmlformats.org/drawingml/2006/main" prst="rect">
            <a:avLst/>
          </a:prstGeom>
        </p:spPr>
      </p:pic>
      <p:sp>
        <p:nvSpPr>
          <p:cNvPr id="43" name="example-10">
            <a:extLst xmlns:a="http://schemas.openxmlformats.org/drawingml/2006/main">
              <a:ext uri="{FF2B5EF4-FFF2-40B4-BE49-F238E27FC236}">
                <a16:creationId xmlns:a16="http://schemas.microsoft.com/office/drawing/2014/main" id="{1FBCD3F8-F8AC-4D84-BCB7-410AE727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3086100"/>
            <a:ext cx="21240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318382-2C62-4560-9BB6-CEAF4E1DBB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991c2ada145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34875" y="3086100"/>
            <a:ext cx="2057400" cy="1171575"/>
          </a:xfrm>
          <a:prstGeom xmlns:a="http://schemas.openxmlformats.org/drawingml/2006/main" prst="rect">
            <a:avLst/>
          </a:prstGeom>
        </p:spPr>
      </p:pic>
      <p:sp>
        <p:nvSpPr>
          <p:cNvPr id="45" name="example-11">
            <a:extLst xmlns:a="http://schemas.openxmlformats.org/drawingml/2006/main">
              <a:ext uri="{FF2B5EF4-FFF2-40B4-BE49-F238E27FC236}">
                <a16:creationId xmlns:a16="http://schemas.microsoft.com/office/drawing/2014/main" id="{DBE1AEDB-3114-4188-863A-F078AFBB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34875" y="3086100"/>
            <a:ext cx="20574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617ED6-4DCE-4FD2-83F2-796D9CA687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31a16cb599446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87125" y="5486400"/>
            <a:ext cx="1390650" cy="1371600"/>
          </a:xfrm>
          <a:prstGeom xmlns:a="http://schemas.openxmlformats.org/drawingml/2006/main" prst="rect">
            <a:avLst/>
          </a:prstGeom>
        </p:spPr>
      </p:pic>
      <p:sp>
        <p:nvSpPr>
          <p:cNvPr id="47" name="example-12">
            <a:extLst xmlns:a="http://schemas.openxmlformats.org/drawingml/2006/main">
              <a:ext uri="{FF2B5EF4-FFF2-40B4-BE49-F238E27FC236}">
                <a16:creationId xmlns:a16="http://schemas.microsoft.com/office/drawing/2014/main" id="{0D45AE87-0BF4-4374-9AD7-54B920A0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7125" y="5486400"/>
            <a:ext cx="1390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7A6C23-399F-41CD-AE78-4A3C257000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7e21ec7b94d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09700" y="1019175"/>
            <a:ext cx="3048000" cy="628650"/>
          </a:xfrm>
          <a:prstGeom xmlns:a="http://schemas.openxmlformats.org/drawingml/2006/main" prst="rect">
            <a:avLst/>
          </a:prstGeom>
        </p:spPr>
      </p:pic>
      <p:sp>
        <p:nvSpPr>
          <p:cNvPr id="49" name="example-13">
            <a:extLst xmlns:a="http://schemas.openxmlformats.org/drawingml/2006/main">
              <a:ext uri="{FF2B5EF4-FFF2-40B4-BE49-F238E27FC236}">
                <a16:creationId xmlns:a16="http://schemas.microsoft.com/office/drawing/2014/main" id="{63907270-72A2-4CC1-AD3A-2EE66B1B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1019175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8E4A3E-E618-47C3-BA29-CC6FA72EAC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09337e46cc424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9800" y="1000125"/>
            <a:ext cx="1047750" cy="657225"/>
          </a:xfrm>
          <a:prstGeom xmlns:a="http://schemas.openxmlformats.org/drawingml/2006/main" prst="rect">
            <a:avLst/>
          </a:prstGeom>
        </p:spPr>
      </p:pic>
      <p:sp>
        <p:nvSpPr>
          <p:cNvPr id="51" name="example-14">
            <a:extLst xmlns:a="http://schemas.openxmlformats.org/drawingml/2006/main">
              <a:ext uri="{FF2B5EF4-FFF2-40B4-BE49-F238E27FC236}">
                <a16:creationId xmlns:a16="http://schemas.microsoft.com/office/drawing/2014/main" id="{F83DB03E-ED4E-41DA-B63E-5B54794E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1000125"/>
            <a:ext cx="1047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6B68743-D61D-4D4D-855D-992A08DB59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ef612a099497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9850" y="990600"/>
            <a:ext cx="4152900" cy="676275"/>
          </a:xfrm>
          <a:prstGeom xmlns:a="http://schemas.openxmlformats.org/drawingml/2006/main" prst="rect">
            <a:avLst/>
          </a:prstGeom>
        </p:spPr>
      </p:pic>
      <p:sp>
        <p:nvSpPr>
          <p:cNvPr id="53" name="example-15">
            <a:extLst xmlns:a="http://schemas.openxmlformats.org/drawingml/2006/main">
              <a:ext uri="{FF2B5EF4-FFF2-40B4-BE49-F238E27FC236}">
                <a16:creationId xmlns:a16="http://schemas.microsoft.com/office/drawing/2014/main" id="{B7029977-092A-44C7-93AB-E04AB197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9850" y="990600"/>
            <a:ext cx="41529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0C6EC44-3004-4B53-84B2-48AD78FF4E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62b21c2fc845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05275" y="561975"/>
            <a:ext cx="647700" cy="342900"/>
          </a:xfrm>
          <a:prstGeom xmlns:a="http://schemas.openxmlformats.org/drawingml/2006/main" prst="rect">
            <a:avLst/>
          </a:prstGeom>
        </p:spPr>
      </p:pic>
      <p:sp>
        <p:nvSpPr>
          <p:cNvPr id="55" name="example-16">
            <a:extLst xmlns:a="http://schemas.openxmlformats.org/drawingml/2006/main">
              <a:ext uri="{FF2B5EF4-FFF2-40B4-BE49-F238E27FC236}">
                <a16:creationId xmlns:a16="http://schemas.microsoft.com/office/drawing/2014/main" id="{BE4ED6E5-EE7E-4832-8291-1DA3D747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5275" y="561975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17EAC6E-2CAF-44A3-81FD-D6C3F33939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764ffebba45f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10575" y="561975"/>
            <a:ext cx="638175" cy="342900"/>
          </a:xfrm>
          <a:prstGeom xmlns:a="http://schemas.openxmlformats.org/drawingml/2006/main" prst="rect">
            <a:avLst/>
          </a:prstGeom>
        </p:spPr>
      </p:pic>
      <p:sp>
        <p:nvSpPr>
          <p:cNvPr id="57" name="example-17">
            <a:extLst xmlns:a="http://schemas.openxmlformats.org/drawingml/2006/main">
              <a:ext uri="{FF2B5EF4-FFF2-40B4-BE49-F238E27FC236}">
                <a16:creationId xmlns:a16="http://schemas.microsoft.com/office/drawing/2014/main" id="{C113E86C-A93E-4A58-988B-72462307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0575" y="561975"/>
            <a:ext cx="638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task-quote-white">
            <a:extLst xmlns:a="http://schemas.openxmlformats.org/drawingml/2006/main">
              <a:ext uri="{FF2B5EF4-FFF2-40B4-BE49-F238E27FC236}">
                <a16:creationId xmlns:a16="http://schemas.microsoft.com/office/drawing/2014/main" id="{7E71CC82-150E-4612-B637-A4BD7F2E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2867025"/>
            <a:ext cx="2695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9" name="task-quote">
            <a:extLst xmlns:a="http://schemas.openxmlformats.org/drawingml/2006/main">
              <a:ext uri="{FF2B5EF4-FFF2-40B4-BE49-F238E27FC236}">
                <a16:creationId xmlns:a16="http://schemas.microsoft.com/office/drawing/2014/main" id="{AC2B40CE-5835-4AE1-90A8-49ECDCFD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2876550"/>
            <a:ext cx="2695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“Put the __ in the blue bin”</a:t>
            </a:r>
          </a:p>
        </p:txBody>
      </p:sp>
      <p:sp>
        <p:nvSpPr>
          <p:cNvPr id="60" name="language">
            <a:extLst xmlns:a="http://schemas.openxmlformats.org/drawingml/2006/main">
              <a:ext uri="{FF2B5EF4-FFF2-40B4-BE49-F238E27FC236}">
                <a16:creationId xmlns:a16="http://schemas.microsoft.com/office/drawing/2014/main" id="{0B0EF6D0-350D-4BE8-9BF5-DBC51A6B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0475" y="1057275"/>
            <a:ext cx="15335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Language</a:t>
            </a:r>
          </a:p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instruction</a:t>
            </a:r>
          </a:p>
        </p:txBody>
      </p:sp>
      <p:sp>
        <p:nvSpPr>
          <p:cNvPr id="61" name="task-plus">
            <a:extLst xmlns:a="http://schemas.openxmlformats.org/drawingml/2006/main">
              <a:ext uri="{FF2B5EF4-FFF2-40B4-BE49-F238E27FC236}">
                <a16:creationId xmlns:a16="http://schemas.microsoft.com/office/drawing/2014/main" id="{896EFFB8-6488-48C9-A45D-8D6C8314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1066800"/>
            <a:ext cx="5143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62" name="policy-title">
            <a:extLst xmlns:a="http://schemas.openxmlformats.org/drawingml/2006/main">
              <a:ext uri="{FF2B5EF4-FFF2-40B4-BE49-F238E27FC236}">
                <a16:creationId xmlns:a16="http://schemas.microsoft.com/office/drawing/2014/main" id="{CFC44E4F-20DD-4D9E-8671-B4FC37D5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600075"/>
            <a:ext cx="81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63" name="policy-0">
            <a:extLst xmlns:a="http://schemas.openxmlformats.org/drawingml/2006/main">
              <a:ext uri="{FF2B5EF4-FFF2-40B4-BE49-F238E27FC236}">
                <a16:creationId xmlns:a16="http://schemas.microsoft.com/office/drawing/2014/main" id="{C09D4E1F-F769-401A-A31E-54475984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" y="1104900"/>
            <a:ext cx="485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6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6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π₁</a:t>
            </a:r>
          </a:p>
        </p:txBody>
      </p:sp>
      <p:sp>
        <p:nvSpPr>
          <p:cNvPr id="64" name="policy-1">
            <a:extLst xmlns:a="http://schemas.openxmlformats.org/drawingml/2006/main">
              <a:ext uri="{FF2B5EF4-FFF2-40B4-BE49-F238E27FC236}">
                <a16:creationId xmlns:a16="http://schemas.microsoft.com/office/drawing/2014/main" id="{C9D0FFD2-401C-48DF-AF90-95E5626C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" y="1676400"/>
            <a:ext cx="485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6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6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π₂</a:t>
            </a:r>
          </a:p>
        </p:txBody>
      </p:sp>
      <p:sp>
        <p:nvSpPr>
          <p:cNvPr id="65" name="policy-2">
            <a:extLst xmlns:a="http://schemas.openxmlformats.org/drawingml/2006/main">
              <a:ext uri="{FF2B5EF4-FFF2-40B4-BE49-F238E27FC236}">
                <a16:creationId xmlns:a16="http://schemas.microsoft.com/office/drawing/2014/main" id="{972FBC7C-9E7B-4076-AFFA-DF6DFC02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" y="2143125"/>
            <a:ext cx="485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6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6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⋮</a:t>
            </a:r>
          </a:p>
        </p:txBody>
      </p:sp>
      <p:sp>
        <p:nvSpPr>
          <p:cNvPr id="66" name="policy-brace">
            <a:extLst xmlns:a="http://schemas.openxmlformats.org/drawingml/2006/main">
              <a:ext uri="{FF2B5EF4-FFF2-40B4-BE49-F238E27FC236}">
                <a16:creationId xmlns:a16="http://schemas.microsoft.com/office/drawing/2014/main" id="{CB14D654-60E5-4C1E-86B1-D0170948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1295400"/>
            <a:ext cx="200025" cy="1609725"/>
          </a:xfrm>
          <a:custGeom xmlns:a="http://schemas.openxmlformats.org/drawingml/2006/main">
            <a:pathLst>
              <a:path w="200025" h="1609725">
                <a:moveTo>
                  <a:pt x="0" y="0"/>
                </a:moveTo>
                <a:lnTo>
                  <a:pt x="104775" y="47625"/>
                </a:lnTo>
                <a:lnTo>
                  <a:pt x="104775" y="704850"/>
                </a:lnTo>
                <a:lnTo>
                  <a:pt x="200025" y="790575"/>
                </a:lnTo>
                <a:lnTo>
                  <a:pt x="104775" y="885825"/>
                </a:lnTo>
                <a:lnTo>
                  <a:pt x="104775" y="1533525"/>
                </a:lnTo>
                <a:lnTo>
                  <a:pt x="9525" y="1609725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67" name="legend-box">
            <a:extLst xmlns:a="http://schemas.openxmlformats.org/drawingml/2006/main">
              <a:ext uri="{FF2B5EF4-FFF2-40B4-BE49-F238E27FC236}">
                <a16:creationId xmlns:a16="http://schemas.microsoft.com/office/drawing/2014/main" id="{E8C93459-2EBB-4798-B7A5-A2F67256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" y="3562350"/>
            <a:ext cx="9620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CEC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pic>
        <p:nvPic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5178FB1-AC8C-4660-A5B1-E28EF395AB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aaffd62474474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1450" y="3629025"/>
            <a:ext cx="333375" cy="590550"/>
          </a:xfrm>
          <a:prstGeom xmlns:a="http://schemas.openxmlformats.org/drawingml/2006/main" prst="rect">
            <a:avLst/>
          </a:prstGeom>
        </p:spPr>
      </p:pic>
      <p:sp>
        <p:nvSpPr>
          <p:cNvPr id="69" name="legend-icons">
            <a:extLst xmlns:a="http://schemas.openxmlformats.org/drawingml/2006/main">
              <a:ext uri="{FF2B5EF4-FFF2-40B4-BE49-F238E27FC236}">
                <a16:creationId xmlns:a16="http://schemas.microsoft.com/office/drawing/2014/main" id="{4D6DED57-6071-4AC9-9676-111CEAA6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" y="3629025"/>
            <a:ext cx="333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legend-labels">
            <a:extLst xmlns:a="http://schemas.openxmlformats.org/drawingml/2006/main">
              <a:ext uri="{FF2B5EF4-FFF2-40B4-BE49-F238E27FC236}">
                <a16:creationId xmlns:a16="http://schemas.microsoft.com/office/drawing/2014/main" id="{0E292EEB-6609-433D-ADB7-2A28AE83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657600"/>
            <a:ext cx="485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0" i="0">
                <a:solidFill>
                  <a:srgbClr val="4D4D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D4D4D"/>
                </a:solidFill>
                <a:latin typeface="Arial"/>
                <a:ea typeface="Arial"/>
                <a:cs typeface="Arial"/>
              </a:rPr>
              <a:t>user</a:t>
            </a:r>
          </a:p>
          <a:p xmlns:a="http://schemas.openxmlformats.org/drawingml/2006/main">
            <a:pPr algn="l">
              <a:defRPr sz="1425" b="0" i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D4D4D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71" name="axis-row-0">
            <a:extLst xmlns:a="http://schemas.openxmlformats.org/drawingml/2006/main">
              <a:ext uri="{FF2B5EF4-FFF2-40B4-BE49-F238E27FC236}">
                <a16:creationId xmlns:a16="http://schemas.microsoft.com/office/drawing/2014/main" id="{AAA2D467-05AE-4E68-94FE-87D03A0B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" y="5410200"/>
            <a:ext cx="2028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2" name="axis-label-0">
            <a:extLst xmlns:a="http://schemas.openxmlformats.org/drawingml/2006/main">
              <a:ext uri="{FF2B5EF4-FFF2-40B4-BE49-F238E27FC236}">
                <a16:creationId xmlns:a16="http://schemas.microsoft.com/office/drawing/2014/main" id="{759F3695-A9D5-49B8-AA4A-39D569FA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" y="54292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5" b="0" i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Competency Categories</a:t>
            </a:r>
          </a:p>
        </p:txBody>
      </p:sp>
      <p:sp>
        <p:nvSpPr>
          <p:cNvPr id="73" name="axis-row-1">
            <a:extLst xmlns:a="http://schemas.openxmlformats.org/drawingml/2006/main">
              <a:ext uri="{FF2B5EF4-FFF2-40B4-BE49-F238E27FC236}">
                <a16:creationId xmlns:a16="http://schemas.microsoft.com/office/drawing/2014/main" id="{DBDADB4B-48F2-4DE7-9FA1-CDC6D05F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" y="5705475"/>
            <a:ext cx="2028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4" name="axis-label-1">
            <a:extLst xmlns:a="http://schemas.openxmlformats.org/drawingml/2006/main">
              <a:ext uri="{FF2B5EF4-FFF2-40B4-BE49-F238E27FC236}">
                <a16:creationId xmlns:a16="http://schemas.microsoft.com/office/drawing/2014/main" id="{8E914E11-B980-405F-968A-C9F20CF7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" y="57245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5" b="0" i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55555"/>
                </a:solidFill>
                <a:latin typeface="Arial"/>
                <a:ea typeface="Arial"/>
                <a:cs typeface="Arial"/>
              </a:rPr>
              <a:t>Task Difficulty</a:t>
            </a:r>
          </a:p>
        </p:txBody>
      </p:sp>
      <p:sp>
        <p:nvSpPr>
          <p:cNvPr id="75" name="axis-row-2">
            <a:extLst xmlns:a="http://schemas.openxmlformats.org/drawingml/2006/main">
              <a:ext uri="{FF2B5EF4-FFF2-40B4-BE49-F238E27FC236}">
                <a16:creationId xmlns:a16="http://schemas.microsoft.com/office/drawing/2014/main" id="{BACC136D-EED4-49BD-9893-358CC1E8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" y="6000750"/>
            <a:ext cx="2028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6" name="axis-label-2">
            <a:extLst xmlns:a="http://schemas.openxmlformats.org/drawingml/2006/main">
              <a:ext uri="{FF2B5EF4-FFF2-40B4-BE49-F238E27FC236}">
                <a16:creationId xmlns:a16="http://schemas.microsoft.com/office/drawing/2014/main" id="{81EE3372-4FD3-4C09-BF07-0ACCC104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" y="60198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5" b="0" i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55555"/>
                </a:solidFill>
                <a:latin typeface="Arial"/>
                <a:ea typeface="Arial"/>
                <a:cs typeface="Arial"/>
              </a:rPr>
              <a:t>Language complexity</a:t>
            </a:r>
          </a:p>
        </p:txBody>
      </p:sp>
      <p:sp>
        <p:nvSpPr>
          <p:cNvPr id="77" name="axis-row-3">
            <a:extLst xmlns:a="http://schemas.openxmlformats.org/drawingml/2006/main">
              <a:ext uri="{FF2B5EF4-FFF2-40B4-BE49-F238E27FC236}">
                <a16:creationId xmlns:a16="http://schemas.microsoft.com/office/drawing/2014/main" id="{2C242FCA-42C8-4D9C-8B55-830F3A13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" y="6296025"/>
            <a:ext cx="2028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8" name="axis-label-3">
            <a:extLst xmlns:a="http://schemas.openxmlformats.org/drawingml/2006/main">
              <a:ext uri="{FF2B5EF4-FFF2-40B4-BE49-F238E27FC236}">
                <a16:creationId xmlns:a16="http://schemas.microsoft.com/office/drawing/2014/main" id="{5BE44457-A78B-47F6-9F02-07A82E41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" y="63150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5" b="0" i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55555"/>
                </a:solidFill>
                <a:latin typeface="Arial"/>
                <a:ea typeface="Arial"/>
                <a:cs typeface="Arial"/>
              </a:rPr>
              <a:t>Task horizon</a:t>
            </a:r>
          </a:p>
        </p:txBody>
      </p:sp>
      <p:sp>
        <p:nvSpPr>
          <p:cNvPr id="79" name="axis-row-4">
            <a:extLst xmlns:a="http://schemas.openxmlformats.org/drawingml/2006/main">
              <a:ext uri="{FF2B5EF4-FFF2-40B4-BE49-F238E27FC236}">
                <a16:creationId xmlns:a16="http://schemas.microsoft.com/office/drawing/2014/main" id="{24320A6E-5936-48E3-8853-EB11656E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" y="6591300"/>
            <a:ext cx="2028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0" name="axis-label-4">
            <a:extLst xmlns:a="http://schemas.openxmlformats.org/drawingml/2006/main">
              <a:ext uri="{FF2B5EF4-FFF2-40B4-BE49-F238E27FC236}">
                <a16:creationId xmlns:a16="http://schemas.microsoft.com/office/drawing/2014/main" id="{11E33E64-4DE2-48AA-B4A2-12FC96A0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" y="66103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5" b="0" i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55555"/>
                </a:solidFill>
                <a:latin typeface="Arial"/>
                <a:ea typeface="Arial"/>
                <a:cs typeface="Arial"/>
              </a:rPr>
              <a:t>Scene Complexity</a:t>
            </a:r>
          </a:p>
        </p:txBody>
      </p:sp>
      <p:sp>
        <p:nvSpPr>
          <p:cNvPr id="81" name="continuous-green">
            <a:extLst xmlns:a="http://schemas.openxmlformats.org/drawingml/2006/main">
              <a:ext uri="{FF2B5EF4-FFF2-40B4-BE49-F238E27FC236}">
                <a16:creationId xmlns:a16="http://schemas.microsoft.com/office/drawing/2014/main" id="{5861CD43-1E06-450B-9BA1-A98F6BF8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5125" y="5657850"/>
            <a:ext cx="1266825" cy="619125"/>
          </a:xfrm>
          <a:custGeom xmlns:a="http://schemas.openxmlformats.org/drawingml/2006/main">
            <a:pathLst>
              <a:path w="1266825" h="619125">
                <a:moveTo>
                  <a:pt x="0" y="619125"/>
                </a:moveTo>
                <a:cubicBezTo>
                  <a:pt x="685800" y="600075"/>
                  <a:pt x="781050" y="123825"/>
                  <a:pt x="126682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8AD39"/>
            </a:solidFill>
            <a:prstDash val="solid"/>
          </a:ln>
        </p:spPr>
      </p:sp>
      <p:sp>
        <p:nvSpPr>
          <p:cNvPr id="82" name="continuous-green-head">
            <a:extLst xmlns:a="http://schemas.openxmlformats.org/drawingml/2006/main">
              <a:ext uri="{FF2B5EF4-FFF2-40B4-BE49-F238E27FC236}">
                <a16:creationId xmlns:a16="http://schemas.microsoft.com/office/drawing/2014/main" id="{C4EA185A-9912-4407-8825-268DE800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9064" y="5639843"/>
            <a:ext cx="102886" cy="83069"/>
          </a:xfrm>
          <a:custGeom xmlns:a="http://schemas.openxmlformats.org/drawingml/2006/main">
            <a:pathLst>
              <a:path w="102886" h="83069">
                <a:moveTo>
                  <a:pt x="102886" y="18007"/>
                </a:moveTo>
                <a:lnTo>
                  <a:pt x="21174" y="8306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8AD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continuous-red">
            <a:extLst xmlns:a="http://schemas.openxmlformats.org/drawingml/2006/main">
              <a:ext uri="{FF2B5EF4-FFF2-40B4-BE49-F238E27FC236}">
                <a16:creationId xmlns:a16="http://schemas.microsoft.com/office/drawing/2014/main" id="{23FFEA84-1C1B-45D8-9AA3-B21A56F2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5838825"/>
            <a:ext cx="1285875" cy="447675"/>
          </a:xfrm>
          <a:custGeom xmlns:a="http://schemas.openxmlformats.org/drawingml/2006/main">
            <a:pathLst>
              <a:path w="1285875" h="447675">
                <a:moveTo>
                  <a:pt x="0" y="447675"/>
                </a:moveTo>
                <a:lnTo>
                  <a:pt x="371475" y="419100"/>
                </a:lnTo>
                <a:lnTo>
                  <a:pt x="752475" y="323850"/>
                </a:lnTo>
                <a:lnTo>
                  <a:pt x="752475" y="209550"/>
                </a:lnTo>
                <a:lnTo>
                  <a:pt x="895350" y="209550"/>
                </a:lnTo>
                <a:lnTo>
                  <a:pt x="838200" y="142875"/>
                </a:lnTo>
                <a:lnTo>
                  <a:pt x="1038225" y="95250"/>
                </a:lnTo>
                <a:lnTo>
                  <a:pt x="981075" y="47625"/>
                </a:lnTo>
                <a:lnTo>
                  <a:pt x="1285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E44930"/>
            </a:solidFill>
            <a:prstDash val="solid"/>
          </a:ln>
        </p:spPr>
      </p:sp>
      <p:sp>
        <p:nvSpPr>
          <p:cNvPr id="84" name="continuous-red-head">
            <a:extLst xmlns:a="http://schemas.openxmlformats.org/drawingml/2006/main">
              <a:ext uri="{FF2B5EF4-FFF2-40B4-BE49-F238E27FC236}">
                <a16:creationId xmlns:a16="http://schemas.microsoft.com/office/drawing/2014/main" id="{FA55D475-794F-4BF9-89BE-F397D97F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8850" y="5811181"/>
            <a:ext cx="100725" cy="84697"/>
          </a:xfrm>
          <a:custGeom xmlns:a="http://schemas.openxmlformats.org/drawingml/2006/main">
            <a:pathLst>
              <a:path w="100725" h="84697">
                <a:moveTo>
                  <a:pt x="100725" y="27644"/>
                </a:moveTo>
                <a:lnTo>
                  <a:pt x="13234" y="846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449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metric-ring-0">
            <a:extLst xmlns:a="http://schemas.openxmlformats.org/drawingml/2006/main">
              <a:ext uri="{FF2B5EF4-FFF2-40B4-BE49-F238E27FC236}">
                <a16:creationId xmlns:a16="http://schemas.microsoft.com/office/drawing/2014/main" id="{3C80D0D9-9CD7-409E-B232-79A12630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1850" y="585787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6B45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6" name="metric-sign-0">
            <a:extLst xmlns:a="http://schemas.openxmlformats.org/drawingml/2006/main">
              <a:ext uri="{FF2B5EF4-FFF2-40B4-BE49-F238E27FC236}">
                <a16:creationId xmlns:a16="http://schemas.microsoft.com/office/drawing/2014/main" id="{F763A148-9E65-4AD2-88AA-C8AB9212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1850" y="5848350"/>
            <a:ext cx="1619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0" i="0">
                <a:solidFill>
                  <a:srgbClr val="66B4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66B45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B45C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7" name="metric-ring-1">
            <a:extLst xmlns:a="http://schemas.openxmlformats.org/drawingml/2006/main">
              <a:ext uri="{FF2B5EF4-FFF2-40B4-BE49-F238E27FC236}">
                <a16:creationId xmlns:a16="http://schemas.microsoft.com/office/drawing/2014/main" id="{019076C6-F103-492F-9F50-EED39B41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8050" y="62484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E4B4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8" name="metric-sign-1">
            <a:extLst xmlns:a="http://schemas.openxmlformats.org/drawingml/2006/main">
              <a:ext uri="{FF2B5EF4-FFF2-40B4-BE49-F238E27FC236}">
                <a16:creationId xmlns:a16="http://schemas.microsoft.com/office/drawing/2014/main" id="{5929160E-0CD1-49AC-92B2-A86A1CFB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8050" y="6238875"/>
            <a:ext cx="1619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0" i="0">
                <a:solidFill>
                  <a:srgbClr val="DE4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DE4B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E4B43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89" name="metric-ring-2">
            <a:extLst xmlns:a="http://schemas.openxmlformats.org/drawingml/2006/main">
              <a:ext uri="{FF2B5EF4-FFF2-40B4-BE49-F238E27FC236}">
                <a16:creationId xmlns:a16="http://schemas.microsoft.com/office/drawing/2014/main" id="{32C4925D-D284-4DC2-B11D-2FD1D6A8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54292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5349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0" name="metric-sign-2">
            <a:extLst xmlns:a="http://schemas.openxmlformats.org/drawingml/2006/main">
              <a:ext uri="{FF2B5EF4-FFF2-40B4-BE49-F238E27FC236}">
                <a16:creationId xmlns:a16="http://schemas.microsoft.com/office/drawing/2014/main" id="{79DD126D-3B11-4CC0-96EC-6DFE747C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5419725"/>
            <a:ext cx="1619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0" i="0">
                <a:solidFill>
                  <a:srgbClr val="D653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D6534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65349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91" name="metric-ring-3">
            <a:extLst xmlns:a="http://schemas.openxmlformats.org/drawingml/2006/main">
              <a:ext uri="{FF2B5EF4-FFF2-40B4-BE49-F238E27FC236}">
                <a16:creationId xmlns:a16="http://schemas.microsoft.com/office/drawing/2014/main" id="{CB0C038B-6444-42A0-B40B-665AE8CC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572452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5349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2" name="metric-sign-3">
            <a:extLst xmlns:a="http://schemas.openxmlformats.org/drawingml/2006/main">
              <a:ext uri="{FF2B5EF4-FFF2-40B4-BE49-F238E27FC236}">
                <a16:creationId xmlns:a16="http://schemas.microsoft.com/office/drawing/2014/main" id="{C3581BF5-78C7-4F4C-8DB3-72D6BA65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5715000"/>
            <a:ext cx="1619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0" i="0">
                <a:solidFill>
                  <a:srgbClr val="D653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D6534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65349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93" name="metric-ring-4">
            <a:extLst xmlns:a="http://schemas.openxmlformats.org/drawingml/2006/main">
              <a:ext uri="{FF2B5EF4-FFF2-40B4-BE49-F238E27FC236}">
                <a16:creationId xmlns:a16="http://schemas.microsoft.com/office/drawing/2014/main" id="{887B8415-6237-4C84-9A33-333A0893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601027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5349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4" name="metric-sign-4">
            <a:extLst xmlns:a="http://schemas.openxmlformats.org/drawingml/2006/main">
              <a:ext uri="{FF2B5EF4-FFF2-40B4-BE49-F238E27FC236}">
                <a16:creationId xmlns:a16="http://schemas.microsoft.com/office/drawing/2014/main" id="{99C21057-AFD8-45F7-8E72-CCA912BD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6000750"/>
            <a:ext cx="1619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0" i="0">
                <a:solidFill>
                  <a:srgbClr val="D653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D6534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65349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95" name="metric-ring-5">
            <a:extLst xmlns:a="http://schemas.openxmlformats.org/drawingml/2006/main">
              <a:ext uri="{FF2B5EF4-FFF2-40B4-BE49-F238E27FC236}">
                <a16:creationId xmlns:a16="http://schemas.microsoft.com/office/drawing/2014/main" id="{75CA8702-B42D-4061-A2B0-8F723F86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63055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6B45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6" name="metric-sign-5">
            <a:extLst xmlns:a="http://schemas.openxmlformats.org/drawingml/2006/main">
              <a:ext uri="{FF2B5EF4-FFF2-40B4-BE49-F238E27FC236}">
                <a16:creationId xmlns:a16="http://schemas.microsoft.com/office/drawing/2014/main" id="{04BEBDFE-D113-45CC-BBA0-5A5E4B3C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6296025"/>
            <a:ext cx="1619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0" i="0">
                <a:solidFill>
                  <a:srgbClr val="66B4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66B45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B45C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7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49EA0FE0-BDD9-45EF-B35F-EC194CEB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8700" y="5438775"/>
            <a:ext cx="1828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Wrong obj grabbed</a:t>
            </a:r>
          </a:p>
        </p:txBody>
      </p:sp>
      <p:sp>
        <p:nvSpPr>
          <p:cNvPr id="98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D3396169-3655-4FF2-AA7D-D2772199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8700" y="5724525"/>
            <a:ext cx="1828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Gripper collision</a:t>
            </a:r>
          </a:p>
        </p:txBody>
      </p:sp>
      <p:sp>
        <p:nvSpPr>
          <p:cNvPr id="99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69FCD0B0-679E-4B1E-9A0F-0DC07065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8700" y="6010275"/>
            <a:ext cx="1828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Target obj dropped</a:t>
            </a:r>
          </a:p>
        </p:txBody>
      </p:sp>
      <p:sp>
        <p:nvSpPr>
          <p:cNvPr id="100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95D78D01-9491-4948-A7A0-641AD2A8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8700" y="6296025"/>
            <a:ext cx="1828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Target obj grabbed</a:t>
            </a:r>
          </a:p>
        </p:txBody>
      </p:sp>
      <p:sp>
        <p:nvSpPr>
          <p:cNvPr id="101" name="metric-divider">
            <a:extLst xmlns:a="http://schemas.openxmlformats.org/drawingml/2006/main">
              <a:ext uri="{FF2B5EF4-FFF2-40B4-BE49-F238E27FC236}">
                <a16:creationId xmlns:a16="http://schemas.microsoft.com/office/drawing/2014/main" id="{94C5351E-76F0-48AF-95A5-F1C4DCC1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5314950"/>
            <a:ext cx="95" cy="1495425"/>
          </a:xfrm>
          <a:custGeom xmlns:a="http://schemas.openxmlformats.org/drawingml/2006/main">
            <a:pathLst>
              <a:path w="95" h="1495425">
                <a:moveTo>
                  <a:pt x="0" y="0"/>
                </a:moveTo>
                <a:lnTo>
                  <a:pt x="0" y="14954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102" name="performance-divider">
            <a:extLst xmlns:a="http://schemas.openxmlformats.org/drawingml/2006/main">
              <a:ext uri="{FF2B5EF4-FFF2-40B4-BE49-F238E27FC236}">
                <a16:creationId xmlns:a16="http://schemas.microsoft.com/office/drawing/2014/main" id="{17CF8A6C-5DA4-4147-A255-1AEE061F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5314950"/>
            <a:ext cx="95" cy="1495425"/>
          </a:xfrm>
          <a:custGeom xmlns:a="http://schemas.openxmlformats.org/drawingml/2006/main">
            <a:pathLst>
              <a:path w="95" h="1495425">
                <a:moveTo>
                  <a:pt x="0" y="0"/>
                </a:moveTo>
                <a:lnTo>
                  <a:pt x="0" y="14954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103" name="continuous-title">
            <a:extLst xmlns:a="http://schemas.openxmlformats.org/drawingml/2006/main">
              <a:ext uri="{FF2B5EF4-FFF2-40B4-BE49-F238E27FC236}">
                <a16:creationId xmlns:a16="http://schemas.microsoft.com/office/drawing/2014/main" id="{F88C2DD0-0F05-4386-BAA1-0553F12D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65532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Continuous</a:t>
            </a:r>
          </a:p>
        </p:txBody>
      </p:sp>
      <p:sp>
        <p:nvSpPr>
          <p:cNvPr id="104" name="discrete-title">
            <a:extLst xmlns:a="http://schemas.openxmlformats.org/drawingml/2006/main">
              <a:ext uri="{FF2B5EF4-FFF2-40B4-BE49-F238E27FC236}">
                <a16:creationId xmlns:a16="http://schemas.microsoft.com/office/drawing/2014/main" id="{17D5486B-0E7E-43D3-9D9A-7A47C84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9675" y="655320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Discrete</a:t>
            </a:r>
          </a:p>
        </p:txBody>
      </p:sp>
      <p:sp>
        <p:nvSpPr>
          <p:cNvPr id="105" name="performance-title">
            <a:extLst xmlns:a="http://schemas.openxmlformats.org/drawingml/2006/main">
              <a:ext uri="{FF2B5EF4-FFF2-40B4-BE49-F238E27FC236}">
                <a16:creationId xmlns:a16="http://schemas.microsoft.com/office/drawing/2014/main" id="{ACF95F5C-5A66-478F-AF27-088FBAC9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6553200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Performance</a:t>
            </a:r>
          </a:p>
        </p:txBody>
      </p:sp>
      <p:pic>
        <p:nvPic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AB5A5CA-3627-4581-BAB4-D6056D0BF7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2429788c24e5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5238750"/>
            <a:ext cx="1857375" cy="1285875"/>
          </a:xfrm>
          <a:prstGeom xmlns:a="http://schemas.openxmlformats.org/drawingml/2006/main" prst="rect">
            <a:avLst/>
          </a:prstGeom>
        </p:spPr>
      </p:pic>
      <p:sp>
        <p:nvSpPr>
          <p:cNvPr id="107" name="performance-chart">
            <a:extLst xmlns:a="http://schemas.openxmlformats.org/drawingml/2006/main">
              <a:ext uri="{FF2B5EF4-FFF2-40B4-BE49-F238E27FC236}">
                <a16:creationId xmlns:a16="http://schemas.microsoft.com/office/drawing/2014/main" id="{14DF4DB9-22D7-48E2-9CAC-A09A9168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5238750"/>
            <a:ext cx="18573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" name="sensitivity-axis-x">
            <a:extLst xmlns:a="http://schemas.openxmlformats.org/drawingml/2006/main">
              <a:ext uri="{FF2B5EF4-FFF2-40B4-BE49-F238E27FC236}">
                <a16:creationId xmlns:a16="http://schemas.microsoft.com/office/drawing/2014/main" id="{FDDA16FB-6EC6-48B3-A85F-22277FC7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6686550"/>
            <a:ext cx="1276350" cy="95"/>
          </a:xfrm>
          <a:custGeom xmlns:a="http://schemas.openxmlformats.org/drawingml/2006/main">
            <a:pathLst>
              <a:path w="1276350" h="95">
                <a:moveTo>
                  <a:pt x="0" y="0"/>
                </a:moveTo>
                <a:lnTo>
                  <a:pt x="1276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109" name="sensitivity-axis-y">
            <a:extLst xmlns:a="http://schemas.openxmlformats.org/drawingml/2006/main">
              <a:ext uri="{FF2B5EF4-FFF2-40B4-BE49-F238E27FC236}">
                <a16:creationId xmlns:a16="http://schemas.microsoft.com/office/drawing/2014/main" id="{942F75CE-2E1F-4DF1-959E-D4913D21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8325" y="5657850"/>
            <a:ext cx="95" cy="1038225"/>
          </a:xfrm>
          <a:custGeom xmlns:a="http://schemas.openxmlformats.org/drawingml/2006/main">
            <a:pathLst>
              <a:path w="95" h="1038225">
                <a:moveTo>
                  <a:pt x="0" y="0"/>
                </a:moveTo>
                <a:lnTo>
                  <a:pt x="0" y="10382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110" name="theta">
            <a:extLst xmlns:a="http://schemas.openxmlformats.org/drawingml/2006/main">
              <a:ext uri="{FF2B5EF4-FFF2-40B4-BE49-F238E27FC236}">
                <a16:creationId xmlns:a16="http://schemas.microsoft.com/office/drawing/2014/main" id="{45CE0970-C46D-494A-9D38-F60FFD04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6724650"/>
            <a:ext cx="22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θ</a:t>
            </a:r>
          </a:p>
        </p:txBody>
      </p:sp>
      <p:sp>
        <p:nvSpPr>
          <p:cNvPr id="111" name="probability">
            <a:extLst xmlns:a="http://schemas.openxmlformats.org/drawingml/2006/main">
              <a:ext uri="{FF2B5EF4-FFF2-40B4-BE49-F238E27FC236}">
                <a16:creationId xmlns:a16="http://schemas.microsoft.com/office/drawing/2014/main" id="{22E899F6-9733-4B1C-A1E8-43F7F55C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8963025" y="6048375"/>
            <a:ext cx="790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p(θ | succ)</a:t>
            </a:r>
          </a:p>
        </p:txBody>
      </p:sp>
      <p:sp>
        <p:nvSpPr>
          <p:cNvPr id="112" name="benchmark-correlation">
            <a:extLst xmlns:a="http://schemas.openxmlformats.org/drawingml/2006/main">
              <a:ext uri="{FF2B5EF4-FFF2-40B4-BE49-F238E27FC236}">
                <a16:creationId xmlns:a16="http://schemas.microsoft.com/office/drawing/2014/main" id="{FFD36636-E9A9-4C6A-9D45-0E15C8CD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8750" y="5610225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Benchmark</a:t>
            </a:r>
          </a:p>
          <a:p xmlns:a="http://schemas.openxmlformats.org/drawingml/2006/main">
            <a:pPr algn="ctr">
              <a:defRPr sz="17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Correlation</a:t>
            </a:r>
          </a:p>
        </p:txBody>
      </p:sp>
      <p:sp>
        <p:nvSpPr>
          <p:cNvPr id="113" name="spearman">
            <a:extLst xmlns:a="http://schemas.openxmlformats.org/drawingml/2006/main">
              <a:ext uri="{FF2B5EF4-FFF2-40B4-BE49-F238E27FC236}">
                <a16:creationId xmlns:a16="http://schemas.microsoft.com/office/drawing/2014/main" id="{D01F69FB-EE7D-4E33-A868-8E8C85E6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9700" y="6191250"/>
            <a:ext cx="1657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Spearman ρ=1</a:t>
            </a:r>
          </a:p>
        </p:txBody>
      </p:sp>
      <p:sp>
        <p:nvSpPr>
          <p:cNvPr id="114" name="pearson">
            <a:extLst xmlns:a="http://schemas.openxmlformats.org/drawingml/2006/main">
              <a:ext uri="{FF2B5EF4-FFF2-40B4-BE49-F238E27FC236}">
                <a16:creationId xmlns:a16="http://schemas.microsoft.com/office/drawing/2014/main" id="{F8EEBDDF-EAD9-4A50-912C-EACCFECF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9700" y="6477000"/>
            <a:ext cx="1657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Pearson r=0.68</a:t>
            </a:r>
          </a:p>
        </p:txBody>
      </p:sp>
      <p:sp>
        <p:nvSpPr>
          <p:cNvPr id="115" name="policy-3-pi">
            <a:extLst xmlns:a="http://schemas.openxmlformats.org/drawingml/2006/main">
              <a:ext uri="{FF2B5EF4-FFF2-40B4-BE49-F238E27FC236}">
                <a16:creationId xmlns:a16="http://schemas.microsoft.com/office/drawing/2014/main" id="{03880F6E-7E8D-4A92-A1F1-E98B4A06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" y="2657475"/>
            <a:ext cx="295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6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6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π</a:t>
            </a:r>
          </a:p>
        </p:txBody>
      </p:sp>
      <p:sp>
        <p:nvSpPr>
          <p:cNvPr id="116" name="policy-3-N">
            <a:extLst xmlns:a="http://schemas.openxmlformats.org/drawingml/2006/main">
              <a:ext uri="{FF2B5EF4-FFF2-40B4-BE49-F238E27FC236}">
                <a16:creationId xmlns:a16="http://schemas.microsoft.com/office/drawing/2014/main" id="{D135043D-9838-462E-B675-16BC1AA3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" y="2819400"/>
            <a:ext cx="228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117" name="sensitivity-source-curve">
            <a:extLst xmlns:a="http://schemas.openxmlformats.org/drawingml/2006/main">
              <a:ext uri="{FF2B5EF4-FFF2-40B4-BE49-F238E27FC236}">
                <a16:creationId xmlns:a16="http://schemas.microsoft.com/office/drawing/2014/main" id="{7D3D1EE9-7BAF-459C-BED6-AEDA5E38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05950" y="5695950"/>
            <a:ext cx="1133475" cy="990600"/>
          </a:xfrm>
          <a:custGeom xmlns:a="http://schemas.openxmlformats.org/drawingml/2006/main">
            <a:pathLst>
              <a:path w="1133475" h="990600">
                <a:moveTo>
                  <a:pt x="0" y="990600"/>
                </a:moveTo>
                <a:lnTo>
                  <a:pt x="0" y="971550"/>
                </a:lnTo>
                <a:cubicBezTo>
                  <a:pt x="9525" y="971550"/>
                  <a:pt x="19050" y="971550"/>
                  <a:pt x="28575" y="971550"/>
                </a:cubicBezTo>
                <a:cubicBezTo>
                  <a:pt x="38100" y="971550"/>
                  <a:pt x="47625" y="961571"/>
                  <a:pt x="57150" y="952500"/>
                </a:cubicBezTo>
                <a:cubicBezTo>
                  <a:pt x="66675" y="943429"/>
                  <a:pt x="76200" y="926703"/>
                  <a:pt x="85725" y="904875"/>
                </a:cubicBezTo>
                <a:cubicBezTo>
                  <a:pt x="95250" y="883047"/>
                  <a:pt x="104775" y="840398"/>
                  <a:pt x="114300" y="800100"/>
                </a:cubicBezTo>
                <a:cubicBezTo>
                  <a:pt x="123825" y="759802"/>
                  <a:pt x="133350" y="703208"/>
                  <a:pt x="142875" y="657225"/>
                </a:cubicBezTo>
                <a:cubicBezTo>
                  <a:pt x="152400" y="611242"/>
                  <a:pt x="161925" y="556202"/>
                  <a:pt x="171450" y="523875"/>
                </a:cubicBezTo>
                <a:cubicBezTo>
                  <a:pt x="180975" y="491548"/>
                  <a:pt x="190500" y="461530"/>
                  <a:pt x="200025" y="447675"/>
                </a:cubicBezTo>
                <a:cubicBezTo>
                  <a:pt x="209550" y="433820"/>
                  <a:pt x="219075" y="419100"/>
                  <a:pt x="228600" y="419100"/>
                </a:cubicBezTo>
                <a:cubicBezTo>
                  <a:pt x="238125" y="419100"/>
                  <a:pt x="247650" y="425450"/>
                  <a:pt x="257175" y="428625"/>
                </a:cubicBezTo>
                <a:cubicBezTo>
                  <a:pt x="266700" y="431800"/>
                  <a:pt x="276225" y="438150"/>
                  <a:pt x="285750" y="438150"/>
                </a:cubicBezTo>
                <a:cubicBezTo>
                  <a:pt x="295275" y="438150"/>
                  <a:pt x="304800" y="438150"/>
                  <a:pt x="314325" y="438150"/>
                </a:cubicBezTo>
                <a:cubicBezTo>
                  <a:pt x="323850" y="438150"/>
                  <a:pt x="333375" y="423333"/>
                  <a:pt x="342900" y="419100"/>
                </a:cubicBezTo>
                <a:cubicBezTo>
                  <a:pt x="352425" y="414867"/>
                  <a:pt x="361950" y="413808"/>
                  <a:pt x="371475" y="409575"/>
                </a:cubicBezTo>
                <a:cubicBezTo>
                  <a:pt x="381000" y="405342"/>
                  <a:pt x="390525" y="390525"/>
                  <a:pt x="400050" y="390525"/>
                </a:cubicBezTo>
                <a:cubicBezTo>
                  <a:pt x="409575" y="390525"/>
                  <a:pt x="419100" y="390525"/>
                  <a:pt x="428625" y="390525"/>
                </a:cubicBezTo>
                <a:cubicBezTo>
                  <a:pt x="438150" y="390525"/>
                  <a:pt x="447675" y="385233"/>
                  <a:pt x="457200" y="381000"/>
                </a:cubicBezTo>
                <a:cubicBezTo>
                  <a:pt x="466725" y="376767"/>
                  <a:pt x="476250" y="368300"/>
                  <a:pt x="485775" y="361950"/>
                </a:cubicBezTo>
                <a:cubicBezTo>
                  <a:pt x="495300" y="355600"/>
                  <a:pt x="504825" y="347133"/>
                  <a:pt x="514350" y="342900"/>
                </a:cubicBezTo>
                <a:cubicBezTo>
                  <a:pt x="523875" y="338667"/>
                  <a:pt x="533400" y="337608"/>
                  <a:pt x="542925" y="333375"/>
                </a:cubicBezTo>
                <a:cubicBezTo>
                  <a:pt x="552450" y="329142"/>
                  <a:pt x="561975" y="322792"/>
                  <a:pt x="571500" y="314325"/>
                </a:cubicBezTo>
                <a:cubicBezTo>
                  <a:pt x="581025" y="305858"/>
                  <a:pt x="590550" y="288925"/>
                  <a:pt x="600075" y="276225"/>
                </a:cubicBezTo>
                <a:cubicBezTo>
                  <a:pt x="609600" y="263525"/>
                  <a:pt x="619125" y="246592"/>
                  <a:pt x="628650" y="238125"/>
                </a:cubicBezTo>
                <a:cubicBezTo>
                  <a:pt x="638175" y="229658"/>
                  <a:pt x="647700" y="219075"/>
                  <a:pt x="657225" y="219075"/>
                </a:cubicBezTo>
                <a:cubicBezTo>
                  <a:pt x="666750" y="219075"/>
                  <a:pt x="676275" y="219075"/>
                  <a:pt x="685800" y="219075"/>
                </a:cubicBezTo>
                <a:cubicBezTo>
                  <a:pt x="695325" y="219075"/>
                  <a:pt x="704850" y="201386"/>
                  <a:pt x="714375" y="190500"/>
                </a:cubicBezTo>
                <a:cubicBezTo>
                  <a:pt x="723900" y="179614"/>
                  <a:pt x="733425" y="163286"/>
                  <a:pt x="742950" y="152400"/>
                </a:cubicBezTo>
                <a:cubicBezTo>
                  <a:pt x="752475" y="141514"/>
                  <a:pt x="762000" y="128588"/>
                  <a:pt x="771525" y="123825"/>
                </a:cubicBezTo>
                <a:cubicBezTo>
                  <a:pt x="781050" y="119063"/>
                  <a:pt x="790575" y="114300"/>
                  <a:pt x="800100" y="114300"/>
                </a:cubicBezTo>
                <a:cubicBezTo>
                  <a:pt x="809625" y="114300"/>
                  <a:pt x="819150" y="114300"/>
                  <a:pt x="828675" y="114300"/>
                </a:cubicBezTo>
                <a:cubicBezTo>
                  <a:pt x="838200" y="114300"/>
                  <a:pt x="847725" y="91440"/>
                  <a:pt x="857250" y="76200"/>
                </a:cubicBezTo>
                <a:cubicBezTo>
                  <a:pt x="866775" y="60960"/>
                  <a:pt x="876300" y="28575"/>
                  <a:pt x="885825" y="19050"/>
                </a:cubicBezTo>
                <a:cubicBezTo>
                  <a:pt x="895350" y="9525"/>
                  <a:pt x="904875" y="0"/>
                  <a:pt x="914400" y="0"/>
                </a:cubicBezTo>
                <a:cubicBezTo>
                  <a:pt x="923925" y="0"/>
                  <a:pt x="933450" y="18676"/>
                  <a:pt x="942975" y="38100"/>
                </a:cubicBezTo>
                <a:cubicBezTo>
                  <a:pt x="952500" y="57524"/>
                  <a:pt x="962025" y="109185"/>
                  <a:pt x="971550" y="161925"/>
                </a:cubicBezTo>
                <a:cubicBezTo>
                  <a:pt x="981075" y="214665"/>
                  <a:pt x="990600" y="303504"/>
                  <a:pt x="1000125" y="381000"/>
                </a:cubicBezTo>
                <a:cubicBezTo>
                  <a:pt x="1009650" y="458496"/>
                  <a:pt x="1019175" y="554882"/>
                  <a:pt x="1028700" y="628650"/>
                </a:cubicBezTo>
                <a:cubicBezTo>
                  <a:pt x="1038225" y="702418"/>
                  <a:pt x="1047750" y="782836"/>
                  <a:pt x="1057275" y="828675"/>
                </a:cubicBezTo>
                <a:cubicBezTo>
                  <a:pt x="1066800" y="874514"/>
                  <a:pt x="1076325" y="914823"/>
                  <a:pt x="1085850" y="933450"/>
                </a:cubicBezTo>
                <a:cubicBezTo>
                  <a:pt x="1095375" y="952077"/>
                  <a:pt x="1104900" y="971550"/>
                  <a:pt x="1114425" y="971550"/>
                </a:cubicBezTo>
                <a:cubicBezTo>
                  <a:pt x="1120775" y="971550"/>
                  <a:pt x="1127125" y="971550"/>
                  <a:pt x="1133475" y="971550"/>
                </a:cubicBezTo>
                <a:lnTo>
                  <a:pt x="1133475" y="990600"/>
                </a:lnTo>
                <a:close/>
              </a:path>
            </a:pathLst>
          </a:custGeom>
          <a:solidFill xmlns:a="http://schemas.openxmlformats.org/drawingml/2006/main">
            <a:srgbClr val="A3BED9"/>
          </a:solidFill>
          <a:ln xmlns:a="http://schemas.openxmlformats.org/drawingml/2006/main" w="12383">
            <a:solidFill>
              <a:srgbClr val="789CC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232286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2026-10-09T21:43:03.1210000Z</dcterms:created>
  <dcterms:modified xsi:type="dcterms:W3CDTF">2026-10-09T21:43:03.1210000Z</dcterms:modified>
</coreProperties>
</file>