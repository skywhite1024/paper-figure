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d8205a15545ee" /><Relationship Type="http://schemas.openxmlformats.org/officeDocument/2006/relationships/extended-properties" Target="/docProps/app.xml" Id="R60e5987be29a437d" /><Relationship Type="http://schemas.openxmlformats.org/officeDocument/2006/relationships/officeDocument" Target="/ppt/presentation.xml" Id="Rc65f823cf2f6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ccbe10a0645ba"/>
  </p:sldMasterIdLst>
  <p:notesMasterIdLst>
    <p:notesMasterId xmlns:r="http://schemas.openxmlformats.org/officeDocument/2006/relationships" r:id="R6d7062d48572444c"/>
  </p:notesMasterIdLst>
  <p:sldIdLst>
    <p:sldId xmlns:r="http://schemas.openxmlformats.org/officeDocument/2006/relationships" id="256" r:id="R2bb1345c30a54924"/>
  </p:sldIdLst>
  <p:sldSz cx="11087100" cy="6515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6d0b2dcbd24e25" /><Relationship Type="http://schemas.openxmlformats.org/officeDocument/2006/relationships/slideMaster" Target="/ppt/slideMasters/slideMaster1.xml" Id="R11fccbe10a0645ba" /><Relationship Type="http://schemas.openxmlformats.org/officeDocument/2006/relationships/notesMaster" Target="/ppt/notesMasters/notesMaster1.xml" Id="R6d7062d48572444c" /><Relationship Type="http://schemas.openxmlformats.org/officeDocument/2006/relationships/presProps" Target="/ppt/presProps.xml" Id="R6640147694c44f4a" /><Relationship Type="http://schemas.openxmlformats.org/officeDocument/2006/relationships/tableStyles" Target="/ppt/tableStyles.xml" Id="Ra913bd1341074141" /><Relationship Type="http://schemas.openxmlformats.org/officeDocument/2006/relationships/slide" Target="/ppt/slides/slide1.xml" Id="R2bb1345c30a5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2a4656d54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18570a9e7468f" /><Relationship Type="http://schemas.openxmlformats.org/officeDocument/2006/relationships/notesMaster" Target="/ppt/notesMasters/notesMaster1.xml" Id="R3082dd5dd2f9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"TReF-6: Inferring Task-Relevant Frames from a Single Demonstration for One-Shot Skill Generalization",</a:t>
            </a:r>
          </a:p>
          <a:p xmlns:a="http://schemas.openxmlformats.org/drawingml/2006/main">
            <a:r>
              <a:t>  "paper_url": "https://arxiv.org/abs/2509.00310v2",</a:t>
            </a:r>
          </a:p>
          <a:p xmlns:a="http://schemas.openxmlformats.org/drawingml/2006/main">
            <a:r>
              <a:t>  "pdf_url": "https://arxiv.org/pdf/2509.00310v2",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"unverified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Flattened source reconstructed with native panels, arrows and all ordinary live text. Six isolated source RGB-D photographs retain internal camera/trajectory/coordinate details. Original arrow gradients approximated with solid editable colors.",</a:t>
            </a:r>
          </a:p>
          <a:p xmlns:a="http://schemas.openxmlformats.org/drawingml/2006/main">
            <a:r>
              <a:t>  "source_sha256": "22207c5626b7940b09259125921a5d7cb70f22807eba55488b22a6204aeee009",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111,</a:t>
            </a:r>
          </a:p>
          <a:p xmlns:a="http://schemas.openxmlformats.org/drawingml/2006/main">
            <a:r>
              <a:t>    75,</a:t>
            </a:r>
          </a:p>
          <a:p xmlns:a="http://schemas.openxmlformats.org/drawingml/2006/main">
            <a:r>
              <a:t>    499,</a:t>
            </a:r>
          </a:p>
          <a:p xmlns:a="http://schemas.openxmlformats.org/drawingml/2006/main">
            <a:r>
              <a:t>    303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"single-demo-photo",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80,</a:t>
            </a:r>
          </a:p>
          <a:p xmlns:a="http://schemas.openxmlformats.org/drawingml/2006/main">
            <a:r>
              <a:t>        216,</a:t>
            </a:r>
          </a:p>
          <a:p xmlns:a="http://schemas.openxmlformats.org/drawingml/2006/main">
            <a:r>
              <a:t>        228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"influence-photo",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441,</a:t>
            </a:r>
          </a:p>
          <a:p xmlns:a="http://schemas.openxmlformats.org/drawingml/2006/main">
            <a:r>
              <a:t>        79,</a:t>
            </a:r>
          </a:p>
          <a:p xmlns:a="http://schemas.openxmlformats.org/drawingml/2006/main">
            <a:r>
              <a:t>        612,</a:t>
            </a:r>
          </a:p>
          <a:p xmlns:a="http://schemas.openxmlformats.org/drawingml/2006/main">
            <a:r>
              <a:t>        233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"task-frame-photo",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814,</a:t>
            </a:r>
          </a:p>
          <a:p xmlns:a="http://schemas.openxmlformats.org/drawingml/2006/main">
            <a:r>
              <a:t>        79,</a:t>
            </a:r>
          </a:p>
          <a:p xmlns:a="http://schemas.openxmlformats.org/drawingml/2006/main">
            <a:r>
              <a:t>        980,</a:t>
            </a:r>
          </a:p>
          <a:p xmlns:a="http://schemas.openxmlformats.org/drawingml/2006/main">
            <a:r>
              <a:t>        247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"ood-rgbd-photo",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417,</a:t>
            </a:r>
          </a:p>
          <a:p xmlns:a="http://schemas.openxmlformats.org/drawingml/2006/main">
            <a:r>
              <a:t>        263,</a:t>
            </a:r>
          </a:p>
          <a:p xmlns:a="http://schemas.openxmlformats.org/drawingml/2006/main">
            <a:r>
              <a:t>        577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"ood-frame-photo",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507,</a:t>
            </a:r>
          </a:p>
          <a:p xmlns:a="http://schemas.openxmlformats.org/drawingml/2006/main">
            <a:r>
              <a:t>        417,</a:t>
            </a:r>
          </a:p>
          <a:p xmlns:a="http://schemas.openxmlformats.org/drawingml/2006/main">
            <a:r>
              <a:t>        724,</a:t>
            </a:r>
          </a:p>
          <a:p xmlns:a="http://schemas.openxmlformats.org/drawingml/2006/main">
            <a:r>
              <a:t>        581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"rollout-photo",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803,</a:t>
            </a:r>
          </a:p>
          <a:p xmlns:a="http://schemas.openxmlformats.org/drawingml/2006/main">
            <a:r>
              <a:t>        480,</a:t>
            </a:r>
          </a:p>
          <a:p xmlns:a="http://schemas.openxmlformats.org/drawingml/2006/main">
            <a:r>
              <a:t>        980,</a:t>
            </a:r>
          </a:p>
          <a:p xmlns:a="http://schemas.openxmlformats.org/drawingml/2006/main">
            <a:r>
              <a:t>        639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RGB-D photograph/rendering; internal scene, camera and trajectory overlays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f11216071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fd18320ce4b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4a42532bf40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bb11e391b42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41df759ff47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68db194c2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085579-29F5-4F82-BEBF-EE2500990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2461260"/>
            <a:ext cx="886968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45FCFF-A724-4676-A247-F5DDA9C520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63065" y="3583305"/>
            <a:ext cx="776097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5C938E-8D33-479A-915B-F960D96AF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2714625"/>
            <a:ext cx="886968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840CA-5970-41A5-8FB8-6AB7F1A22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649" y="506730"/>
            <a:ext cx="9839801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76FAA3-359E-4A45-B4DE-1CEB3A0C2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649" y="1809750"/>
            <a:ext cx="9839801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88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1pPr>
            <a:lvl2pPr marL="48506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2pPr>
            <a:lvl3pPr marL="76223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3pPr>
            <a:lvl4pPr marL="103941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4pPr>
            <a:lvl5pPr marL="131659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5pPr>
            <a:lvl6pPr marL="159377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6pPr>
            <a:lvl7pPr marL="187094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7pPr>
            <a:lvl8pPr marL="214812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8pPr>
            <a:lvl9pPr marL="242530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0645ED-E118-43C3-93AF-CF2E318C1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649" y="506730"/>
            <a:ext cx="9839801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8E10E3-CAC3-48EF-9397-BF30258808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649" y="1809750"/>
            <a:ext cx="4573429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88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1pPr>
            <a:lvl2pPr marL="48506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2pPr>
            <a:lvl3pPr marL="76223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3pPr>
            <a:lvl4pPr marL="103941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4pPr>
            <a:lvl5pPr marL="131659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5pPr>
            <a:lvl6pPr marL="159377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6pPr>
            <a:lvl7pPr marL="187094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7pPr>
            <a:lvl8pPr marL="214812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8pPr>
            <a:lvl9pPr marL="242530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DE32D1-6ADF-4ADF-83E0-02FC096D6B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90022" y="1809750"/>
            <a:ext cx="4573429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88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1pPr>
            <a:lvl2pPr marL="48506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2pPr>
            <a:lvl3pPr marL="76223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3pPr>
            <a:lvl4pPr marL="103941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4pPr>
            <a:lvl5pPr marL="131659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5pPr>
            <a:lvl6pPr marL="159377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6pPr>
            <a:lvl7pPr marL="187094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7pPr>
            <a:lvl8pPr marL="214812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8pPr>
            <a:lvl9pPr marL="242530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233762-0E97-427C-8003-BD6FFC1A2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649" y="506730"/>
            <a:ext cx="9839801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86776D-4442-46C1-AEF8-33A1F91B44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649" y="1809750"/>
            <a:ext cx="4573429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88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1pPr>
            <a:lvl2pPr marL="48506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2pPr>
            <a:lvl3pPr marL="76223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3pPr>
            <a:lvl4pPr marL="103941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4pPr>
            <a:lvl5pPr marL="131659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5pPr>
            <a:lvl6pPr marL="1593771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6pPr>
            <a:lvl7pPr marL="1870948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7pPr>
            <a:lvl8pPr marL="2148126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8pPr>
            <a:lvl9pPr marL="2425303" indent="-207883">
              <a:lnSpc>
                <a:spcPct val="110000"/>
              </a:lnSpc>
              <a:spcBef>
                <a:spcPts val="0"/>
              </a:spcBef>
              <a:spcAft>
                <a:spcPts val="109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c56bac2c8b4893" /><Relationship Type="http://schemas.openxmlformats.org/officeDocument/2006/relationships/slideLayout" Target="/ppt/slideLayouts/slideLayout1.xml" Id="R3834dd9c661e4ec7" /><Relationship Type="http://schemas.openxmlformats.org/officeDocument/2006/relationships/slideLayout" Target="/ppt/slideLayouts/slideLayout2.xml" Id="R0259f82fea894ba1" /><Relationship Type="http://schemas.openxmlformats.org/officeDocument/2006/relationships/slideLayout" Target="/ppt/slideLayouts/slideLayout3.xml" Id="R7881e891862c4d28" /><Relationship Type="http://schemas.openxmlformats.org/officeDocument/2006/relationships/slideLayout" Target="/ppt/slideLayouts/slideLayout4.xml" Id="Rc6c084a266f34031" /><Relationship Type="http://schemas.openxmlformats.org/officeDocument/2006/relationships/slideLayout" Target="/ppt/slideLayouts/slideLayout5.xml" Id="R7ba0716bd77c42e6" /><Relationship Type="http://schemas.openxmlformats.org/officeDocument/2006/relationships/slideLayout" Target="/ppt/slideLayouts/slideLayout6.xml" Id="Rdf3cc4a48d32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34dd9c661e4ec7"/>
    <p:sldLayoutId xmlns:r="http://schemas.openxmlformats.org/officeDocument/2006/relationships" id="2147483650" r:id="R0259f82fea894ba1"/>
    <p:sldLayoutId xmlns:r="http://schemas.openxmlformats.org/officeDocument/2006/relationships" id="2147483651" r:id="R7881e891862c4d28"/>
    <p:sldLayoutId xmlns:r="http://schemas.openxmlformats.org/officeDocument/2006/relationships" id="2147483652" r:id="Rc6c084a266f34031"/>
    <p:sldLayoutId xmlns:r="http://schemas.openxmlformats.org/officeDocument/2006/relationships" id="2147483653" r:id="R7ba0716bd77c42e6"/>
    <p:sldLayoutId xmlns:r="http://schemas.openxmlformats.org/officeDocument/2006/relationships" id="2147483654" r:id="Rdf3cc4a48d32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ced1c987f4ea7" /><Relationship Type="http://schemas.openxmlformats.org/officeDocument/2006/relationships/image" Target="/ppt/media/image.png" Id="Rd539e289ad854318" /><Relationship Type="http://schemas.openxmlformats.org/officeDocument/2006/relationships/image" Target="/ppt/media/image2.png" Id="Rcd6063885f37440f" /><Relationship Type="http://schemas.openxmlformats.org/officeDocument/2006/relationships/image" Target="/ppt/media/image3.png" Id="R5622938b6dfa489f" /><Relationship Type="http://schemas.openxmlformats.org/officeDocument/2006/relationships/image" Target="/ppt/media/image4.png" Id="R9821b142377b429d" /><Relationship Type="http://schemas.openxmlformats.org/officeDocument/2006/relationships/image" Target="/ppt/media/image5.png" Id="R9f389558a19344c4" /><Relationship Type="http://schemas.openxmlformats.org/officeDocument/2006/relationships/image" Target="/ppt/media/image6.png" Id="R1da3e8e8e1574dd6" /><Relationship Type="http://schemas.openxmlformats.org/officeDocument/2006/relationships/notesSlide" Target="/ppt/notesSlides/notesSlide1.xml" Id="Re19c9e7b698a4b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outer-gray">
            <a:extLst xmlns:a="http://schemas.openxmlformats.org/drawingml/2006/main">
              <a:ext uri="{FF2B5EF4-FFF2-40B4-BE49-F238E27FC236}">
                <a16:creationId xmlns:a16="http://schemas.microsoft.com/office/drawing/2014/main" id="{381FFF54-1326-481C-BD72-C2941FD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" y="38100"/>
            <a:ext cx="10906125" cy="6438900"/>
          </a:xfrm>
          <a:custGeom xmlns:a="http://schemas.openxmlformats.org/drawingml/2006/main">
            <a:pathLst>
              <a:path w="10906125" h="6438900">
                <a:moveTo>
                  <a:pt x="361950" y="0"/>
                </a:moveTo>
                <a:lnTo>
                  <a:pt x="10544175" y="0"/>
                </a:lnTo>
                <a:cubicBezTo>
                  <a:pt x="10744074" y="0"/>
                  <a:pt x="10906125" y="162051"/>
                  <a:pt x="10906125" y="361950"/>
                </a:cubicBezTo>
                <a:lnTo>
                  <a:pt x="10906125" y="6076950"/>
                </a:lnTo>
                <a:cubicBezTo>
                  <a:pt x="10906125" y="6276849"/>
                  <a:pt x="10744074" y="6438900"/>
                  <a:pt x="10544175" y="6438900"/>
                </a:cubicBezTo>
                <a:lnTo>
                  <a:pt x="361950" y="6438900"/>
                </a:lnTo>
                <a:cubicBezTo>
                  <a:pt x="162051" y="6438900"/>
                  <a:pt x="0" y="6276849"/>
                  <a:pt x="0" y="6076950"/>
                </a:cubicBezTo>
                <a:lnTo>
                  <a:pt x="0" y="361950"/>
                </a:lnTo>
                <a:cubicBezTo>
                  <a:pt x="0" y="162051"/>
                  <a:pt x="162051" y="0"/>
                  <a:pt x="361950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od-peach">
            <a:extLst xmlns:a="http://schemas.openxmlformats.org/drawingml/2006/main">
              <a:ext uri="{FF2B5EF4-FFF2-40B4-BE49-F238E27FC236}">
                <a16:creationId xmlns:a16="http://schemas.microsoft.com/office/drawing/2014/main" id="{A9C93156-EFBC-4E95-9CE6-264B425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3086100"/>
            <a:ext cx="9544050" cy="3381375"/>
          </a:xfrm>
          <a:custGeom xmlns:a="http://schemas.openxmlformats.org/drawingml/2006/main">
            <a:pathLst>
              <a:path w="9544050" h="3381375">
                <a:moveTo>
                  <a:pt x="457200" y="0"/>
                </a:moveTo>
                <a:lnTo>
                  <a:pt x="9086850" y="0"/>
                </a:lnTo>
                <a:cubicBezTo>
                  <a:pt x="9339355" y="0"/>
                  <a:pt x="9544050" y="204695"/>
                  <a:pt x="9544050" y="457200"/>
                </a:cubicBezTo>
                <a:lnTo>
                  <a:pt x="9544050" y="2924175"/>
                </a:lnTo>
                <a:cubicBezTo>
                  <a:pt x="9544050" y="3176680"/>
                  <a:pt x="9339355" y="3381375"/>
                  <a:pt x="9086850" y="3381375"/>
                </a:cubicBezTo>
                <a:lnTo>
                  <a:pt x="457200" y="3381375"/>
                </a:lnTo>
                <a:cubicBezTo>
                  <a:pt x="204695" y="3381375"/>
                  <a:pt x="0" y="3176680"/>
                  <a:pt x="0" y="2924175"/>
                </a:cubicBezTo>
                <a:lnTo>
                  <a:pt x="0" y="457200"/>
                </a:ln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 xmlns:a="http://schemas.openxmlformats.org/drawingml/2006/main">
            <a:srgbClr val="FFE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A1FCE352-9269-45BF-B29D-5CA01F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85725"/>
            <a:ext cx="2571750" cy="561975"/>
          </a:xfrm>
          <a:custGeom xmlns:a="http://schemas.openxmlformats.org/drawingml/2006/main">
            <a:pathLst>
              <a:path w="2571750" h="561975">
                <a:moveTo>
                  <a:pt x="85725" y="0"/>
                </a:moveTo>
                <a:lnTo>
                  <a:pt x="2486025" y="0"/>
                </a:lnTo>
                <a:cubicBezTo>
                  <a:pt x="2533370" y="0"/>
                  <a:pt x="2571750" y="38380"/>
                  <a:pt x="2571750" y="85725"/>
                </a:cubicBezTo>
                <a:lnTo>
                  <a:pt x="2571750" y="476250"/>
                </a:lnTo>
                <a:cubicBezTo>
                  <a:pt x="2571750" y="523595"/>
                  <a:pt x="2533370" y="561975"/>
                  <a:pt x="2486025" y="561975"/>
                </a:cubicBezTo>
                <a:lnTo>
                  <a:pt x="85725" y="561975"/>
                </a:lnTo>
                <a:cubicBezTo>
                  <a:pt x="38380" y="561975"/>
                  <a:pt x="0" y="523595"/>
                  <a:pt x="0" y="4762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3D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fluence-heading">
            <a:extLst xmlns:a="http://schemas.openxmlformats.org/drawingml/2006/main">
              <a:ext uri="{FF2B5EF4-FFF2-40B4-BE49-F238E27FC236}">
                <a16:creationId xmlns:a16="http://schemas.microsoft.com/office/drawing/2014/main" id="{C6A9BFEA-F549-44FD-A8B5-6790D9E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85725"/>
            <a:ext cx="2581275" cy="561975"/>
          </a:xfrm>
          <a:custGeom xmlns:a="http://schemas.openxmlformats.org/drawingml/2006/main">
            <a:pathLst>
              <a:path w="2581275" h="561975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476250"/>
                </a:lnTo>
                <a:cubicBezTo>
                  <a:pt x="2581275" y="523595"/>
                  <a:pt x="2542895" y="561975"/>
                  <a:pt x="2495550" y="561975"/>
                </a:cubicBezTo>
                <a:lnTo>
                  <a:pt x="85725" y="561975"/>
                </a:lnTo>
                <a:cubicBezTo>
                  <a:pt x="38380" y="561975"/>
                  <a:pt x="0" y="523595"/>
                  <a:pt x="0" y="4762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3D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rame-heading">
            <a:extLst xmlns:a="http://schemas.openxmlformats.org/drawingml/2006/main">
              <a:ext uri="{FF2B5EF4-FFF2-40B4-BE49-F238E27FC236}">
                <a16:creationId xmlns:a16="http://schemas.microsoft.com/office/drawing/2014/main" id="{E14B4D61-35BD-4FB6-A029-C7FC215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85725"/>
            <a:ext cx="2571750" cy="561975"/>
          </a:xfrm>
          <a:custGeom xmlns:a="http://schemas.openxmlformats.org/drawingml/2006/main">
            <a:pathLst>
              <a:path w="2571750" h="561975">
                <a:moveTo>
                  <a:pt x="85725" y="0"/>
                </a:moveTo>
                <a:lnTo>
                  <a:pt x="2486025" y="0"/>
                </a:lnTo>
                <a:cubicBezTo>
                  <a:pt x="2533370" y="0"/>
                  <a:pt x="2571750" y="38380"/>
                  <a:pt x="2571750" y="85725"/>
                </a:cubicBezTo>
                <a:lnTo>
                  <a:pt x="2571750" y="476250"/>
                </a:lnTo>
                <a:cubicBezTo>
                  <a:pt x="2571750" y="523595"/>
                  <a:pt x="2533370" y="561975"/>
                  <a:pt x="2486025" y="561975"/>
                </a:cubicBezTo>
                <a:lnTo>
                  <a:pt x="85725" y="561975"/>
                </a:lnTo>
                <a:cubicBezTo>
                  <a:pt x="38380" y="561975"/>
                  <a:pt x="0" y="523595"/>
                  <a:pt x="0" y="4762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3D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fluence-model">
            <a:extLst xmlns:a="http://schemas.openxmlformats.org/drawingml/2006/main">
              <a:ext uri="{FF2B5EF4-FFF2-40B4-BE49-F238E27FC236}">
                <a16:creationId xmlns:a16="http://schemas.microsoft.com/office/drawing/2014/main" id="{4E4C1086-4AB6-4A5C-ACA4-A9A23DF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942975"/>
            <a:ext cx="1162050" cy="914400"/>
          </a:xfrm>
          <a:custGeom xmlns:a="http://schemas.openxmlformats.org/drawingml/2006/main">
            <a:pathLst>
              <a:path w="1162050" h="914400">
                <a:moveTo>
                  <a:pt x="142875" y="0"/>
                </a:moveTo>
                <a:lnTo>
                  <a:pt x="1019175" y="0"/>
                </a:lnTo>
                <a:cubicBezTo>
                  <a:pt x="1098083" y="0"/>
                  <a:pt x="1162050" y="63967"/>
                  <a:pt x="1162050" y="142875"/>
                </a:cubicBezTo>
                <a:lnTo>
                  <a:pt x="1162050" y="771525"/>
                </a:lnTo>
                <a:cubicBezTo>
                  <a:pt x="1162050" y="850433"/>
                  <a:pt x="1098083" y="914400"/>
                  <a:pt x="1019175" y="914400"/>
                </a:cubicBezTo>
                <a:lnTo>
                  <a:pt x="142875" y="914400"/>
                </a:lnTo>
                <a:cubicBezTo>
                  <a:pt x="63967" y="914400"/>
                  <a:pt x="0" y="850433"/>
                  <a:pt x="0" y="7715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3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ounding-top">
            <a:extLst xmlns:a="http://schemas.openxmlformats.org/drawingml/2006/main">
              <a:ext uri="{FF2B5EF4-FFF2-40B4-BE49-F238E27FC236}">
                <a16:creationId xmlns:a16="http://schemas.microsoft.com/office/drawing/2014/main" id="{0B6DA0A0-DC92-4350-9389-643D08A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1019175"/>
            <a:ext cx="1162050" cy="781050"/>
          </a:xfrm>
          <a:custGeom xmlns:a="http://schemas.openxmlformats.org/drawingml/2006/main">
            <a:pathLst>
              <a:path w="1162050" h="781050">
                <a:moveTo>
                  <a:pt x="133350" y="0"/>
                </a:moveTo>
                <a:lnTo>
                  <a:pt x="1028700" y="0"/>
                </a:lnTo>
                <a:cubicBezTo>
                  <a:pt x="1102347" y="0"/>
                  <a:pt x="1162050" y="59703"/>
                  <a:pt x="1162050" y="133350"/>
                </a:cubicBezTo>
                <a:lnTo>
                  <a:pt x="1162050" y="647700"/>
                </a:lnTo>
                <a:cubicBezTo>
                  <a:pt x="1162050" y="721347"/>
                  <a:pt x="1102347" y="781050"/>
                  <a:pt x="1028700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3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mp-model">
            <a:extLst xmlns:a="http://schemas.openxmlformats.org/drawingml/2006/main">
              <a:ext uri="{FF2B5EF4-FFF2-40B4-BE49-F238E27FC236}">
                <a16:creationId xmlns:a16="http://schemas.microsoft.com/office/drawing/2014/main" id="{BCD559F3-31D6-4CB8-A6D8-EBE621F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714375"/>
            <a:ext cx="1152525" cy="1543050"/>
          </a:xfrm>
          <a:custGeom xmlns:a="http://schemas.openxmlformats.org/drawingml/2006/main">
            <a:pathLst>
              <a:path w="1152525" h="1543050">
                <a:moveTo>
                  <a:pt x="180975" y="0"/>
                </a:moveTo>
                <a:lnTo>
                  <a:pt x="971550" y="0"/>
                </a:lnTo>
                <a:cubicBezTo>
                  <a:pt x="1071500" y="0"/>
                  <a:pt x="1152525" y="81025"/>
                  <a:pt x="1152525" y="180975"/>
                </a:cubicBezTo>
                <a:lnTo>
                  <a:pt x="1152525" y="1362075"/>
                </a:lnTo>
                <a:cubicBezTo>
                  <a:pt x="1152525" y="1462025"/>
                  <a:pt x="1071500" y="1543050"/>
                  <a:pt x="971550" y="1543050"/>
                </a:cubicBezTo>
                <a:lnTo>
                  <a:pt x="180975" y="1543050"/>
                </a:lnTo>
                <a:cubicBezTo>
                  <a:pt x="81025" y="1543050"/>
                  <a:pt x="0" y="1462025"/>
                  <a:pt x="0" y="13620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3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gbd-heading">
            <a:extLst xmlns:a="http://schemas.openxmlformats.org/drawingml/2006/main">
              <a:ext uri="{FF2B5EF4-FFF2-40B4-BE49-F238E27FC236}">
                <a16:creationId xmlns:a16="http://schemas.microsoft.com/office/drawing/2014/main" id="{E2BEB48F-C8EC-4A77-9A74-6CCDA10B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552825"/>
            <a:ext cx="1905000" cy="352425"/>
          </a:xfrm>
          <a:custGeom xmlns:a="http://schemas.openxmlformats.org/drawingml/2006/main">
            <a:pathLst>
              <a:path w="1905000" h="352425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304800"/>
                </a:lnTo>
                <a:cubicBezTo>
                  <a:pt x="1905000" y="331103"/>
                  <a:pt x="1883678" y="352425"/>
                  <a:pt x="1857375" y="352425"/>
                </a:cubicBezTo>
                <a:lnTo>
                  <a:pt x="47625" y="352425"/>
                </a:lnTo>
                <a:cubicBezTo>
                  <a:pt x="21322" y="352425"/>
                  <a:pt x="0" y="331103"/>
                  <a:pt x="0" y="3048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3D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od-frame-heading">
            <a:extLst xmlns:a="http://schemas.openxmlformats.org/drawingml/2006/main">
              <a:ext uri="{FF2B5EF4-FFF2-40B4-BE49-F238E27FC236}">
                <a16:creationId xmlns:a16="http://schemas.microsoft.com/office/drawing/2014/main" id="{B5F14238-DBC9-45CA-9161-C795DAEA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3552825"/>
            <a:ext cx="2428875" cy="361950"/>
          </a:xfrm>
          <a:custGeom xmlns:a="http://schemas.openxmlformats.org/drawingml/2006/main">
            <a:pathLst>
              <a:path w="2428875" h="361950">
                <a:moveTo>
                  <a:pt x="47625" y="0"/>
                </a:moveTo>
                <a:lnTo>
                  <a:pt x="2381250" y="0"/>
                </a:lnTo>
                <a:cubicBezTo>
                  <a:pt x="2407553" y="0"/>
                  <a:pt x="2428875" y="21322"/>
                  <a:pt x="2428875" y="47625"/>
                </a:cubicBezTo>
                <a:lnTo>
                  <a:pt x="2428875" y="314325"/>
                </a:lnTo>
                <a:cubicBezTo>
                  <a:pt x="2428875" y="340628"/>
                  <a:pt x="2407553" y="361950"/>
                  <a:pt x="2381250" y="361950"/>
                </a:cubicBezTo>
                <a:lnTo>
                  <a:pt x="47625" y="361950"/>
                </a:lnTo>
                <a:cubicBezTo>
                  <a:pt x="21322" y="361950"/>
                  <a:pt x="0" y="340628"/>
                  <a:pt x="0" y="3143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3D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ttom-model-panel">
            <a:extLst xmlns:a="http://schemas.openxmlformats.org/drawingml/2006/main">
              <a:ext uri="{FF2B5EF4-FFF2-40B4-BE49-F238E27FC236}">
                <a16:creationId xmlns:a16="http://schemas.microsoft.com/office/drawing/2014/main" id="{C74D5E33-6E2E-46B5-ACA0-B85539C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819525"/>
            <a:ext cx="1390650" cy="1885950"/>
          </a:xfrm>
          <a:custGeom xmlns:a="http://schemas.openxmlformats.org/drawingml/2006/main">
            <a:pathLst>
              <a:path w="1390650" h="1885950">
                <a:moveTo>
                  <a:pt x="228600" y="0"/>
                </a:moveTo>
                <a:lnTo>
                  <a:pt x="1162050" y="0"/>
                </a:lnTo>
                <a:cubicBezTo>
                  <a:pt x="1288302" y="0"/>
                  <a:pt x="1390650" y="102348"/>
                  <a:pt x="1390650" y="228600"/>
                </a:cubicBezTo>
                <a:lnTo>
                  <a:pt x="1390650" y="1657350"/>
                </a:lnTo>
                <a:cubicBezTo>
                  <a:pt x="1390650" y="1783602"/>
                  <a:pt x="1288302" y="1885950"/>
                  <a:pt x="1162050" y="1885950"/>
                </a:cubicBezTo>
                <a:lnTo>
                  <a:pt x="228600" y="1885950"/>
                </a:lnTo>
                <a:cubicBezTo>
                  <a:pt x="102348" y="1885950"/>
                  <a:pt x="0" y="1783602"/>
                  <a:pt x="0" y="165735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ounding-bottom">
            <a:extLst xmlns:a="http://schemas.openxmlformats.org/drawingml/2006/main">
              <a:ext uri="{FF2B5EF4-FFF2-40B4-BE49-F238E27FC236}">
                <a16:creationId xmlns:a16="http://schemas.microsoft.com/office/drawing/2014/main" id="{F00D1348-68DF-4D80-A7D5-614009EF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4295775"/>
            <a:ext cx="1162050" cy="742950"/>
          </a:xfrm>
          <a:custGeom xmlns:a="http://schemas.openxmlformats.org/drawingml/2006/main">
            <a:pathLst>
              <a:path w="1162050" h="742950">
                <a:moveTo>
                  <a:pt x="123825" y="0"/>
                </a:moveTo>
                <a:lnTo>
                  <a:pt x="1038225" y="0"/>
                </a:lnTo>
                <a:cubicBezTo>
                  <a:pt x="1106612" y="0"/>
                  <a:pt x="1162050" y="55438"/>
                  <a:pt x="1162050" y="123825"/>
                </a:cubicBezTo>
                <a:lnTo>
                  <a:pt x="1162050" y="619125"/>
                </a:lnTo>
                <a:cubicBezTo>
                  <a:pt x="1162050" y="687512"/>
                  <a:pt x="1106612" y="742950"/>
                  <a:pt x="1038225" y="742950"/>
                </a:cubicBezTo>
                <a:lnTo>
                  <a:pt x="123825" y="742950"/>
                </a:lnTo>
                <a:cubicBezTo>
                  <a:pt x="55438" y="742950"/>
                  <a:pt x="0" y="687512"/>
                  <a:pt x="0" y="6191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F3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arameterization-model">
            <a:extLst xmlns:a="http://schemas.openxmlformats.org/drawingml/2006/main">
              <a:ext uri="{FF2B5EF4-FFF2-40B4-BE49-F238E27FC236}">
                <a16:creationId xmlns:a16="http://schemas.microsoft.com/office/drawing/2014/main" id="{B2B9224F-C2E7-43FE-9DE9-A6EDD8F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629025"/>
            <a:ext cx="2286000" cy="609600"/>
          </a:xfrm>
          <a:custGeom xmlns:a="http://schemas.openxmlformats.org/drawingml/2006/main">
            <a:pathLst>
              <a:path w="2286000" h="609600">
                <a:moveTo>
                  <a:pt x="95250" y="0"/>
                </a:moveTo>
                <a:lnTo>
                  <a:pt x="2190750" y="0"/>
                </a:lnTo>
                <a:cubicBezTo>
                  <a:pt x="2243355" y="0"/>
                  <a:pt x="2286000" y="42645"/>
                  <a:pt x="2286000" y="95250"/>
                </a:cubicBezTo>
                <a:lnTo>
                  <a:pt x="2286000" y="514350"/>
                </a:lnTo>
                <a:cubicBezTo>
                  <a:pt x="2286000" y="566955"/>
                  <a:pt x="2243355" y="609600"/>
                  <a:pt x="2190750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68193-2F08-45E2-8FAC-3938C7029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e289ad8543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762000"/>
            <a:ext cx="1524000" cy="1409700"/>
          </a:xfrm>
          <a:prstGeom xmlns:a="http://schemas.openxmlformats.org/drawingml/2006/main" prst="rect">
            <a:avLst/>
          </a:prstGeom>
        </p:spPr>
      </p:pic>
      <p:sp>
        <p:nvSpPr>
          <p:cNvPr id="15" name="single-demo-photo">
            <a:extLst xmlns:a="http://schemas.openxmlformats.org/drawingml/2006/main">
              <a:ext uri="{FF2B5EF4-FFF2-40B4-BE49-F238E27FC236}">
                <a16:creationId xmlns:a16="http://schemas.microsoft.com/office/drawing/2014/main" id="{96D1BE4E-3ED2-425E-82FF-A6352EB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62000"/>
            <a:ext cx="152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D0427-6854-45EA-B416-B5C1C2F208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063885f3744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0525" y="752475"/>
            <a:ext cx="1628775" cy="1466850"/>
          </a:xfrm>
          <a:prstGeom xmlns:a="http://schemas.openxmlformats.org/drawingml/2006/main" prst="rect">
            <a:avLst/>
          </a:prstGeom>
        </p:spPr>
      </p:pic>
      <p:sp>
        <p:nvSpPr>
          <p:cNvPr id="17" name="influence-photo">
            <a:extLst xmlns:a="http://schemas.openxmlformats.org/drawingml/2006/main">
              <a:ext uri="{FF2B5EF4-FFF2-40B4-BE49-F238E27FC236}">
                <a16:creationId xmlns:a16="http://schemas.microsoft.com/office/drawing/2014/main" id="{D482F802-75A4-4B52-A7B7-A6C0232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2475"/>
            <a:ext cx="16287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A6E35-0A9F-4C97-968C-84A32998A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2938b6dfa48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752475"/>
            <a:ext cx="1581150" cy="1600200"/>
          </a:xfrm>
          <a:prstGeom xmlns:a="http://schemas.openxmlformats.org/drawingml/2006/main" prst="rect">
            <a:avLst/>
          </a:prstGeom>
        </p:spPr>
      </p:pic>
      <p:sp>
        <p:nvSpPr>
          <p:cNvPr id="19" name="task-frame-photo">
            <a:extLst xmlns:a="http://schemas.openxmlformats.org/drawingml/2006/main">
              <a:ext uri="{FF2B5EF4-FFF2-40B4-BE49-F238E27FC236}">
                <a16:creationId xmlns:a16="http://schemas.microsoft.com/office/drawing/2014/main" id="{30EA7C1D-D0DD-474F-BB1C-5F1E6639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752475"/>
            <a:ext cx="1581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DE7EB-F415-42AF-8687-36CFBB08A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b142377b42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" y="3971925"/>
            <a:ext cx="1924050" cy="1524000"/>
          </a:xfrm>
          <a:prstGeom xmlns:a="http://schemas.openxmlformats.org/drawingml/2006/main" prst="rect">
            <a:avLst/>
          </a:prstGeom>
        </p:spPr>
      </p:pic>
      <p:sp>
        <p:nvSpPr>
          <p:cNvPr id="21" name="ood-rgbd-photo">
            <a:extLst xmlns:a="http://schemas.openxmlformats.org/drawingml/2006/main">
              <a:ext uri="{FF2B5EF4-FFF2-40B4-BE49-F238E27FC236}">
                <a16:creationId xmlns:a16="http://schemas.microsoft.com/office/drawing/2014/main" id="{500CE69D-48F9-438A-8AF9-9FF5B54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971925"/>
            <a:ext cx="1924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10146-4901-48E1-AFC1-247830EDF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89558a19344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9175" y="3971925"/>
            <a:ext cx="2066925" cy="1562100"/>
          </a:xfrm>
          <a:prstGeom xmlns:a="http://schemas.openxmlformats.org/drawingml/2006/main" prst="rect">
            <a:avLst/>
          </a:prstGeom>
        </p:spPr>
      </p:pic>
      <p:sp>
        <p:nvSpPr>
          <p:cNvPr id="23" name="ood-frame-photo">
            <a:extLst xmlns:a="http://schemas.openxmlformats.org/drawingml/2006/main">
              <a:ext uri="{FF2B5EF4-FFF2-40B4-BE49-F238E27FC236}">
                <a16:creationId xmlns:a16="http://schemas.microsoft.com/office/drawing/2014/main" id="{9803647A-2EE8-4883-8B63-C2837F2F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971925"/>
            <a:ext cx="20669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01D4C-E522-4B97-9485-FBDCA5970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e8e8e1574d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4572000"/>
            <a:ext cx="1685925" cy="1514475"/>
          </a:xfrm>
          <a:prstGeom xmlns:a="http://schemas.openxmlformats.org/drawingml/2006/main" prst="rect">
            <a:avLst/>
          </a:prstGeom>
        </p:spPr>
      </p:pic>
      <p:sp>
        <p:nvSpPr>
          <p:cNvPr id="25" name="rollout-photo">
            <a:extLst xmlns:a="http://schemas.openxmlformats.org/drawingml/2006/main">
              <a:ext uri="{FF2B5EF4-FFF2-40B4-BE49-F238E27FC236}">
                <a16:creationId xmlns:a16="http://schemas.microsoft.com/office/drawing/2014/main" id="{14F98B85-6366-470B-99F2-6D8ECC29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4572000"/>
            <a:ext cx="16859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single-demo-label">
            <a:extLst xmlns:a="http://schemas.openxmlformats.org/drawingml/2006/main">
              <a:ext uri="{FF2B5EF4-FFF2-40B4-BE49-F238E27FC236}">
                <a16:creationId xmlns:a16="http://schemas.microsoft.com/office/drawing/2014/main" id="{3926E904-30C6-476F-B576-B61F1A6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142875"/>
            <a:ext cx="2486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Demonstration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(Trajectory + RGB-D Frame)</a:t>
            </a:r>
          </a:p>
        </p:txBody>
      </p:sp>
      <p:sp>
        <p:nvSpPr>
          <p:cNvPr id="27" name="influence-title">
            <a:extLst xmlns:a="http://schemas.openxmlformats.org/drawingml/2006/main">
              <a:ext uri="{FF2B5EF4-FFF2-40B4-BE49-F238E27FC236}">
                <a16:creationId xmlns:a16="http://schemas.microsoft.com/office/drawing/2014/main" id="{DD575CAB-46BF-4BE8-9D7D-32A5CB2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0955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Inferred Influence Point</a:t>
            </a:r>
          </a:p>
        </p:txBody>
      </p:sp>
      <p:sp>
        <p:nvSpPr>
          <p:cNvPr id="28" name="task-frame-title">
            <a:extLst xmlns:a="http://schemas.openxmlformats.org/drawingml/2006/main">
              <a:ext uri="{FF2B5EF4-FFF2-40B4-BE49-F238E27FC236}">
                <a16:creationId xmlns:a16="http://schemas.microsoft.com/office/drawing/2014/main" id="{DDEA56B7-AF19-4085-8732-55A6BE4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000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Task-Relevant Frame</a:t>
            </a:r>
          </a:p>
        </p:txBody>
      </p:sp>
      <p:sp>
        <p:nvSpPr>
          <p:cNvPr id="29" name="influence-label">
            <a:extLst xmlns:a="http://schemas.openxmlformats.org/drawingml/2006/main">
              <a:ext uri="{FF2B5EF4-FFF2-40B4-BE49-F238E27FC236}">
                <a16:creationId xmlns:a16="http://schemas.microsoft.com/office/drawing/2014/main" id="{5E815812-2D84-4350-B62D-2A86533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1000125"/>
            <a:ext cx="104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Influence</a:t>
            </a:r>
          </a:p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Point</a:t>
            </a:r>
          </a:p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30" name="grounding-top-label">
            <a:extLst xmlns:a="http://schemas.openxmlformats.org/drawingml/2006/main">
              <a:ext uri="{FF2B5EF4-FFF2-40B4-BE49-F238E27FC236}">
                <a16:creationId xmlns:a16="http://schemas.microsoft.com/office/drawing/2014/main" id="{255A9CBF-E351-493F-AA1E-9287A2D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12395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31" name="dmp-model-label">
            <a:extLst xmlns:a="http://schemas.openxmlformats.org/drawingml/2006/main">
              <a:ext uri="{FF2B5EF4-FFF2-40B4-BE49-F238E27FC236}">
                <a16:creationId xmlns:a16="http://schemas.microsoft.com/office/drawing/2014/main" id="{E555D99B-87FB-47E0-BAE3-248DEF6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838200"/>
            <a:ext cx="10953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DMP</a:t>
            </a:r>
          </a:p>
          <a:p xmlns:a="http://schemas.openxmlformats.org/drawingml/2006/main">
            <a: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Learned in</a:t>
            </a:r>
          </a:p>
          <a:p xmlns:a="http://schemas.openxmlformats.org/drawingml/2006/main">
            <a: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Task-</a:t>
            </a:r>
          </a:p>
          <a:p xmlns:a="http://schemas.openxmlformats.org/drawingml/2006/main">
            <a: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Relevant</a:t>
            </a:r>
          </a:p>
          <a:p xmlns:a="http://schemas.openxmlformats.org/drawingml/2006/main">
            <a:pPr algn="ctr">
              <a:defRPr sz="1800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Fame</a:t>
            </a:r>
          </a:p>
        </p:txBody>
      </p:sp>
      <p:sp>
        <p:nvSpPr>
          <p:cNvPr id="32" name="minimum-assumption">
            <a:extLst xmlns:a="http://schemas.openxmlformats.org/drawingml/2006/main">
              <a:ext uri="{FF2B5EF4-FFF2-40B4-BE49-F238E27FC236}">
                <a16:creationId xmlns:a16="http://schemas.microsoft.com/office/drawing/2014/main" id="{35F8891A-4085-4DC0-A07E-7126139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04787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FFC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CC8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CC83"/>
                </a:solidFill>
                <a:latin typeface="Arial"/>
                <a:ea typeface="Arial"/>
                <a:cs typeface="Arial"/>
              </a:rPr>
              <a:t>Minimum Assumption</a:t>
            </a:r>
          </a:p>
        </p:txBody>
      </p:sp>
      <p:sp>
        <p:nvSpPr>
          <p:cNvPr id="33" name="assumption-box-0">
            <a:extLst xmlns:a="http://schemas.openxmlformats.org/drawingml/2006/main">
              <a:ext uri="{FF2B5EF4-FFF2-40B4-BE49-F238E27FC236}">
                <a16:creationId xmlns:a16="http://schemas.microsoft.com/office/drawing/2014/main" id="{D24D9A76-C9BD-418E-8210-10F37A2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2314575"/>
            <a:ext cx="1066800" cy="476250"/>
          </a:xfrm>
          <a:custGeom xmlns:a="http://schemas.openxmlformats.org/drawingml/2006/main">
            <a:pathLst>
              <a:path w="1066800" h="476250">
                <a:moveTo>
                  <a:pt x="66675" y="0"/>
                </a:moveTo>
                <a:lnTo>
                  <a:pt x="1000125" y="0"/>
                </a:lnTo>
                <a:cubicBezTo>
                  <a:pt x="1036949" y="0"/>
                  <a:pt x="1066800" y="29851"/>
                  <a:pt x="1066800" y="66675"/>
                </a:cubicBezTo>
                <a:lnTo>
                  <a:pt x="1066800" y="409575"/>
                </a:lnTo>
                <a:cubicBezTo>
                  <a:pt x="1066800" y="446399"/>
                  <a:pt x="1036949" y="476250"/>
                  <a:pt x="1000125" y="476250"/>
                </a:cubicBezTo>
                <a:lnTo>
                  <a:pt x="66675" y="476250"/>
                </a:lnTo>
                <a:cubicBezTo>
                  <a:pt x="29851" y="476250"/>
                  <a:pt x="0" y="446399"/>
                  <a:pt x="0" y="4095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24765">
            <a:solidFill>
              <a:srgbClr val="FFBF4C"/>
            </a:solidFill>
            <a:prstDash val="solid"/>
          </a:ln>
        </p:spPr>
      </p:sp>
      <p:sp>
        <p:nvSpPr>
          <p:cNvPr id="34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14A8374C-B422-4374-81AD-8D1EEC3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23431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Pretraining</a:t>
            </a:r>
          </a:p>
        </p:txBody>
      </p:sp>
      <p:sp>
        <p:nvSpPr>
          <p:cNvPr id="35" name="assumption-box-1">
            <a:extLst xmlns:a="http://schemas.openxmlformats.org/drawingml/2006/main">
              <a:ext uri="{FF2B5EF4-FFF2-40B4-BE49-F238E27FC236}">
                <a16:creationId xmlns:a16="http://schemas.microsoft.com/office/drawing/2014/main" id="{77F5E210-A0DE-4251-98F2-668491D0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314575"/>
            <a:ext cx="1066800" cy="476250"/>
          </a:xfrm>
          <a:custGeom xmlns:a="http://schemas.openxmlformats.org/drawingml/2006/main">
            <a:pathLst>
              <a:path w="1066800" h="476250">
                <a:moveTo>
                  <a:pt x="66675" y="0"/>
                </a:moveTo>
                <a:lnTo>
                  <a:pt x="1000125" y="0"/>
                </a:lnTo>
                <a:cubicBezTo>
                  <a:pt x="1036949" y="0"/>
                  <a:pt x="1066800" y="29851"/>
                  <a:pt x="1066800" y="66675"/>
                </a:cubicBezTo>
                <a:lnTo>
                  <a:pt x="1066800" y="409575"/>
                </a:lnTo>
                <a:cubicBezTo>
                  <a:pt x="1066800" y="446399"/>
                  <a:pt x="1036949" y="476250"/>
                  <a:pt x="1000125" y="476250"/>
                </a:cubicBezTo>
                <a:lnTo>
                  <a:pt x="66675" y="476250"/>
                </a:lnTo>
                <a:cubicBezTo>
                  <a:pt x="29851" y="476250"/>
                  <a:pt x="0" y="446399"/>
                  <a:pt x="0" y="4095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24765">
            <a:solidFill>
              <a:srgbClr val="FFBF4C"/>
            </a:solidFill>
            <a:prstDash val="solid"/>
          </a:ln>
        </p:spPr>
      </p:sp>
      <p:sp>
        <p:nvSpPr>
          <p:cNvPr id="36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765EEFE8-229D-40FE-84CF-E6148B1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23431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CAD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7" name="assumption-box-2">
            <a:extLst xmlns:a="http://schemas.openxmlformats.org/drawingml/2006/main">
              <a:ext uri="{FF2B5EF4-FFF2-40B4-BE49-F238E27FC236}">
                <a16:creationId xmlns:a16="http://schemas.microsoft.com/office/drawing/2014/main" id="{F5C5C057-70DE-44A7-83FC-949309A9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275" y="2314575"/>
            <a:ext cx="1057275" cy="476250"/>
          </a:xfrm>
          <a:custGeom xmlns:a="http://schemas.openxmlformats.org/drawingml/2006/main">
            <a:pathLst>
              <a:path w="1057275" h="476250">
                <a:moveTo>
                  <a:pt x="66675" y="0"/>
                </a:moveTo>
                <a:lnTo>
                  <a:pt x="990600" y="0"/>
                </a:lnTo>
                <a:cubicBezTo>
                  <a:pt x="1027424" y="0"/>
                  <a:pt x="1057275" y="29851"/>
                  <a:pt x="1057275" y="66675"/>
                </a:cubicBezTo>
                <a:lnTo>
                  <a:pt x="1057275" y="409575"/>
                </a:lnTo>
                <a:cubicBezTo>
                  <a:pt x="1057275" y="446399"/>
                  <a:pt x="1027424" y="476250"/>
                  <a:pt x="990600" y="476250"/>
                </a:cubicBezTo>
                <a:lnTo>
                  <a:pt x="66675" y="476250"/>
                </a:lnTo>
                <a:cubicBezTo>
                  <a:pt x="29851" y="476250"/>
                  <a:pt x="0" y="446399"/>
                  <a:pt x="0" y="4095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24765">
            <a:solidFill>
              <a:srgbClr val="FFBF4C"/>
            </a:solidFill>
            <a:prstDash val="solid"/>
          </a:ln>
        </p:spPr>
      </p:sp>
      <p:sp>
        <p:nvSpPr>
          <p:cNvPr id="38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76F16D36-7177-438F-83A8-7A0595A8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23431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Human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39" name="vlm-top-plate">
            <a:extLst xmlns:a="http://schemas.openxmlformats.org/drawingml/2006/main">
              <a:ext uri="{FF2B5EF4-FFF2-40B4-BE49-F238E27FC236}">
                <a16:creationId xmlns:a16="http://schemas.microsoft.com/office/drawing/2014/main" id="{D04D5CC6-EC00-45DC-82A9-150C5470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609600"/>
            <a:ext cx="685800" cy="361950"/>
          </a:xfrm>
          <a:custGeom xmlns:a="http://schemas.openxmlformats.org/drawingml/2006/main">
            <a:pathLst>
              <a:path w="685800" h="361950">
                <a:moveTo>
                  <a:pt x="57150" y="0"/>
                </a:moveTo>
                <a:lnTo>
                  <a:pt x="628650" y="0"/>
                </a:lnTo>
                <a:cubicBezTo>
                  <a:pt x="660213" y="0"/>
                  <a:pt x="685800" y="25587"/>
                  <a:pt x="685800" y="57150"/>
                </a:cubicBezTo>
                <a:lnTo>
                  <a:pt x="685800" y="304800"/>
                </a:lnTo>
                <a:cubicBezTo>
                  <a:pt x="685800" y="336363"/>
                  <a:pt x="660213" y="361950"/>
                  <a:pt x="62865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vlm-top">
            <a:extLst xmlns:a="http://schemas.openxmlformats.org/drawingml/2006/main">
              <a:ext uri="{FF2B5EF4-FFF2-40B4-BE49-F238E27FC236}">
                <a16:creationId xmlns:a16="http://schemas.microsoft.com/office/drawing/2014/main" id="{DB2DB42B-7586-43D9-A53B-D52E9816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638175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41" name="sam-top-plate">
            <a:extLst xmlns:a="http://schemas.openxmlformats.org/drawingml/2006/main">
              <a:ext uri="{FF2B5EF4-FFF2-40B4-BE49-F238E27FC236}">
                <a16:creationId xmlns:a16="http://schemas.microsoft.com/office/drawing/2014/main" id="{9A356739-69A8-40DA-890C-24169E10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1857375"/>
            <a:ext cx="1019175" cy="533400"/>
          </a:xfrm>
          <a:custGeom xmlns:a="http://schemas.openxmlformats.org/drawingml/2006/main">
            <a:pathLst>
              <a:path w="1019175" h="533400">
                <a:moveTo>
                  <a:pt x="57150" y="0"/>
                </a:moveTo>
                <a:lnTo>
                  <a:pt x="962025" y="0"/>
                </a:lnTo>
                <a:cubicBezTo>
                  <a:pt x="993588" y="0"/>
                  <a:pt x="1019175" y="25587"/>
                  <a:pt x="1019175" y="57150"/>
                </a:cubicBezTo>
                <a:lnTo>
                  <a:pt x="1019175" y="476250"/>
                </a:lnTo>
                <a:cubicBezTo>
                  <a:pt x="1019175" y="507813"/>
                  <a:pt x="993588" y="533400"/>
                  <a:pt x="962025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am-top">
            <a:extLst xmlns:a="http://schemas.openxmlformats.org/drawingml/2006/main">
              <a:ext uri="{FF2B5EF4-FFF2-40B4-BE49-F238E27FC236}">
                <a16:creationId xmlns:a16="http://schemas.microsoft.com/office/drawing/2014/main" id="{2AE63771-1A6F-40E9-BDBC-C09B57B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885950"/>
            <a:ext cx="962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Grounded-</a:t>
            </a:r>
          </a:p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43" name="vlm-bottom-plate">
            <a:extLst xmlns:a="http://schemas.openxmlformats.org/drawingml/2006/main">
              <a:ext uri="{FF2B5EF4-FFF2-40B4-BE49-F238E27FC236}">
                <a16:creationId xmlns:a16="http://schemas.microsoft.com/office/drawing/2014/main" id="{1F5220AB-3CBC-4189-A6E9-8FF2E90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3876675"/>
            <a:ext cx="695325" cy="352425"/>
          </a:xfrm>
          <a:custGeom xmlns:a="http://schemas.openxmlformats.org/drawingml/2006/main">
            <a:pathLst>
              <a:path w="695325" h="352425">
                <a:moveTo>
                  <a:pt x="57150" y="0"/>
                </a:moveTo>
                <a:lnTo>
                  <a:pt x="638175" y="0"/>
                </a:lnTo>
                <a:cubicBezTo>
                  <a:pt x="669738" y="0"/>
                  <a:pt x="695325" y="25587"/>
                  <a:pt x="695325" y="57150"/>
                </a:cubicBezTo>
                <a:lnTo>
                  <a:pt x="695325" y="295275"/>
                </a:lnTo>
                <a:cubicBezTo>
                  <a:pt x="695325" y="326838"/>
                  <a:pt x="669738" y="352425"/>
                  <a:pt x="638175" y="352425"/>
                </a:cubicBezTo>
                <a:lnTo>
                  <a:pt x="57150" y="352425"/>
                </a:lnTo>
                <a:cubicBezTo>
                  <a:pt x="25587" y="352425"/>
                  <a:pt x="0" y="326838"/>
                  <a:pt x="0" y="2952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vlm-bottom">
            <a:extLst xmlns:a="http://schemas.openxmlformats.org/drawingml/2006/main">
              <a:ext uri="{FF2B5EF4-FFF2-40B4-BE49-F238E27FC236}">
                <a16:creationId xmlns:a16="http://schemas.microsoft.com/office/drawing/2014/main" id="{0C346A61-5A2E-409A-8F00-6BD0A08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905250"/>
            <a:ext cx="638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45" name="sam-bottom-plate">
            <a:extLst xmlns:a="http://schemas.openxmlformats.org/drawingml/2006/main">
              <a:ext uri="{FF2B5EF4-FFF2-40B4-BE49-F238E27FC236}">
                <a16:creationId xmlns:a16="http://schemas.microsoft.com/office/drawing/2014/main" id="{96A8B1B1-BC4B-483B-8A8F-A8032FF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5086350"/>
            <a:ext cx="1000125" cy="533400"/>
          </a:xfrm>
          <a:custGeom xmlns:a="http://schemas.openxmlformats.org/drawingml/2006/main">
            <a:pathLst>
              <a:path w="1000125" h="533400">
                <a:moveTo>
                  <a:pt x="57150" y="0"/>
                </a:moveTo>
                <a:lnTo>
                  <a:pt x="942975" y="0"/>
                </a:lnTo>
                <a:cubicBezTo>
                  <a:pt x="974538" y="0"/>
                  <a:pt x="1000125" y="25587"/>
                  <a:pt x="1000125" y="57150"/>
                </a:cubicBezTo>
                <a:lnTo>
                  <a:pt x="1000125" y="476250"/>
                </a:lnTo>
                <a:cubicBezTo>
                  <a:pt x="1000125" y="507813"/>
                  <a:pt x="974538" y="533400"/>
                  <a:pt x="942975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am-bottom">
            <a:extLst xmlns:a="http://schemas.openxmlformats.org/drawingml/2006/main">
              <a:ext uri="{FF2B5EF4-FFF2-40B4-BE49-F238E27FC236}">
                <a16:creationId xmlns:a16="http://schemas.microsoft.com/office/drawing/2014/main" id="{1E87D9E2-EE0F-49EC-8CCF-D168F8E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5114925"/>
            <a:ext cx="942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Grounded-</a:t>
            </a:r>
          </a:p>
          <a:p xmlns:a="http://schemas.openxmlformats.org/drawingml/2006/main">
            <a:pPr algn="ctr">
              <a:defRPr sz="1500" b="1" i="0">
                <a:solidFill>
                  <a:srgbClr val="FF8B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B13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47" name="input-top">
            <a:extLst xmlns:a="http://schemas.openxmlformats.org/drawingml/2006/main">
              <a:ext uri="{FF2B5EF4-FFF2-40B4-BE49-F238E27FC236}">
                <a16:creationId xmlns:a16="http://schemas.microsoft.com/office/drawing/2014/main" id="{6B286EA5-4881-41E9-9954-5358B49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1304925"/>
            <a:ext cx="600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8" name="input-bottom">
            <a:extLst xmlns:a="http://schemas.openxmlformats.org/drawingml/2006/main">
              <a:ext uri="{FF2B5EF4-FFF2-40B4-BE49-F238E27FC236}">
                <a16:creationId xmlns:a16="http://schemas.microsoft.com/office/drawing/2014/main" id="{5D45ACCF-C1BA-4335-B735-3F92185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4572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9" name="ood-title">
            <a:extLst xmlns:a="http://schemas.openxmlformats.org/drawingml/2006/main">
              <a:ext uri="{FF2B5EF4-FFF2-40B4-BE49-F238E27FC236}">
                <a16:creationId xmlns:a16="http://schemas.microsoft.com/office/drawing/2014/main" id="{63AA3E75-0E49-4137-B9C4-DB76459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15277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 i="0">
                <a:solidFill>
                  <a:srgbClr val="D054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D0546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05460"/>
                </a:solidFill>
                <a:latin typeface="Arial"/>
                <a:ea typeface="Arial"/>
                <a:cs typeface="Arial"/>
              </a:rPr>
              <a:t>DMP Reparameterization to OOD Scenes</a:t>
            </a:r>
          </a:p>
        </p:txBody>
      </p:sp>
      <p:sp>
        <p:nvSpPr>
          <p:cNvPr id="50" name="rgbd-title">
            <a:extLst xmlns:a="http://schemas.openxmlformats.org/drawingml/2006/main">
              <a:ext uri="{FF2B5EF4-FFF2-40B4-BE49-F238E27FC236}">
                <a16:creationId xmlns:a16="http://schemas.microsoft.com/office/drawing/2014/main" id="{B79DFC5F-A6C8-41DF-ACE3-C8FC437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3581400"/>
            <a:ext cx="1657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RGB-D Image</a:t>
            </a:r>
          </a:p>
        </p:txBody>
      </p:sp>
      <p:sp>
        <p:nvSpPr>
          <p:cNvPr id="51" name="ood-frame-title">
            <a:extLst xmlns:a="http://schemas.openxmlformats.org/drawingml/2006/main">
              <a:ext uri="{FF2B5EF4-FFF2-40B4-BE49-F238E27FC236}">
                <a16:creationId xmlns:a16="http://schemas.microsoft.com/office/drawing/2014/main" id="{AB3244B5-5D4A-4EE1-B39A-FCBA5B2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581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OOD Frame Extraction</a:t>
            </a:r>
          </a:p>
        </p:txBody>
      </p:sp>
      <p:sp>
        <p:nvSpPr>
          <p:cNvPr id="52" name="grounding-bottom-label">
            <a:extLst xmlns:a="http://schemas.openxmlformats.org/drawingml/2006/main">
              <a:ext uri="{FF2B5EF4-FFF2-40B4-BE49-F238E27FC236}">
                <a16:creationId xmlns:a16="http://schemas.microsoft.com/office/drawing/2014/main" id="{C8AAB4ED-89D7-4E99-AEBE-B1E86AE2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439102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53" name="reparameterization-label">
            <a:extLst xmlns:a="http://schemas.openxmlformats.org/drawingml/2006/main">
              <a:ext uri="{FF2B5EF4-FFF2-40B4-BE49-F238E27FC236}">
                <a16:creationId xmlns:a16="http://schemas.microsoft.com/office/drawing/2014/main" id="{F87D2C6F-743E-4B18-AF85-38FCA72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36766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DMP</a:t>
            </a:r>
          </a:p>
          <a:p xmlns:a="http://schemas.openxmlformats.org/drawingml/2006/main">
            <a:pPr algn="ctr">
              <a:defRPr sz="1725" b="1" i="0">
                <a:solidFill>
                  <a:srgbClr val="B54B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54B53"/>
                </a:solidFill>
                <a:latin typeface="Arial"/>
                <a:ea typeface="Arial"/>
                <a:cs typeface="Arial"/>
              </a:rPr>
              <a:t>Reparameterization</a:t>
            </a:r>
          </a:p>
        </p:txBody>
      </p:sp>
      <p:sp>
        <p:nvSpPr>
          <p:cNvPr id="54" name="rollout-label">
            <a:extLst xmlns:a="http://schemas.openxmlformats.org/drawingml/2006/main">
              <a:ext uri="{FF2B5EF4-FFF2-40B4-BE49-F238E27FC236}">
                <a16:creationId xmlns:a16="http://schemas.microsoft.com/office/drawing/2014/main" id="{1B28122A-2B88-4FF5-B0D6-170495C8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3338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 Out</a:t>
            </a:r>
          </a:p>
        </p:txBody>
      </p:sp>
      <p:sp>
        <p:nvSpPr>
          <p:cNvPr id="55" name="robust-generalization">
            <a:extLst xmlns:a="http://schemas.openxmlformats.org/drawingml/2006/main">
              <a:ext uri="{FF2B5EF4-FFF2-40B4-BE49-F238E27FC236}">
                <a16:creationId xmlns:a16="http://schemas.microsoft.com/office/drawing/2014/main" id="{89F04B72-6345-4DD7-B74D-C453FB9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5600700"/>
            <a:ext cx="2028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CB8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CB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B8681"/>
                </a:solidFill>
                <a:latin typeface="Arial"/>
                <a:ea typeface="Arial"/>
                <a:cs typeface="Arial"/>
              </a:rPr>
              <a:t>Robust Generalization</a:t>
            </a:r>
          </a:p>
        </p:txBody>
      </p:sp>
      <p:sp>
        <p:nvSpPr>
          <p:cNvPr id="56" name="generalization-box-0">
            <a:extLst xmlns:a="http://schemas.openxmlformats.org/drawingml/2006/main">
              <a:ext uri="{FF2B5EF4-FFF2-40B4-BE49-F238E27FC236}">
                <a16:creationId xmlns:a16="http://schemas.microsoft.com/office/drawing/2014/main" id="{EA331163-9C37-4DE0-8982-5F61536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5867400"/>
            <a:ext cx="1028700" cy="485775"/>
          </a:xfrm>
          <a:custGeom xmlns:a="http://schemas.openxmlformats.org/drawingml/2006/main">
            <a:pathLst>
              <a:path w="1028700" h="485775">
                <a:moveTo>
                  <a:pt x="66675" y="0"/>
                </a:moveTo>
                <a:lnTo>
                  <a:pt x="962025" y="0"/>
                </a:lnTo>
                <a:cubicBezTo>
                  <a:pt x="998849" y="0"/>
                  <a:pt x="1028700" y="29851"/>
                  <a:pt x="1028700" y="66675"/>
                </a:cubicBezTo>
                <a:lnTo>
                  <a:pt x="1028700" y="419100"/>
                </a:lnTo>
                <a:cubicBezTo>
                  <a:pt x="1028700" y="455924"/>
                  <a:pt x="998849" y="485775"/>
                  <a:pt x="962025" y="485775"/>
                </a:cubicBezTo>
                <a:lnTo>
                  <a:pt x="66675" y="485775"/>
                </a:lnTo>
                <a:cubicBezTo>
                  <a:pt x="29851" y="485775"/>
                  <a:pt x="0" y="455924"/>
                  <a:pt x="0" y="4191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E7CE"/>
          </a:solidFill>
          <a:ln xmlns:a="http://schemas.openxmlformats.org/drawingml/2006/main" w="28575">
            <a:solidFill>
              <a:srgbClr val="FD7771"/>
            </a:solidFill>
            <a:prstDash val="solid"/>
          </a:ln>
        </p:spPr>
      </p:sp>
      <p:sp>
        <p:nvSpPr>
          <p:cNvPr id="57" name="generalization-0">
            <a:extLst xmlns:a="http://schemas.openxmlformats.org/drawingml/2006/main">
              <a:ext uri="{FF2B5EF4-FFF2-40B4-BE49-F238E27FC236}">
                <a16:creationId xmlns:a16="http://schemas.microsoft.com/office/drawing/2014/main" id="{B5E5BAD9-8B60-4F89-A448-D633B8C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5895975"/>
            <a:ext cx="97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Anchoring</a:t>
            </a:r>
          </a:p>
        </p:txBody>
      </p:sp>
      <p:sp>
        <p:nvSpPr>
          <p:cNvPr id="58" name="generalization-box-1">
            <a:extLst xmlns:a="http://schemas.openxmlformats.org/drawingml/2006/main">
              <a:ext uri="{FF2B5EF4-FFF2-40B4-BE49-F238E27FC236}">
                <a16:creationId xmlns:a16="http://schemas.microsoft.com/office/drawing/2014/main" id="{1CE01F6A-9F09-438B-9B93-84E526D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5867400"/>
            <a:ext cx="1171575" cy="485775"/>
          </a:xfrm>
          <a:custGeom xmlns:a="http://schemas.openxmlformats.org/drawingml/2006/main">
            <a:pathLst>
              <a:path w="1171575" h="485775">
                <a:moveTo>
                  <a:pt x="66675" y="0"/>
                </a:moveTo>
                <a:lnTo>
                  <a:pt x="1104900" y="0"/>
                </a:lnTo>
                <a:cubicBezTo>
                  <a:pt x="1141724" y="0"/>
                  <a:pt x="1171575" y="29851"/>
                  <a:pt x="1171575" y="66675"/>
                </a:cubicBezTo>
                <a:lnTo>
                  <a:pt x="1171575" y="419100"/>
                </a:lnTo>
                <a:cubicBezTo>
                  <a:pt x="1171575" y="455924"/>
                  <a:pt x="1141724" y="485775"/>
                  <a:pt x="1104900" y="485775"/>
                </a:cubicBezTo>
                <a:lnTo>
                  <a:pt x="66675" y="485775"/>
                </a:lnTo>
                <a:cubicBezTo>
                  <a:pt x="29851" y="485775"/>
                  <a:pt x="0" y="455924"/>
                  <a:pt x="0" y="4191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E7CE"/>
          </a:solidFill>
          <a:ln xmlns:a="http://schemas.openxmlformats.org/drawingml/2006/main" w="28575">
            <a:solidFill>
              <a:srgbClr val="FD7771"/>
            </a:solidFill>
            <a:prstDash val="solid"/>
          </a:ln>
        </p:spPr>
      </p:sp>
      <p:sp>
        <p:nvSpPr>
          <p:cNvPr id="59" name="generalization-1">
            <a:extLst xmlns:a="http://schemas.openxmlformats.org/drawingml/2006/main">
              <a:ext uri="{FF2B5EF4-FFF2-40B4-BE49-F238E27FC236}">
                <a16:creationId xmlns:a16="http://schemas.microsoft.com/office/drawing/2014/main" id="{47D26526-64C5-42F4-B314-7E79D727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5895975"/>
            <a:ext cx="111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Unified Pose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Adaptation</a:t>
            </a:r>
          </a:p>
        </p:txBody>
      </p:sp>
      <p:sp>
        <p:nvSpPr>
          <p:cNvPr id="60" name="flow-marker-0">
            <a:extLst xmlns:a="http://schemas.openxmlformats.org/drawingml/2006/main">
              <a:ext uri="{FF2B5EF4-FFF2-40B4-BE49-F238E27FC236}">
                <a16:creationId xmlns:a16="http://schemas.microsoft.com/office/drawing/2014/main" id="{C6680885-2982-49A4-ADED-43A0B76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110490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flow-marker-1">
            <a:extLst xmlns:a="http://schemas.openxmlformats.org/drawingml/2006/main">
              <a:ext uri="{FF2B5EF4-FFF2-40B4-BE49-F238E27FC236}">
                <a16:creationId xmlns:a16="http://schemas.microsoft.com/office/drawing/2014/main" id="{EBCBBA03-8344-44DF-96D9-DC47D1C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160020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flow-marker-2">
            <a:extLst xmlns:a="http://schemas.openxmlformats.org/drawingml/2006/main">
              <a:ext uri="{FF2B5EF4-FFF2-40B4-BE49-F238E27FC236}">
                <a16:creationId xmlns:a16="http://schemas.microsoft.com/office/drawing/2014/main" id="{C1C2B43D-A6AE-48B6-8577-E6A9BD5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1323975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flow-marker-3">
            <a:extLst xmlns:a="http://schemas.openxmlformats.org/drawingml/2006/main">
              <a:ext uri="{FF2B5EF4-FFF2-40B4-BE49-F238E27FC236}">
                <a16:creationId xmlns:a16="http://schemas.microsoft.com/office/drawing/2014/main" id="{0E566CC9-1CFA-42E3-8C98-63D0BC1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425" y="1038225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flow-marker-4">
            <a:extLst xmlns:a="http://schemas.openxmlformats.org/drawingml/2006/main">
              <a:ext uri="{FF2B5EF4-FFF2-40B4-BE49-F238E27FC236}">
                <a16:creationId xmlns:a16="http://schemas.microsoft.com/office/drawing/2014/main" id="{05AE8F7A-419D-42FF-AB95-1EA561F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425" y="154305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flow-marker-5">
            <a:extLst xmlns:a="http://schemas.openxmlformats.org/drawingml/2006/main">
              <a:ext uri="{FF2B5EF4-FFF2-40B4-BE49-F238E27FC236}">
                <a16:creationId xmlns:a16="http://schemas.microsoft.com/office/drawing/2014/main" id="{320C8E67-E72D-48D7-9AF1-AC32192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135255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flow-marker-6">
            <a:extLst xmlns:a="http://schemas.openxmlformats.org/drawingml/2006/main">
              <a:ext uri="{FF2B5EF4-FFF2-40B4-BE49-F238E27FC236}">
                <a16:creationId xmlns:a16="http://schemas.microsoft.com/office/drawing/2014/main" id="{5690CB21-19A5-43A9-8B2B-7BAD5BBD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116205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flow-marker-7">
            <a:extLst xmlns:a="http://schemas.openxmlformats.org/drawingml/2006/main">
              <a:ext uri="{FF2B5EF4-FFF2-40B4-BE49-F238E27FC236}">
                <a16:creationId xmlns:a16="http://schemas.microsoft.com/office/drawing/2014/main" id="{437FB720-DC13-4C0A-8D30-9614699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1666875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flow-marker-8">
            <a:extLst xmlns:a="http://schemas.openxmlformats.org/drawingml/2006/main">
              <a:ext uri="{FF2B5EF4-FFF2-40B4-BE49-F238E27FC236}">
                <a16:creationId xmlns:a16="http://schemas.microsoft.com/office/drawing/2014/main" id="{DF222035-D77A-4183-90E0-3579522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441960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flow-marker-9">
            <a:extLst xmlns:a="http://schemas.openxmlformats.org/drawingml/2006/main">
              <a:ext uri="{FF2B5EF4-FFF2-40B4-BE49-F238E27FC236}">
                <a16:creationId xmlns:a16="http://schemas.microsoft.com/office/drawing/2014/main" id="{C73FD5DF-7DFE-4468-965D-EAAE71C8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491490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flow-marker-10">
            <a:extLst xmlns:a="http://schemas.openxmlformats.org/drawingml/2006/main">
              <a:ext uri="{FF2B5EF4-FFF2-40B4-BE49-F238E27FC236}">
                <a16:creationId xmlns:a16="http://schemas.microsoft.com/office/drawing/2014/main" id="{57DF514D-CA6E-4C1B-9E7D-B8CF5AB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667250"/>
            <a:ext cx="123825" cy="152400"/>
          </a:xfrm>
          <a:custGeom xmlns:a="http://schemas.openxmlformats.org/drawingml/2006/main">
            <a:pathLst>
              <a:path w="123825" h="152400">
                <a:moveTo>
                  <a:pt x="0" y="0"/>
                </a:moveTo>
                <a:lnTo>
                  <a:pt x="12382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low-marker-11">
            <a:extLst xmlns:a="http://schemas.openxmlformats.org/drawingml/2006/main">
              <a:ext uri="{FF2B5EF4-FFF2-40B4-BE49-F238E27FC236}">
                <a16:creationId xmlns:a16="http://schemas.microsoft.com/office/drawing/2014/main" id="{C55CCF87-9729-4CAF-AB32-D520E9DD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381500"/>
            <a:ext cx="161925" cy="123825"/>
          </a:xfrm>
          <a:custGeom xmlns:a="http://schemas.openxmlformats.org/drawingml/2006/main">
            <a:pathLst>
              <a:path w="161925" h="123825">
                <a:moveTo>
                  <a:pt x="0" y="0"/>
                </a:moveTo>
                <a:lnTo>
                  <a:pt x="161925" y="0"/>
                </a:lnTo>
                <a:lnTo>
                  <a:pt x="76200" y="123825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low-marker-12">
            <a:extLst xmlns:a="http://schemas.openxmlformats.org/drawingml/2006/main">
              <a:ext uri="{FF2B5EF4-FFF2-40B4-BE49-F238E27FC236}">
                <a16:creationId xmlns:a16="http://schemas.microsoft.com/office/drawing/2014/main" id="{3242A46B-0231-4C47-87BA-86DC65E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4381500"/>
            <a:ext cx="161925" cy="123825"/>
          </a:xfrm>
          <a:custGeom xmlns:a="http://schemas.openxmlformats.org/drawingml/2006/main">
            <a:pathLst>
              <a:path w="161925" h="123825">
                <a:moveTo>
                  <a:pt x="0" y="0"/>
                </a:moveTo>
                <a:lnTo>
                  <a:pt x="161925" y="0"/>
                </a:lnTo>
                <a:lnTo>
                  <a:pt x="76200" y="123825"/>
                </a:lnTo>
                <a:close/>
              </a:path>
            </a:pathLst>
          </a:custGeom>
          <a:solidFill xmlns:a="http://schemas.openxmlformats.org/drawingml/2006/main">
            <a:srgbClr val="FFD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emo-to-dmp">
            <a:extLst xmlns:a="http://schemas.openxmlformats.org/drawingml/2006/main">
              <a:ext uri="{FF2B5EF4-FFF2-40B4-BE49-F238E27FC236}">
                <a16:creationId xmlns:a16="http://schemas.microsoft.com/office/drawing/2014/main" id="{238482F6-E348-4B5E-A5D1-AE2751B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181225"/>
            <a:ext cx="8953500" cy="866775"/>
          </a:xfrm>
          <a:custGeom xmlns:a="http://schemas.openxmlformats.org/drawingml/2006/main">
            <a:pathLst>
              <a:path w="8953500" h="866775">
                <a:moveTo>
                  <a:pt x="0" y="0"/>
                </a:moveTo>
                <a:lnTo>
                  <a:pt x="142875" y="0"/>
                </a:lnTo>
                <a:lnTo>
                  <a:pt x="142875" y="685800"/>
                </a:lnTo>
                <a:cubicBezTo>
                  <a:pt x="142875" y="723900"/>
                  <a:pt x="171450" y="723900"/>
                  <a:pt x="219075" y="723900"/>
                </a:cubicBezTo>
                <a:lnTo>
                  <a:pt x="8763000" y="723900"/>
                </a:lnTo>
                <a:cubicBezTo>
                  <a:pt x="8810625" y="723900"/>
                  <a:pt x="8810625" y="695325"/>
                  <a:pt x="8810625" y="657225"/>
                </a:cubicBezTo>
                <a:lnTo>
                  <a:pt x="8810625" y="228600"/>
                </a:lnTo>
                <a:lnTo>
                  <a:pt x="8724900" y="228600"/>
                </a:lnTo>
                <a:lnTo>
                  <a:pt x="8886825" y="76200"/>
                </a:lnTo>
                <a:lnTo>
                  <a:pt x="9048750" y="228600"/>
                </a:lnTo>
                <a:lnTo>
                  <a:pt x="8963025" y="228600"/>
                </a:lnTo>
                <a:lnTo>
                  <a:pt x="8963025" y="695325"/>
                </a:lnTo>
                <a:cubicBezTo>
                  <a:pt x="8963025" y="819150"/>
                  <a:pt x="8915400" y="866775"/>
                  <a:pt x="8782050" y="866775"/>
                </a:cubicBezTo>
                <a:lnTo>
                  <a:pt x="190500" y="866775"/>
                </a:lnTo>
                <a:cubicBezTo>
                  <a:pt x="47625" y="866775"/>
                  <a:pt x="0" y="819150"/>
                  <a:pt x="0" y="666750"/>
                </a:cubicBezTo>
                <a:close/>
              </a:path>
            </a:pathLst>
          </a:custGeom>
          <a:solidFill xmlns:a="http://schemas.openxmlformats.org/drawingml/2006/main">
            <a:srgbClr val="9BA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mp-return">
            <a:extLst xmlns:a="http://schemas.openxmlformats.org/drawingml/2006/main">
              <a:ext uri="{FF2B5EF4-FFF2-40B4-BE49-F238E27FC236}">
                <a16:creationId xmlns:a16="http://schemas.microsoft.com/office/drawing/2014/main" id="{81224154-818C-4859-89E0-DBA569F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257425"/>
            <a:ext cx="895350" cy="1838325"/>
          </a:xfrm>
          <a:custGeom xmlns:a="http://schemas.openxmlformats.org/drawingml/2006/main">
            <a:pathLst>
              <a:path w="895350" h="1838325">
                <a:moveTo>
                  <a:pt x="752475" y="0"/>
                </a:moveTo>
                <a:lnTo>
                  <a:pt x="895350" y="0"/>
                </a:lnTo>
                <a:lnTo>
                  <a:pt x="895350" y="1619250"/>
                </a:lnTo>
                <a:lnTo>
                  <a:pt x="847725" y="1743075"/>
                </a:lnTo>
                <a:lnTo>
                  <a:pt x="171450" y="1762125"/>
                </a:lnTo>
                <a:lnTo>
                  <a:pt x="171450" y="1838325"/>
                </a:lnTo>
                <a:lnTo>
                  <a:pt x="0" y="1695450"/>
                </a:lnTo>
                <a:lnTo>
                  <a:pt x="171450" y="1543050"/>
                </a:lnTo>
                <a:lnTo>
                  <a:pt x="171450" y="1619250"/>
                </a:lnTo>
                <a:lnTo>
                  <a:pt x="714375" y="1619250"/>
                </a:lnTo>
                <a:lnTo>
                  <a:pt x="752475" y="1571625"/>
                </a:lnTo>
                <a:close/>
              </a:path>
            </a:pathLst>
          </a:custGeom>
          <a:solidFill xmlns:a="http://schemas.openxmlformats.org/drawingml/2006/main">
            <a:srgbClr val="8E8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ood-frame-to-dmp">
            <a:extLst xmlns:a="http://schemas.openxmlformats.org/drawingml/2006/main">
              <a:ext uri="{FF2B5EF4-FFF2-40B4-BE49-F238E27FC236}">
                <a16:creationId xmlns:a16="http://schemas.microsoft.com/office/drawing/2014/main" id="{EA5F6457-B09F-4DE4-839F-5036EA91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4324350"/>
            <a:ext cx="666750" cy="504825"/>
          </a:xfrm>
          <a:custGeom xmlns:a="http://schemas.openxmlformats.org/drawingml/2006/main">
            <a:pathLst>
              <a:path w="666750" h="504825">
                <a:moveTo>
                  <a:pt x="0" y="361950"/>
                </a:moveTo>
                <a:lnTo>
                  <a:pt x="381000" y="361950"/>
                </a:lnTo>
                <a:lnTo>
                  <a:pt x="428625" y="314325"/>
                </a:lnTo>
                <a:lnTo>
                  <a:pt x="428625" y="180975"/>
                </a:lnTo>
                <a:lnTo>
                  <a:pt x="342900" y="180975"/>
                </a:lnTo>
                <a:lnTo>
                  <a:pt x="504825" y="0"/>
                </a:lnTo>
                <a:lnTo>
                  <a:pt x="666750" y="180975"/>
                </a:lnTo>
                <a:lnTo>
                  <a:pt x="571500" y="180975"/>
                </a:lnTo>
                <a:lnTo>
                  <a:pt x="571500" y="352425"/>
                </a:lnTo>
                <a:lnTo>
                  <a:pt x="514350" y="457200"/>
                </a:lnTo>
                <a:lnTo>
                  <a:pt x="419100" y="504825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98B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3930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2026-10-09T21:37:52.1450000Z</dcterms:created>
  <dcterms:modified xsi:type="dcterms:W3CDTF">2026-10-09T21:37:52.1450000Z</dcterms:modified>
</coreProperties>
</file>