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54b91a205d471c" /><Relationship Type="http://schemas.openxmlformats.org/officeDocument/2006/relationships/extended-properties" Target="/docProps/app.xml" Id="Raf58332b672648d2" /><Relationship Type="http://schemas.openxmlformats.org/officeDocument/2006/relationships/officeDocument" Target="/ppt/presentation.xml" Id="R40b0971d67de4e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9e967ce1be47a6"/>
  </p:sldMasterIdLst>
  <p:notesMasterIdLst>
    <p:notesMasterId xmlns:r="http://schemas.openxmlformats.org/officeDocument/2006/relationships" r:id="R3a1cfd231dd34bfc"/>
  </p:notesMasterIdLst>
  <p:sldIdLst>
    <p:sldId xmlns:r="http://schemas.openxmlformats.org/officeDocument/2006/relationships" id="256" r:id="Ra0e2b0d3314b44ce"/>
  </p:sldIdLst>
  <p:sldSz cx="9563100" cy="7924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dd0361f970423d" /><Relationship Type="http://schemas.openxmlformats.org/officeDocument/2006/relationships/slideMaster" Target="/ppt/slideMasters/slideMaster1.xml" Id="R019e967ce1be47a6" /><Relationship Type="http://schemas.openxmlformats.org/officeDocument/2006/relationships/notesMaster" Target="/ppt/notesMasters/notesMaster1.xml" Id="R3a1cfd231dd34bfc" /><Relationship Type="http://schemas.openxmlformats.org/officeDocument/2006/relationships/presProps" Target="/ppt/presProps.xml" Id="R7656c4f736254be1" /><Relationship Type="http://schemas.openxmlformats.org/officeDocument/2006/relationships/tableStyles" Target="/ppt/tableStyles.xml" Id="Rf35af87947f24612" /><Relationship Type="http://schemas.openxmlformats.org/officeDocument/2006/relationships/slide" Target="/ppt/slides/slide1.xml" Id="Ra0e2b0d3314b44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0f886b40464b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757f2248c14bde" /><Relationship Type="http://schemas.openxmlformats.org/officeDocument/2006/relationships/notesMaster" Target="/ppt/notesMasters/notesMaster1.xml" Id="R1b04465b684f43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"Diverse Skill Discovery for Quadruped Robots via Unsupervised Learning",</a:t>
            </a:r>
          </a:p>
          <a:p xmlns:a="http://schemas.openxmlformats.org/drawingml/2006/main">
            <a:r>
              <a:t>  "paper_url": "https://arxiv.org/abs/2602.09767v1",</a:t>
            </a:r>
          </a:p>
          <a:p xmlns:a="http://schemas.openxmlformats.org/drawingml/2006/main">
            <a:r>
              <a:t>  "pdf_url": "https://arxiv.org/pdf/2602.09767v1",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"license": "No reuse license found in inspected source landing page; retain attribution and review reuse terms Private user-requested adaptation; no public redistribution permission implied.",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"notes": "Manually reconstructed from the inspected original flattened PDF figure. Ordinary labels are live typeable text; panels, graph geometry and arrows are native editable shapes or paths. Source layout and contents retained; font metrics, line widths and decorative effects approximated.",</a:t>
            </a:r>
          </a:p>
          <a:p xmlns:a="http://schemas.openxmlformats.org/drawingml/2006/main">
            <a:r>
              <a:t>  "source_sha256": "8f30a75f0ebc698d59e09576720224bf3194f63e570d386a394a1a77dac9e9f8",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48,</a:t>
            </a:r>
          </a:p>
          <a:p xmlns:a="http://schemas.openxmlformats.org/drawingml/2006/main">
            <a:r>
              <a:t>    48,</a:t>
            </a:r>
          </a:p>
          <a:p xmlns:a="http://schemas.openxmlformats.org/drawingml/2006/main">
            <a:r>
              <a:t>    299,</a:t>
            </a:r>
          </a:p>
          <a:p xmlns:a="http://schemas.openxmlformats.org/drawingml/2006/main">
            <a:r>
              <a:t>    256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"survey_crop_correction": false,</a:t>
            </a:r>
          </a:p>
          <a:p xmlns:a="http://schemas.openxmlformats.org/drawingml/2006/main">
            <a:r>
              <a:t>  "visual_inspection": "Original PDF figure inspected before source-layout reconstruction on 2026-10-09; independent application QA pending.",</a:t>
            </a:r>
          </a:p>
          <a:p xmlns:a="http://schemas.openxmlformats.org/drawingml/2006/main">
            <a:r>
              <a:t>  "raster_details":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"quadruped-observation",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15,</a:t>
            </a:r>
          </a:p>
          <a:p xmlns:a="http://schemas.openxmlformats.org/drawingml/2006/main">
            <a:r>
              <a:t>        32,</a:t>
            </a:r>
          </a:p>
          <a:p xmlns:a="http://schemas.openxmlformats.org/drawingml/2006/main">
            <a:r>
              <a:t>        274,</a:t>
            </a:r>
          </a:p>
          <a:p xmlns:a="http://schemas.openxmlformats.org/drawingml/2006/main">
            <a:r>
              <a:t>        226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quadruped simulation photograph; robot and ground-grid pixels remain raster"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a6af06ccc49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08ac0003c41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de9c8f27045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efa389d3849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219d41e9414e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14e1f4c2640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C9C63E-0D98-4731-B7CA-E4D5D6C4B4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6310" y="2993813"/>
            <a:ext cx="7650480" cy="1144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7AE85A-21EA-455E-AFBB-44A954020D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34465" y="4358640"/>
            <a:ext cx="669417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F1B646-5050-48C9-8528-8E3D679F42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6310" y="3302000"/>
            <a:ext cx="7650480" cy="132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2F6EA0-2467-4C4E-9256-F99BC8D005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7924" y="616373"/>
            <a:ext cx="8487251" cy="968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235831-2B58-4293-92DE-41CB27E17D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37924" y="2201333"/>
            <a:ext cx="8487251" cy="493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9308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1pPr>
            <a:lvl2pPr marL="418386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2pPr>
            <a:lvl3pPr marL="657463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3pPr>
            <a:lvl4pPr marL="896541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4pPr>
            <a:lvl5pPr marL="1135618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5pPr>
            <a:lvl6pPr marL="1374696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6pPr>
            <a:lvl7pPr marL="1613773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7pPr>
            <a:lvl8pPr marL="1852851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8pPr>
            <a:lvl9pPr marL="2091928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1860F1-AE4C-49F0-A1AC-25DDAC2E24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7924" y="616373"/>
            <a:ext cx="8487251" cy="968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8E4003-31D5-42EE-8C0A-6B6F62CE77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37924" y="2201333"/>
            <a:ext cx="3944779" cy="493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9308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1pPr>
            <a:lvl2pPr marL="418386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2pPr>
            <a:lvl3pPr marL="657463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3pPr>
            <a:lvl4pPr marL="896541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4pPr>
            <a:lvl5pPr marL="1135618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5pPr>
            <a:lvl6pPr marL="1374696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6pPr>
            <a:lvl7pPr marL="1613773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7pPr>
            <a:lvl8pPr marL="1852851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8pPr>
            <a:lvl9pPr marL="2091928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D1A784-AC44-41ED-88F8-9CAD342307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080397" y="2201333"/>
            <a:ext cx="3944779" cy="493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9308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1pPr>
            <a:lvl2pPr marL="418386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2pPr>
            <a:lvl3pPr marL="657463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3pPr>
            <a:lvl4pPr marL="896541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4pPr>
            <a:lvl5pPr marL="1135618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5pPr>
            <a:lvl6pPr marL="1374696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6pPr>
            <a:lvl7pPr marL="1613773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7pPr>
            <a:lvl8pPr marL="1852851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8pPr>
            <a:lvl9pPr marL="2091928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0472E8-96BB-4806-825A-7B924A42E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7924" y="616373"/>
            <a:ext cx="8487251" cy="968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8C4F66-73DF-4BC3-ADF9-E0165E175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37924" y="2201333"/>
            <a:ext cx="3944779" cy="493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6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9308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1pPr>
            <a:lvl2pPr marL="418386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2pPr>
            <a:lvl3pPr marL="657463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3pPr>
            <a:lvl4pPr marL="896541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4pPr>
            <a:lvl5pPr marL="1135618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5pPr>
            <a:lvl6pPr marL="1374696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6pPr>
            <a:lvl7pPr marL="1613773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7pPr>
            <a:lvl8pPr marL="1852851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8pPr>
            <a:lvl9pPr marL="2091928" indent="-179308">
              <a:lnSpc>
                <a:spcPct val="110000"/>
              </a:lnSpc>
              <a:spcBef>
                <a:spcPts val="0"/>
              </a:spcBef>
              <a:spcAft>
                <a:spcPts val="94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0b6217e3f744ea" /><Relationship Type="http://schemas.openxmlformats.org/officeDocument/2006/relationships/slideLayout" Target="/ppt/slideLayouts/slideLayout1.xml" Id="Rb7ffb222b52e4103" /><Relationship Type="http://schemas.openxmlformats.org/officeDocument/2006/relationships/slideLayout" Target="/ppt/slideLayouts/slideLayout2.xml" Id="R1948372cbe954d3c" /><Relationship Type="http://schemas.openxmlformats.org/officeDocument/2006/relationships/slideLayout" Target="/ppt/slideLayouts/slideLayout3.xml" Id="Rcb07ad2babc64b75" /><Relationship Type="http://schemas.openxmlformats.org/officeDocument/2006/relationships/slideLayout" Target="/ppt/slideLayouts/slideLayout4.xml" Id="R5bee308ff1d24a4b" /><Relationship Type="http://schemas.openxmlformats.org/officeDocument/2006/relationships/slideLayout" Target="/ppt/slideLayouts/slideLayout5.xml" Id="R892df7805a7c4ed7" /><Relationship Type="http://schemas.openxmlformats.org/officeDocument/2006/relationships/slideLayout" Target="/ppt/slideLayouts/slideLayout6.xml" Id="Rcee4f8cd5d494e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fb222b52e4103"/>
    <p:sldLayoutId xmlns:r="http://schemas.openxmlformats.org/officeDocument/2006/relationships" id="2147483650" r:id="R1948372cbe954d3c"/>
    <p:sldLayoutId xmlns:r="http://schemas.openxmlformats.org/officeDocument/2006/relationships" id="2147483651" r:id="Rcb07ad2babc64b75"/>
    <p:sldLayoutId xmlns:r="http://schemas.openxmlformats.org/officeDocument/2006/relationships" id="2147483652" r:id="R5bee308ff1d24a4b"/>
    <p:sldLayoutId xmlns:r="http://schemas.openxmlformats.org/officeDocument/2006/relationships" id="2147483653" r:id="R892df7805a7c4ed7"/>
    <p:sldLayoutId xmlns:r="http://schemas.openxmlformats.org/officeDocument/2006/relationships" id="2147483654" r:id="Rcee4f8cd5d494e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103be48f3148a6" /><Relationship Type="http://schemas.openxmlformats.org/officeDocument/2006/relationships/image" Target="/ppt/media/image.png" Id="R7c4a5def80da4fd5" /><Relationship Type="http://schemas.openxmlformats.org/officeDocument/2006/relationships/notesSlide" Target="/ppt/notesSlides/notesSlide1.xml" Id="R9daf12c9f56343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sampler-panel">
            <a:extLst xmlns:a="http://schemas.openxmlformats.org/drawingml/2006/main">
              <a:ext uri="{FF2B5EF4-FFF2-40B4-BE49-F238E27FC236}">
                <a16:creationId xmlns:a16="http://schemas.microsoft.com/office/drawing/2014/main" id="{216E816A-DBE2-48F8-9D7A-D583A681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133475"/>
            <a:ext cx="2286000" cy="2247900"/>
          </a:xfrm>
          <a:custGeom xmlns:a="http://schemas.openxmlformats.org/drawingml/2006/main">
            <a:pathLst>
              <a:path w="2286000" h="2247900">
                <a:moveTo>
                  <a:pt x="409575" y="0"/>
                </a:moveTo>
                <a:lnTo>
                  <a:pt x="1876425" y="0"/>
                </a:lnTo>
                <a:cubicBezTo>
                  <a:pt x="2102627" y="0"/>
                  <a:pt x="2286000" y="183373"/>
                  <a:pt x="2286000" y="409575"/>
                </a:cubicBezTo>
                <a:lnTo>
                  <a:pt x="2286000" y="1838325"/>
                </a:lnTo>
                <a:cubicBezTo>
                  <a:pt x="2286000" y="2064527"/>
                  <a:pt x="2102627" y="2247900"/>
                  <a:pt x="1876425" y="2247900"/>
                </a:cubicBezTo>
                <a:lnTo>
                  <a:pt x="409575" y="2247900"/>
                </a:lnTo>
                <a:cubicBezTo>
                  <a:pt x="183373" y="2247900"/>
                  <a:pt x="0" y="2064527"/>
                  <a:pt x="0" y="1838325"/>
                </a:cubicBezTo>
                <a:lnTo>
                  <a:pt x="0" y="409575"/>
                </a:lnTo>
                <a:cubicBezTo>
                  <a:pt x="0" y="183373"/>
                  <a:pt x="183373" y="0"/>
                  <a:pt x="409575" y="0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19050">
            <a:solidFill>
              <a:srgbClr val="DDDDDD"/>
            </a:solidFill>
            <a:prstDash val="solid"/>
          </a:ln>
        </p:spPr>
      </p:sp>
      <p:sp>
        <p:nvSpPr>
          <p:cNvPr id="2" name="multi-panel">
            <a:extLst xmlns:a="http://schemas.openxmlformats.org/drawingml/2006/main">
              <a:ext uri="{FF2B5EF4-FFF2-40B4-BE49-F238E27FC236}">
                <a16:creationId xmlns:a16="http://schemas.microsoft.com/office/drawing/2014/main" id="{61E4A654-481D-4224-9999-3BCAC084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9075"/>
            <a:ext cx="3676650" cy="2828925"/>
          </a:xfrm>
          <a:custGeom xmlns:a="http://schemas.openxmlformats.org/drawingml/2006/main">
            <a:pathLst>
              <a:path w="3676650" h="2828925">
                <a:moveTo>
                  <a:pt x="495300" y="0"/>
                </a:moveTo>
                <a:lnTo>
                  <a:pt x="3181350" y="0"/>
                </a:lnTo>
                <a:cubicBezTo>
                  <a:pt x="3454897" y="0"/>
                  <a:pt x="3676650" y="221753"/>
                  <a:pt x="3676650" y="495300"/>
                </a:cubicBezTo>
                <a:lnTo>
                  <a:pt x="3676650" y="2333625"/>
                </a:lnTo>
                <a:cubicBezTo>
                  <a:pt x="3676650" y="2607172"/>
                  <a:pt x="3454897" y="2828925"/>
                  <a:pt x="3181350" y="2828925"/>
                </a:cubicBezTo>
                <a:lnTo>
                  <a:pt x="495300" y="2828925"/>
                </a:lnTo>
                <a:cubicBezTo>
                  <a:pt x="221753" y="2828925"/>
                  <a:pt x="0" y="2607172"/>
                  <a:pt x="0" y="2333625"/>
                </a:cubicBezTo>
                <a:lnTo>
                  <a:pt x="0" y="495300"/>
                </a:lnTo>
                <a:cubicBezTo>
                  <a:pt x="0" y="221753"/>
                  <a:pt x="221753" y="0"/>
                  <a:pt x="495300" y="0"/>
                </a:cubicBezTo>
                <a:close/>
              </a:path>
            </a:pathLst>
          </a:custGeom>
          <a:solidFill xmlns:a="http://schemas.openxmlformats.org/drawingml/2006/main">
            <a:srgbClr val="DFEFF9"/>
          </a:solidFill>
          <a:ln xmlns:a="http://schemas.openxmlformats.org/drawingml/2006/main" w="19050">
            <a:solidFill>
              <a:srgbClr val="B7DCF4"/>
            </a:solidFill>
            <a:prstDash val="solid"/>
          </a:ln>
        </p:spPr>
      </p:sp>
      <p:sp>
        <p:nvSpPr>
          <p:cNvPr id="3" name="policy-panel">
            <a:extLst xmlns:a="http://schemas.openxmlformats.org/drawingml/2006/main">
              <a:ext uri="{FF2B5EF4-FFF2-40B4-BE49-F238E27FC236}">
                <a16:creationId xmlns:a16="http://schemas.microsoft.com/office/drawing/2014/main" id="{0A1669E0-D6A4-47E8-A99E-8ED50CA1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76675"/>
            <a:ext cx="5762625" cy="3829050"/>
          </a:xfrm>
          <a:custGeom xmlns:a="http://schemas.openxmlformats.org/drawingml/2006/main">
            <a:pathLst>
              <a:path w="5762625" h="3829050">
                <a:moveTo>
                  <a:pt x="657225" y="0"/>
                </a:moveTo>
                <a:lnTo>
                  <a:pt x="5105400" y="0"/>
                </a:lnTo>
                <a:cubicBezTo>
                  <a:pt x="5468375" y="0"/>
                  <a:pt x="5762625" y="294250"/>
                  <a:pt x="5762625" y="657225"/>
                </a:cubicBezTo>
                <a:lnTo>
                  <a:pt x="5762625" y="3171825"/>
                </a:lnTo>
                <a:cubicBezTo>
                  <a:pt x="5762625" y="3534800"/>
                  <a:pt x="5468375" y="3829050"/>
                  <a:pt x="5105400" y="3829050"/>
                </a:cubicBezTo>
                <a:lnTo>
                  <a:pt x="657225" y="3829050"/>
                </a:lnTo>
                <a:cubicBezTo>
                  <a:pt x="294250" y="3829050"/>
                  <a:pt x="0" y="3534800"/>
                  <a:pt x="0" y="3171825"/>
                </a:cubicBezTo>
                <a:lnTo>
                  <a:pt x="0" y="657225"/>
                </a:lnTo>
                <a:cubicBezTo>
                  <a:pt x="0" y="294250"/>
                  <a:pt x="294250" y="0"/>
                  <a:pt x="657225" y="0"/>
                </a:cubicBezTo>
                <a:close/>
              </a:path>
            </a:pathLst>
          </a:custGeom>
          <a:solidFill xmlns:a="http://schemas.openxmlformats.org/drawingml/2006/main">
            <a:srgbClr val="E1F2D7"/>
          </a:solidFill>
          <a:ln xmlns:a="http://schemas.openxmlformats.org/drawingml/2006/main" w="19050">
            <a:solidFill>
              <a:srgbClr val="BEDFAE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1B077-5565-444F-A8C8-E55FB0C89C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a5def80da4f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" y="304800"/>
            <a:ext cx="2466975" cy="1847850"/>
          </a:xfrm>
          <a:prstGeom xmlns:a="http://schemas.openxmlformats.org/drawingml/2006/main" prst="rect">
            <a:avLst/>
          </a:prstGeom>
        </p:spPr>
      </p:pic>
      <p:sp>
        <p:nvSpPr>
          <p:cNvPr id="5" name="quadruped-observation">
            <a:extLst xmlns:a="http://schemas.openxmlformats.org/drawingml/2006/main">
              <a:ext uri="{FF2B5EF4-FFF2-40B4-BE49-F238E27FC236}">
                <a16:creationId xmlns:a16="http://schemas.microsoft.com/office/drawing/2014/main" id="{5E99E780-8B30-4F82-87E7-A2D78A8D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04800"/>
            <a:ext cx="24669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motion-panel">
            <a:extLst xmlns:a="http://schemas.openxmlformats.org/drawingml/2006/main">
              <a:ext uri="{FF2B5EF4-FFF2-40B4-BE49-F238E27FC236}">
                <a16:creationId xmlns:a16="http://schemas.microsoft.com/office/drawing/2014/main" id="{9F592BD3-332B-466A-9D16-38D26CA5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9075"/>
            <a:ext cx="1857375" cy="771525"/>
          </a:xfrm>
          <a:custGeom xmlns:a="http://schemas.openxmlformats.org/drawingml/2006/main">
            <a:pathLst>
              <a:path w="1857375" h="771525">
                <a:moveTo>
                  <a:pt x="133350" y="0"/>
                </a:moveTo>
                <a:lnTo>
                  <a:pt x="1724025" y="0"/>
                </a:lnTo>
                <a:cubicBezTo>
                  <a:pt x="1797672" y="0"/>
                  <a:pt x="1857375" y="59703"/>
                  <a:pt x="1857375" y="133350"/>
                </a:cubicBezTo>
                <a:lnTo>
                  <a:pt x="1857375" y="638175"/>
                </a:lnTo>
                <a:cubicBezTo>
                  <a:pt x="1857375" y="711822"/>
                  <a:pt x="1797672" y="771525"/>
                  <a:pt x="1724025" y="771525"/>
                </a:cubicBezTo>
                <a:lnTo>
                  <a:pt x="133350" y="771525"/>
                </a:lnTo>
                <a:cubicBezTo>
                  <a:pt x="59703" y="771525"/>
                  <a:pt x="0" y="711822"/>
                  <a:pt x="0" y="6381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19395F"/>
            </a:solidFill>
            <a:prstDash val="solid"/>
          </a:ln>
        </p:spPr>
      </p:sp>
      <p:sp>
        <p:nvSpPr>
          <p:cNvPr id="7" name="policy-observation-panel">
            <a:extLst xmlns:a="http://schemas.openxmlformats.org/drawingml/2006/main">
              <a:ext uri="{FF2B5EF4-FFF2-40B4-BE49-F238E27FC236}">
                <a16:creationId xmlns:a16="http://schemas.microsoft.com/office/drawing/2014/main" id="{2A3B5999-3EAD-4A40-AFF9-D0D55EB9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600325"/>
            <a:ext cx="1857375" cy="781050"/>
          </a:xfrm>
          <a:custGeom xmlns:a="http://schemas.openxmlformats.org/drawingml/2006/main">
            <a:pathLst>
              <a:path w="1857375" h="781050">
                <a:moveTo>
                  <a:pt x="133350" y="0"/>
                </a:moveTo>
                <a:lnTo>
                  <a:pt x="1724025" y="0"/>
                </a:lnTo>
                <a:cubicBezTo>
                  <a:pt x="1797672" y="0"/>
                  <a:pt x="1857375" y="59703"/>
                  <a:pt x="1857375" y="133350"/>
                </a:cubicBezTo>
                <a:lnTo>
                  <a:pt x="1857375" y="647700"/>
                </a:lnTo>
                <a:cubicBezTo>
                  <a:pt x="1857375" y="721347"/>
                  <a:pt x="1797672" y="781050"/>
                  <a:pt x="1724025" y="781050"/>
                </a:cubicBezTo>
                <a:lnTo>
                  <a:pt x="133350" y="781050"/>
                </a:lnTo>
                <a:cubicBezTo>
                  <a:pt x="59703" y="781050"/>
                  <a:pt x="0" y="721347"/>
                  <a:pt x="0" y="6477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19395F"/>
            </a:solidFill>
            <a:prstDash val="solid"/>
          </a:ln>
        </p:spPr>
      </p:sp>
      <p:sp>
        <p:nvSpPr>
          <p:cNvPr id="8" name="reward-panel">
            <a:extLst xmlns:a="http://schemas.openxmlformats.org/drawingml/2006/main">
              <a:ext uri="{FF2B5EF4-FFF2-40B4-BE49-F238E27FC236}">
                <a16:creationId xmlns:a16="http://schemas.microsoft.com/office/drawing/2014/main" id="{E770BC3C-77F1-4B9B-A584-C7C22B2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24350"/>
            <a:ext cx="752475" cy="771525"/>
          </a:xfrm>
          <a:custGeom xmlns:a="http://schemas.openxmlformats.org/drawingml/2006/main">
            <a:pathLst>
              <a:path w="752475" h="771525">
                <a:moveTo>
                  <a:pt x="133350" y="0"/>
                </a:moveTo>
                <a:lnTo>
                  <a:pt x="619125" y="0"/>
                </a:lnTo>
                <a:cubicBezTo>
                  <a:pt x="692772" y="0"/>
                  <a:pt x="752475" y="59703"/>
                  <a:pt x="752475" y="133350"/>
                </a:cubicBezTo>
                <a:lnTo>
                  <a:pt x="752475" y="638175"/>
                </a:lnTo>
                <a:cubicBezTo>
                  <a:pt x="752475" y="711822"/>
                  <a:pt x="692772" y="771525"/>
                  <a:pt x="619125" y="771525"/>
                </a:cubicBezTo>
                <a:lnTo>
                  <a:pt x="133350" y="771525"/>
                </a:lnTo>
                <a:cubicBezTo>
                  <a:pt x="59703" y="771525"/>
                  <a:pt x="0" y="711822"/>
                  <a:pt x="0" y="6381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19395F"/>
            </a:solidFill>
            <a:prstDash val="solid"/>
          </a:ln>
        </p:spPr>
      </p:sp>
      <p:sp>
        <p:nvSpPr>
          <p:cNvPr id="9" name="action-panel">
            <a:extLst xmlns:a="http://schemas.openxmlformats.org/drawingml/2006/main">
              <a:ext uri="{FF2B5EF4-FFF2-40B4-BE49-F238E27FC236}">
                <a16:creationId xmlns:a16="http://schemas.microsoft.com/office/drawing/2014/main" id="{1976DB6E-DDB6-4372-99E0-C50CDAA3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34100"/>
            <a:ext cx="752475" cy="781050"/>
          </a:xfrm>
          <a:custGeom xmlns:a="http://schemas.openxmlformats.org/drawingml/2006/main">
            <a:pathLst>
              <a:path w="752475" h="781050">
                <a:moveTo>
                  <a:pt x="133350" y="0"/>
                </a:moveTo>
                <a:lnTo>
                  <a:pt x="619125" y="0"/>
                </a:lnTo>
                <a:cubicBezTo>
                  <a:pt x="692772" y="0"/>
                  <a:pt x="752475" y="59703"/>
                  <a:pt x="752475" y="133350"/>
                </a:cubicBezTo>
                <a:lnTo>
                  <a:pt x="752475" y="647700"/>
                </a:lnTo>
                <a:cubicBezTo>
                  <a:pt x="752475" y="721347"/>
                  <a:pt x="692772" y="781050"/>
                  <a:pt x="619125" y="781050"/>
                </a:cubicBezTo>
                <a:lnTo>
                  <a:pt x="133350" y="781050"/>
                </a:lnTo>
                <a:cubicBezTo>
                  <a:pt x="59703" y="781050"/>
                  <a:pt x="0" y="721347"/>
                  <a:pt x="0" y="6477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19395F"/>
            </a:solidFill>
            <a:prstDash val="solid"/>
          </a:ln>
        </p:spPr>
      </p:sp>
      <p:sp>
        <p:nvSpPr>
          <p:cNvPr id="10" name="motion-label">
            <a:extLst xmlns:a="http://schemas.openxmlformats.org/drawingml/2006/main">
              <a:ext uri="{FF2B5EF4-FFF2-40B4-BE49-F238E27FC236}">
                <a16:creationId xmlns:a16="http://schemas.microsoft.com/office/drawing/2014/main" id="{2EEDC8CF-C8B9-4D86-9D0A-88CD2ED8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"/>
            <a:ext cx="18002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Motion</a:t>
            </a:r>
          </a:p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Observation oᵐ</a:t>
            </a:r>
          </a:p>
        </p:txBody>
      </p:sp>
      <p:sp>
        <p:nvSpPr>
          <p:cNvPr id="11" name="policy-observation-label">
            <a:extLst xmlns:a="http://schemas.openxmlformats.org/drawingml/2006/main">
              <a:ext uri="{FF2B5EF4-FFF2-40B4-BE49-F238E27FC236}">
                <a16:creationId xmlns:a16="http://schemas.microsoft.com/office/drawing/2014/main" id="{F2F95535-2E23-438A-AD1B-D0CE414A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24150"/>
            <a:ext cx="1800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Observation oᵖ</a:t>
            </a:r>
          </a:p>
        </p:txBody>
      </p:sp>
      <p:sp>
        <p:nvSpPr>
          <p:cNvPr id="12" name="sampler-title">
            <a:extLst xmlns:a="http://schemas.openxmlformats.org/drawingml/2006/main">
              <a:ext uri="{FF2B5EF4-FFF2-40B4-BE49-F238E27FC236}">
                <a16:creationId xmlns:a16="http://schemas.microsoft.com/office/drawing/2014/main" id="{1ACF3984-6FF1-495F-BCEF-5847AFB1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32397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Sampler</a:t>
            </a:r>
          </a:p>
        </p:txBody>
      </p:sp>
      <p:sp>
        <p:nvSpPr>
          <p:cNvPr id="13" name="skill-prior">
            <a:extLst xmlns:a="http://schemas.openxmlformats.org/drawingml/2006/main">
              <a:ext uri="{FF2B5EF4-FFF2-40B4-BE49-F238E27FC236}">
                <a16:creationId xmlns:a16="http://schemas.microsoft.com/office/drawing/2014/main" id="{6E7175EE-6F88-4ECC-BC88-361C0722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19275"/>
            <a:ext cx="176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latent-skill">
            <a:extLst xmlns:a="http://schemas.openxmlformats.org/drawingml/2006/main">
              <a:ext uri="{FF2B5EF4-FFF2-40B4-BE49-F238E27FC236}">
                <a16:creationId xmlns:a16="http://schemas.microsoft.com/office/drawing/2014/main" id="{2B3C8000-276C-4897-9541-AB354714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76525"/>
            <a:ext cx="1752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skill-prior-label">
            <a:extLst xmlns:a="http://schemas.openxmlformats.org/drawingml/2006/main">
              <a:ext uri="{FF2B5EF4-FFF2-40B4-BE49-F238E27FC236}">
                <a16:creationId xmlns:a16="http://schemas.microsoft.com/office/drawing/2014/main" id="{56BBCAAB-8C4E-4EBE-9B79-A9217828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28800"/>
            <a:ext cx="17049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Prior</a:t>
            </a:r>
          </a:p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 ∼ P(k)</a:t>
            </a:r>
          </a:p>
        </p:txBody>
      </p:sp>
      <p:sp>
        <p:nvSpPr>
          <p:cNvPr id="16" name="latent-skill-label">
            <a:extLst xmlns:a="http://schemas.openxmlformats.org/drawingml/2006/main">
              <a:ext uri="{FF2B5EF4-FFF2-40B4-BE49-F238E27FC236}">
                <a16:creationId xmlns:a16="http://schemas.microsoft.com/office/drawing/2014/main" id="{91A3388F-9485-4FE6-A85B-89232E81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9082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Latent Skill k</a:t>
            </a:r>
          </a:p>
        </p:txBody>
      </p:sp>
      <p:sp>
        <p:nvSpPr>
          <p:cNvPr id="17" name="multi-title">
            <a:extLst xmlns:a="http://schemas.openxmlformats.org/drawingml/2006/main">
              <a:ext uri="{FF2B5EF4-FFF2-40B4-BE49-F238E27FC236}">
                <a16:creationId xmlns:a16="http://schemas.microsoft.com/office/drawing/2014/main" id="{43ED7FBC-A443-480A-9FCC-D72FE03B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"/>
            <a:ext cx="328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Multi-Discriminator Module</a:t>
            </a:r>
          </a:p>
        </p:txBody>
      </p:sp>
      <p:sp>
        <p:nvSpPr>
          <p:cNvPr id="18" name="discriminator-1">
            <a:extLst xmlns:a="http://schemas.openxmlformats.org/drawingml/2006/main">
              <a:ext uri="{FF2B5EF4-FFF2-40B4-BE49-F238E27FC236}">
                <a16:creationId xmlns:a16="http://schemas.microsoft.com/office/drawing/2014/main" id="{EE1A3413-BE22-4D17-B398-C14F3206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904875"/>
            <a:ext cx="176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discriminator-1-label">
            <a:extLst xmlns:a="http://schemas.openxmlformats.org/drawingml/2006/main">
              <a:ext uri="{FF2B5EF4-FFF2-40B4-BE49-F238E27FC236}">
                <a16:creationId xmlns:a16="http://schemas.microsoft.com/office/drawing/2014/main" id="{11425482-E328-4F27-AF96-3A233668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009650"/>
            <a:ext cx="168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Discriminator 1</a:t>
            </a:r>
          </a:p>
        </p:txBody>
      </p:sp>
      <p:sp>
        <p:nvSpPr>
          <p:cNvPr id="20" name="discriminator-2">
            <a:extLst xmlns:a="http://schemas.openxmlformats.org/drawingml/2006/main">
              <a:ext uri="{FF2B5EF4-FFF2-40B4-BE49-F238E27FC236}">
                <a16:creationId xmlns:a16="http://schemas.microsoft.com/office/drawing/2014/main" id="{7308AF2A-B4BC-4E40-93CE-772E0FAD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28775"/>
            <a:ext cx="176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discriminator-2-label">
            <a:extLst xmlns:a="http://schemas.openxmlformats.org/drawingml/2006/main">
              <a:ext uri="{FF2B5EF4-FFF2-40B4-BE49-F238E27FC236}">
                <a16:creationId xmlns:a16="http://schemas.microsoft.com/office/drawing/2014/main" id="{C228C90E-1C3C-4413-8258-AB4D885E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33550"/>
            <a:ext cx="168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Discriminator 2</a:t>
            </a:r>
          </a:p>
        </p:txBody>
      </p:sp>
      <p:sp>
        <p:nvSpPr>
          <p:cNvPr id="22" name="discriminator-3">
            <a:extLst xmlns:a="http://schemas.openxmlformats.org/drawingml/2006/main">
              <a:ext uri="{FF2B5EF4-FFF2-40B4-BE49-F238E27FC236}">
                <a16:creationId xmlns:a16="http://schemas.microsoft.com/office/drawing/2014/main" id="{FCF2DD40-4621-4EDD-B6A1-EC661EE6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176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discriminator-3-label">
            <a:extLst xmlns:a="http://schemas.openxmlformats.org/drawingml/2006/main">
              <a:ext uri="{FF2B5EF4-FFF2-40B4-BE49-F238E27FC236}">
                <a16:creationId xmlns:a16="http://schemas.microsoft.com/office/drawing/2014/main" id="{A1AB0B0E-DCCF-4229-A18F-6CBA4FF4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6975"/>
            <a:ext cx="168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Discriminator N</a:t>
            </a:r>
          </a:p>
        </p:txBody>
      </p:sp>
      <p:sp>
        <p:nvSpPr>
          <p:cNvPr id="24" name="discriminator-ellipsis">
            <a:extLst xmlns:a="http://schemas.openxmlformats.org/drawingml/2006/main">
              <a:ext uri="{FF2B5EF4-FFF2-40B4-BE49-F238E27FC236}">
                <a16:creationId xmlns:a16="http://schemas.microsoft.com/office/drawing/2014/main" id="{BDEB652C-1D84-4DE0-B97E-892C816B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0478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25" name="policy-title">
            <a:extLst xmlns:a="http://schemas.openxmlformats.org/drawingml/2006/main">
              <a:ext uri="{FF2B5EF4-FFF2-40B4-BE49-F238E27FC236}">
                <a16:creationId xmlns:a16="http://schemas.microsoft.com/office/drawing/2014/main" id="{91157276-8EA7-4563-B5CC-7DC14ACA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548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Orthogonal Mixture-of-Experts Policy</a:t>
            </a:r>
          </a:p>
        </p:txBody>
      </p:sp>
      <p:sp>
        <p:nvSpPr>
          <p:cNvPr id="26" name="expert-1">
            <a:extLst xmlns:a="http://schemas.openxmlformats.org/drawingml/2006/main">
              <a:ext uri="{FF2B5EF4-FFF2-40B4-BE49-F238E27FC236}">
                <a16:creationId xmlns:a16="http://schemas.microsoft.com/office/drawing/2014/main" id="{D75314B7-F0F2-4D4F-BFE7-6069FED0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5720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0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" name="expert-1-label">
            <a:extLst xmlns:a="http://schemas.openxmlformats.org/drawingml/2006/main">
              <a:ext uri="{FF2B5EF4-FFF2-40B4-BE49-F238E27FC236}">
                <a16:creationId xmlns:a16="http://schemas.microsoft.com/office/drawing/2014/main" id="{99868B8B-BA88-4760-AD1F-48A6DA60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676775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 1</a:t>
            </a:r>
          </a:p>
        </p:txBody>
      </p:sp>
      <p:sp>
        <p:nvSpPr>
          <p:cNvPr id="28" name="expert-2">
            <a:extLst xmlns:a="http://schemas.openxmlformats.org/drawingml/2006/main">
              <a:ext uri="{FF2B5EF4-FFF2-40B4-BE49-F238E27FC236}">
                <a16:creationId xmlns:a16="http://schemas.microsoft.com/office/drawing/2014/main" id="{B58AC898-E15E-42DB-8F19-93F9F836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2959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0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expert-2-label">
            <a:extLst xmlns:a="http://schemas.openxmlformats.org/drawingml/2006/main">
              <a:ext uri="{FF2B5EF4-FFF2-40B4-BE49-F238E27FC236}">
                <a16:creationId xmlns:a16="http://schemas.microsoft.com/office/drawing/2014/main" id="{BCD5C11C-797D-4DAB-872E-984393D2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400675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 2</a:t>
            </a:r>
          </a:p>
        </p:txBody>
      </p:sp>
      <p:sp>
        <p:nvSpPr>
          <p:cNvPr id="30" name="expert-3">
            <a:extLst xmlns:a="http://schemas.openxmlformats.org/drawingml/2006/main">
              <a:ext uri="{FF2B5EF4-FFF2-40B4-BE49-F238E27FC236}">
                <a16:creationId xmlns:a16="http://schemas.microsoft.com/office/drawing/2014/main" id="{D75A8177-6C4B-44BD-BE3A-0820FAC5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6010275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0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expert-3-label">
            <a:extLst xmlns:a="http://schemas.openxmlformats.org/drawingml/2006/main">
              <a:ext uri="{FF2B5EF4-FFF2-40B4-BE49-F238E27FC236}">
                <a16:creationId xmlns:a16="http://schemas.microsoft.com/office/drawing/2014/main" id="{A70A0C28-E5FF-4CEC-A4A1-6415E4E7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6115050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 N</a:t>
            </a:r>
          </a:p>
        </p:txBody>
      </p:sp>
      <p:sp>
        <p:nvSpPr>
          <p:cNvPr id="32" name="expert-4">
            <a:extLst xmlns:a="http://schemas.openxmlformats.org/drawingml/2006/main">
              <a:ext uri="{FF2B5EF4-FFF2-40B4-BE49-F238E27FC236}">
                <a16:creationId xmlns:a16="http://schemas.microsoft.com/office/drawing/2014/main" id="{FA27AC81-3207-4913-978B-3AEB0AA4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70104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0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expert-4-label">
            <a:extLst xmlns:a="http://schemas.openxmlformats.org/drawingml/2006/main">
              <a:ext uri="{FF2B5EF4-FFF2-40B4-BE49-F238E27FC236}">
                <a16:creationId xmlns:a16="http://schemas.microsoft.com/office/drawing/2014/main" id="{63D32006-213C-41E6-85B1-35F5F819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7115175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 Encoder</a:t>
            </a:r>
          </a:p>
        </p:txBody>
      </p:sp>
      <p:sp>
        <p:nvSpPr>
          <p:cNvPr id="34" name="expert-ellipsis">
            <a:extLst xmlns:a="http://schemas.openxmlformats.org/drawingml/2006/main">
              <a:ext uri="{FF2B5EF4-FFF2-40B4-BE49-F238E27FC236}">
                <a16:creationId xmlns:a16="http://schemas.microsoft.com/office/drawing/2014/main" id="{11987F54-E6C5-42D0-978D-BF1C9B3F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435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35" name="gram-schmidt">
            <a:extLst xmlns:a="http://schemas.openxmlformats.org/drawingml/2006/main">
              <a:ext uri="{FF2B5EF4-FFF2-40B4-BE49-F238E27FC236}">
                <a16:creationId xmlns:a16="http://schemas.microsoft.com/office/drawing/2014/main" id="{770DA4E1-4150-4CAF-A7EE-1E7D9EA8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29590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0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gram-schmidt-label">
            <a:extLst xmlns:a="http://schemas.openxmlformats.org/drawingml/2006/main">
              <a:ext uri="{FF2B5EF4-FFF2-40B4-BE49-F238E27FC236}">
                <a16:creationId xmlns:a16="http://schemas.microsoft.com/office/drawing/2014/main" id="{2A3D63BF-5468-48C2-89C4-C486EA45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305425"/>
            <a:ext cx="1885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Gram-Schmidt</a:t>
            </a:r>
          </a:p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Process</a:t>
            </a:r>
          </a:p>
        </p:txBody>
      </p:sp>
      <p:sp>
        <p:nvSpPr>
          <p:cNvPr id="37" name="weighted-sum">
            <a:extLst xmlns:a="http://schemas.openxmlformats.org/drawingml/2006/main">
              <a:ext uri="{FF2B5EF4-FFF2-40B4-BE49-F238E27FC236}">
                <a16:creationId xmlns:a16="http://schemas.microsoft.com/office/drawing/2014/main" id="{A12776D5-5EB2-4757-BE70-3D8F7D8F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276975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0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8" name="weighted-sum-label">
            <a:extLst xmlns:a="http://schemas.openxmlformats.org/drawingml/2006/main">
              <a:ext uri="{FF2B5EF4-FFF2-40B4-BE49-F238E27FC236}">
                <a16:creationId xmlns:a16="http://schemas.microsoft.com/office/drawing/2014/main" id="{57FC7236-8722-43A2-9BC0-A764B8FB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400800"/>
            <a:ext cx="1866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Weighted Sum</a:t>
            </a:r>
          </a:p>
        </p:txBody>
      </p:sp>
      <p:sp>
        <p:nvSpPr>
          <p:cNvPr id="39" name="reward-label">
            <a:extLst xmlns:a="http://schemas.openxmlformats.org/drawingml/2006/main">
              <a:ext uri="{FF2B5EF4-FFF2-40B4-BE49-F238E27FC236}">
                <a16:creationId xmlns:a16="http://schemas.microsoft.com/office/drawing/2014/main" id="{2BF3A342-A34A-40DB-A0B7-5FA0C158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767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2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40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4406FABD-EF67-4ADE-B2A0-C2231C29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055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2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41" name="policy-gradient">
            <a:extLst xmlns:a="http://schemas.openxmlformats.org/drawingml/2006/main">
              <a:ext uri="{FF2B5EF4-FFF2-40B4-BE49-F238E27FC236}">
                <a16:creationId xmlns:a16="http://schemas.microsoft.com/office/drawing/2014/main" id="{79C0882D-91A1-4183-B82A-C466B4E7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353050"/>
            <a:ext cx="990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  <a:p xmlns:a="http://schemas.openxmlformats.org/drawingml/2006/main">
            <a:pPr algn="ctr">
              <a:def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Gradient</a:t>
            </a:r>
          </a:p>
        </p:txBody>
      </p:sp>
      <p:sp>
        <p:nvSpPr>
          <p:cNvPr id="42" name="observation-to-motion">
            <a:extLst xmlns:a="http://schemas.openxmlformats.org/drawingml/2006/main">
              <a:ext uri="{FF2B5EF4-FFF2-40B4-BE49-F238E27FC236}">
                <a16:creationId xmlns:a16="http://schemas.microsoft.com/office/drawing/2014/main" id="{57A517CE-0CAA-472A-A613-05AD08B1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00075"/>
            <a:ext cx="657225" cy="953"/>
          </a:xfrm>
          <a:custGeom xmlns:a="http://schemas.openxmlformats.org/drawingml/2006/main">
            <a:pathLst>
              <a:path w="657225" h="953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43" name="observation-to-motion-arrow">
            <a:extLst xmlns:a="http://schemas.openxmlformats.org/drawingml/2006/main">
              <a:ext uri="{FF2B5EF4-FFF2-40B4-BE49-F238E27FC236}">
                <a16:creationId xmlns:a16="http://schemas.microsoft.com/office/drawing/2014/main" id="{E2FAD867-C4AC-4D91-9A41-817BA757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46354"/>
            <a:ext cx="114300" cy="107442"/>
          </a:xfrm>
          <a:custGeom xmlns:a="http://schemas.openxmlformats.org/drawingml/2006/main">
            <a:pathLst>
              <a:path w="114300" h="107442">
                <a:moveTo>
                  <a:pt x="114300" y="53721"/>
                </a:moveTo>
                <a:lnTo>
                  <a:pt x="0" y="1074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observation-to-policy">
            <a:extLst xmlns:a="http://schemas.openxmlformats.org/drawingml/2006/main">
              <a:ext uri="{FF2B5EF4-FFF2-40B4-BE49-F238E27FC236}">
                <a16:creationId xmlns:a16="http://schemas.microsoft.com/office/drawing/2014/main" id="{7236806C-A9C0-4205-BAE4-4E8F2E76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953" cy="447675"/>
          </a:xfrm>
          <a:custGeom xmlns:a="http://schemas.openxmlformats.org/drawingml/2006/main">
            <a:pathLst>
              <a:path w="953" h="447675">
                <a:moveTo>
                  <a:pt x="0" y="0"/>
                </a:moveTo>
                <a:lnTo>
                  <a:pt x="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45" name="observation-to-policy-arrow">
            <a:extLst xmlns:a="http://schemas.openxmlformats.org/drawingml/2006/main">
              <a:ext uri="{FF2B5EF4-FFF2-40B4-BE49-F238E27FC236}">
                <a16:creationId xmlns:a16="http://schemas.microsoft.com/office/drawing/2014/main" id="{DEDF0877-15E7-4074-928F-BF1B4B08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879" y="2486025"/>
            <a:ext cx="107442" cy="114300"/>
          </a:xfrm>
          <a:custGeom xmlns:a="http://schemas.openxmlformats.org/drawingml/2006/main">
            <a:pathLst>
              <a:path w="107442" h="114300">
                <a:moveTo>
                  <a:pt x="53721" y="114300"/>
                </a:moveTo>
                <a:lnTo>
                  <a:pt x="0" y="0"/>
                </a:lnTo>
                <a:lnTo>
                  <a:pt x="10744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6" name="prior-to-latent">
            <a:extLst xmlns:a="http://schemas.openxmlformats.org/drawingml/2006/main">
              <a:ext uri="{FF2B5EF4-FFF2-40B4-BE49-F238E27FC236}">
                <a16:creationId xmlns:a16="http://schemas.microsoft.com/office/drawing/2014/main" id="{F6E89C4F-BA0A-4F77-81DD-177A74C5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43150"/>
            <a:ext cx="953" cy="323850"/>
          </a:xfrm>
          <a:custGeom xmlns:a="http://schemas.openxmlformats.org/drawingml/2006/main">
            <a:pathLst>
              <a:path w="953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47" name="prior-to-latent-arrow">
            <a:extLst xmlns:a="http://schemas.openxmlformats.org/drawingml/2006/main">
              <a:ext uri="{FF2B5EF4-FFF2-40B4-BE49-F238E27FC236}">
                <a16:creationId xmlns:a16="http://schemas.microsoft.com/office/drawing/2014/main" id="{A61EAB1A-193E-4B4E-A676-D0829B9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754" y="2552700"/>
            <a:ext cx="107442" cy="114300"/>
          </a:xfrm>
          <a:custGeom xmlns:a="http://schemas.openxmlformats.org/drawingml/2006/main">
            <a:pathLst>
              <a:path w="107442" h="114300">
                <a:moveTo>
                  <a:pt x="53721" y="114300"/>
                </a:moveTo>
                <a:lnTo>
                  <a:pt x="0" y="0"/>
                </a:lnTo>
                <a:lnTo>
                  <a:pt x="10744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motion-to-discriminator">
            <a:extLst xmlns:a="http://schemas.openxmlformats.org/drawingml/2006/main">
              <a:ext uri="{FF2B5EF4-FFF2-40B4-BE49-F238E27FC236}">
                <a16:creationId xmlns:a16="http://schemas.microsoft.com/office/drawing/2014/main" id="{C7AE7AEB-FB4B-431D-91C0-3B57FF09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00075"/>
            <a:ext cx="1200150" cy="1285875"/>
          </a:xfrm>
          <a:custGeom xmlns:a="http://schemas.openxmlformats.org/drawingml/2006/main">
            <a:pathLst>
              <a:path w="1200150" h="1285875">
                <a:moveTo>
                  <a:pt x="0" y="0"/>
                </a:moveTo>
                <a:lnTo>
                  <a:pt x="438150" y="0"/>
                </a:lnTo>
                <a:lnTo>
                  <a:pt x="438150" y="1285875"/>
                </a:lnTo>
                <a:lnTo>
                  <a:pt x="1200150" y="12858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49" name="motion-to-discriminator-arrow">
            <a:extLst xmlns:a="http://schemas.openxmlformats.org/drawingml/2006/main">
              <a:ext uri="{FF2B5EF4-FFF2-40B4-BE49-F238E27FC236}">
                <a16:creationId xmlns:a16="http://schemas.microsoft.com/office/drawing/2014/main" id="{16A769A7-42A1-477A-9457-DA254C5C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3275"/>
            <a:ext cx="133350" cy="125349"/>
          </a:xfrm>
          <a:custGeom xmlns:a="http://schemas.openxmlformats.org/drawingml/2006/main">
            <a:pathLst>
              <a:path w="133350" h="125349">
                <a:moveTo>
                  <a:pt x="133350" y="62675"/>
                </a:moveTo>
                <a:lnTo>
                  <a:pt x="0" y="1253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discriminator-input-branch">
            <a:extLst xmlns:a="http://schemas.openxmlformats.org/drawingml/2006/main">
              <a:ext uri="{FF2B5EF4-FFF2-40B4-BE49-F238E27FC236}">
                <a16:creationId xmlns:a16="http://schemas.microsoft.com/office/drawing/2014/main" id="{C71C5FB9-B11F-4361-A72B-355A13FA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62050"/>
            <a:ext cx="323850" cy="1447800"/>
          </a:xfrm>
          <a:custGeom xmlns:a="http://schemas.openxmlformats.org/drawingml/2006/main">
            <a:pathLst>
              <a:path w="323850" h="1447800">
                <a:moveTo>
                  <a:pt x="323850" y="0"/>
                </a:moveTo>
                <a:lnTo>
                  <a:pt x="0" y="0"/>
                </a:lnTo>
                <a:lnTo>
                  <a:pt x="0" y="1447800"/>
                </a:lnTo>
                <a:lnTo>
                  <a:pt x="323850" y="14478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51" name="discriminator-input-branch-arrow">
            <a:extLst xmlns:a="http://schemas.openxmlformats.org/drawingml/2006/main">
              <a:ext uri="{FF2B5EF4-FFF2-40B4-BE49-F238E27FC236}">
                <a16:creationId xmlns:a16="http://schemas.microsoft.com/office/drawing/2014/main" id="{82CC4665-0A25-4822-A2CD-110B21B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47176"/>
            <a:ext cx="133350" cy="125349"/>
          </a:xfrm>
          <a:custGeom xmlns:a="http://schemas.openxmlformats.org/drawingml/2006/main">
            <a:pathLst>
              <a:path w="133350" h="125349">
                <a:moveTo>
                  <a:pt x="133350" y="62674"/>
                </a:moveTo>
                <a:lnTo>
                  <a:pt x="0" y="1253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2" name="discriminator-input-branch-head">
            <a:extLst xmlns:a="http://schemas.openxmlformats.org/drawingml/2006/main">
              <a:ext uri="{FF2B5EF4-FFF2-40B4-BE49-F238E27FC236}">
                <a16:creationId xmlns:a16="http://schemas.microsoft.com/office/drawing/2014/main" id="{A8746510-E5AF-4EEF-94F1-94D57256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99376"/>
            <a:ext cx="133350" cy="125349"/>
          </a:xfrm>
          <a:custGeom xmlns:a="http://schemas.openxmlformats.org/drawingml/2006/main">
            <a:pathLst>
              <a:path w="133350" h="125349">
                <a:moveTo>
                  <a:pt x="133350" y="62674"/>
                </a:moveTo>
                <a:lnTo>
                  <a:pt x="0" y="1253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discriminator-outer-output">
            <a:extLst xmlns:a="http://schemas.openxmlformats.org/drawingml/2006/main">
              <a:ext uri="{FF2B5EF4-FFF2-40B4-BE49-F238E27FC236}">
                <a16:creationId xmlns:a16="http://schemas.microsoft.com/office/drawing/2014/main" id="{30B02583-CEBE-4FFA-8133-E8B85438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62050"/>
            <a:ext cx="352425" cy="1457325"/>
          </a:xfrm>
          <a:custGeom xmlns:a="http://schemas.openxmlformats.org/drawingml/2006/main">
            <a:pathLst>
              <a:path w="352425" h="1457325">
                <a:moveTo>
                  <a:pt x="0" y="0"/>
                </a:moveTo>
                <a:lnTo>
                  <a:pt x="352425" y="0"/>
                </a:lnTo>
                <a:lnTo>
                  <a:pt x="352425" y="1457325"/>
                </a:lnTo>
                <a:lnTo>
                  <a:pt x="0" y="14573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54" name="discriminator-reward">
            <a:extLst xmlns:a="http://schemas.openxmlformats.org/drawingml/2006/main">
              <a:ext uri="{FF2B5EF4-FFF2-40B4-BE49-F238E27FC236}">
                <a16:creationId xmlns:a16="http://schemas.microsoft.com/office/drawing/2014/main" id="{3B9A327B-1D2A-49F5-97E0-1B4C9428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885950"/>
            <a:ext cx="923925" cy="2428875"/>
          </a:xfrm>
          <a:custGeom xmlns:a="http://schemas.openxmlformats.org/drawingml/2006/main">
            <a:pathLst>
              <a:path w="923925" h="2428875">
                <a:moveTo>
                  <a:pt x="0" y="0"/>
                </a:moveTo>
                <a:lnTo>
                  <a:pt x="923925" y="0"/>
                </a:lnTo>
                <a:lnTo>
                  <a:pt x="923925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55" name="discriminator-reward-arrow">
            <a:extLst xmlns:a="http://schemas.openxmlformats.org/drawingml/2006/main">
              <a:ext uri="{FF2B5EF4-FFF2-40B4-BE49-F238E27FC236}">
                <a16:creationId xmlns:a16="http://schemas.microsoft.com/office/drawing/2014/main" id="{CAACB415-B565-4D99-B99D-9BC19C54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976" y="4181475"/>
            <a:ext cx="125349" cy="133350"/>
          </a:xfrm>
          <a:custGeom xmlns:a="http://schemas.openxmlformats.org/drawingml/2006/main">
            <a:pathLst>
              <a:path w="125349" h="133350">
                <a:moveTo>
                  <a:pt x="62675" y="133350"/>
                </a:moveTo>
                <a:lnTo>
                  <a:pt x="0" y="0"/>
                </a:lnTo>
                <a:lnTo>
                  <a:pt x="12534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6" name="latent-route">
            <a:extLst xmlns:a="http://schemas.openxmlformats.org/drawingml/2006/main">
              <a:ext uri="{FF2B5EF4-FFF2-40B4-BE49-F238E27FC236}">
                <a16:creationId xmlns:a16="http://schemas.microsoft.com/office/drawing/2014/main" id="{43FC5074-E1EF-40E1-8FF2-5627BDAD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0400"/>
            <a:ext cx="2800350" cy="438150"/>
          </a:xfrm>
          <a:custGeom xmlns:a="http://schemas.openxmlformats.org/drawingml/2006/main">
            <a:pathLst>
              <a:path w="2800350" h="438150">
                <a:moveTo>
                  <a:pt x="2800350" y="0"/>
                </a:moveTo>
                <a:lnTo>
                  <a:pt x="2800350" y="438150"/>
                </a:ln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57" name="observation-reward-route">
            <a:extLst xmlns:a="http://schemas.openxmlformats.org/drawingml/2006/main">
              <a:ext uri="{FF2B5EF4-FFF2-40B4-BE49-F238E27FC236}">
                <a16:creationId xmlns:a16="http://schemas.microsoft.com/office/drawing/2014/main" id="{860B6B0D-6A36-4922-A566-26B3D019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38550"/>
            <a:ext cx="4838700" cy="953"/>
          </a:xfrm>
          <a:custGeom xmlns:a="http://schemas.openxmlformats.org/drawingml/2006/main">
            <a:pathLst>
              <a:path w="4838700" h="953">
                <a:moveTo>
                  <a:pt x="0" y="0"/>
                </a:moveTo>
                <a:lnTo>
                  <a:pt x="4838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58" name="policy-route">
            <a:extLst xmlns:a="http://schemas.openxmlformats.org/drawingml/2006/main">
              <a:ext uri="{FF2B5EF4-FFF2-40B4-BE49-F238E27FC236}">
                <a16:creationId xmlns:a16="http://schemas.microsoft.com/office/drawing/2014/main" id="{A0E8C5B0-42A6-4993-857B-DB602A80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81375"/>
            <a:ext cx="1228725" cy="3886200"/>
          </a:xfrm>
          <a:custGeom xmlns:a="http://schemas.openxmlformats.org/drawingml/2006/main">
            <a:pathLst>
              <a:path w="1228725" h="3886200">
                <a:moveTo>
                  <a:pt x="0" y="0"/>
                </a:moveTo>
                <a:lnTo>
                  <a:pt x="0" y="3886200"/>
                </a:lnTo>
                <a:lnTo>
                  <a:pt x="1228725" y="38862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59" name="policy-route-arrow">
            <a:extLst xmlns:a="http://schemas.openxmlformats.org/drawingml/2006/main">
              <a:ext uri="{FF2B5EF4-FFF2-40B4-BE49-F238E27FC236}">
                <a16:creationId xmlns:a16="http://schemas.microsoft.com/office/drawing/2014/main" id="{927CF2BE-275C-4BCE-A15F-B4E75DB9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7204901"/>
            <a:ext cx="133350" cy="125349"/>
          </a:xfrm>
          <a:custGeom xmlns:a="http://schemas.openxmlformats.org/drawingml/2006/main">
            <a:pathLst>
              <a:path w="133350" h="125349">
                <a:moveTo>
                  <a:pt x="133350" y="62675"/>
                </a:moveTo>
                <a:lnTo>
                  <a:pt x="0" y="1253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0" name="policy-expert-mid">
            <a:extLst xmlns:a="http://schemas.openxmlformats.org/drawingml/2006/main">
              <a:ext uri="{FF2B5EF4-FFF2-40B4-BE49-F238E27FC236}">
                <a16:creationId xmlns:a16="http://schemas.microsoft.com/office/drawing/2014/main" id="{92719453-B6AA-4FAB-BC84-52BFC8F3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53075"/>
            <a:ext cx="1228725" cy="953"/>
          </a:xfrm>
          <a:custGeom xmlns:a="http://schemas.openxmlformats.org/drawingml/2006/main">
            <a:pathLst>
              <a:path w="1228725" h="953">
                <a:moveTo>
                  <a:pt x="0" y="0"/>
                </a:moveTo>
                <a:lnTo>
                  <a:pt x="1228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61" name="policy-expert-mid-arrow">
            <a:extLst xmlns:a="http://schemas.openxmlformats.org/drawingml/2006/main">
              <a:ext uri="{FF2B5EF4-FFF2-40B4-BE49-F238E27FC236}">
                <a16:creationId xmlns:a16="http://schemas.microsoft.com/office/drawing/2014/main" id="{67335AC1-8950-4B1B-B7E0-4BFE8656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490401"/>
            <a:ext cx="133350" cy="125349"/>
          </a:xfrm>
          <a:custGeom xmlns:a="http://schemas.openxmlformats.org/drawingml/2006/main">
            <a:pathLst>
              <a:path w="133350" h="125349">
                <a:moveTo>
                  <a:pt x="133350" y="62675"/>
                </a:moveTo>
                <a:lnTo>
                  <a:pt x="0" y="1253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2" name="expert-input-branch">
            <a:extLst xmlns:a="http://schemas.openxmlformats.org/drawingml/2006/main">
              <a:ext uri="{FF2B5EF4-FFF2-40B4-BE49-F238E27FC236}">
                <a16:creationId xmlns:a16="http://schemas.microsoft.com/office/drawing/2014/main" id="{8BA0652A-CFEF-4E17-A6A8-069DE252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829175"/>
            <a:ext cx="381000" cy="1457325"/>
          </a:xfrm>
          <a:custGeom xmlns:a="http://schemas.openxmlformats.org/drawingml/2006/main">
            <a:pathLst>
              <a:path w="381000" h="1457325">
                <a:moveTo>
                  <a:pt x="381000" y="0"/>
                </a:moveTo>
                <a:lnTo>
                  <a:pt x="0" y="0"/>
                </a:lnTo>
                <a:lnTo>
                  <a:pt x="0" y="1457325"/>
                </a:lnTo>
                <a:lnTo>
                  <a:pt x="381000" y="14573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63" name="expert-input-branch-arrow">
            <a:extLst xmlns:a="http://schemas.openxmlformats.org/drawingml/2006/main">
              <a:ext uri="{FF2B5EF4-FFF2-40B4-BE49-F238E27FC236}">
                <a16:creationId xmlns:a16="http://schemas.microsoft.com/office/drawing/2014/main" id="{09EBA05B-B46B-431E-9F2C-C4CCAB1E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6223826"/>
            <a:ext cx="133350" cy="125349"/>
          </a:xfrm>
          <a:custGeom xmlns:a="http://schemas.openxmlformats.org/drawingml/2006/main">
            <a:pathLst>
              <a:path w="133350" h="125349">
                <a:moveTo>
                  <a:pt x="133350" y="62675"/>
                </a:moveTo>
                <a:lnTo>
                  <a:pt x="0" y="1253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4" name="expert-input-branch-head">
            <a:extLst xmlns:a="http://schemas.openxmlformats.org/drawingml/2006/main">
              <a:ext uri="{FF2B5EF4-FFF2-40B4-BE49-F238E27FC236}">
                <a16:creationId xmlns:a16="http://schemas.microsoft.com/office/drawing/2014/main" id="{67364853-A9B2-4E52-8D05-1046C9BB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766501"/>
            <a:ext cx="133350" cy="125349"/>
          </a:xfrm>
          <a:custGeom xmlns:a="http://schemas.openxmlformats.org/drawingml/2006/main">
            <a:pathLst>
              <a:path w="133350" h="125349">
                <a:moveTo>
                  <a:pt x="133350" y="62674"/>
                </a:moveTo>
                <a:lnTo>
                  <a:pt x="0" y="1253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5" name="expert-output-branch">
            <a:extLst xmlns:a="http://schemas.openxmlformats.org/drawingml/2006/main">
              <a:ext uri="{FF2B5EF4-FFF2-40B4-BE49-F238E27FC236}">
                <a16:creationId xmlns:a16="http://schemas.microsoft.com/office/drawing/2014/main" id="{DD8F74B8-0EC1-42E6-9928-EB664269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829175"/>
            <a:ext cx="400050" cy="1457325"/>
          </a:xfrm>
          <a:custGeom xmlns:a="http://schemas.openxmlformats.org/drawingml/2006/main">
            <a:pathLst>
              <a:path w="400050" h="1457325">
                <a:moveTo>
                  <a:pt x="0" y="0"/>
                </a:moveTo>
                <a:lnTo>
                  <a:pt x="400050" y="0"/>
                </a:lnTo>
                <a:lnTo>
                  <a:pt x="400050" y="1457325"/>
                </a:lnTo>
                <a:lnTo>
                  <a:pt x="0" y="14573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66" name="experts-to-orthogonalize">
            <a:extLst xmlns:a="http://schemas.openxmlformats.org/drawingml/2006/main">
              <a:ext uri="{FF2B5EF4-FFF2-40B4-BE49-F238E27FC236}">
                <a16:creationId xmlns:a16="http://schemas.microsoft.com/office/drawing/2014/main" id="{E4B080C3-CC33-429D-8DE6-CCA79267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553075"/>
            <a:ext cx="762000" cy="953"/>
          </a:xfrm>
          <a:custGeom xmlns:a="http://schemas.openxmlformats.org/drawingml/2006/main">
            <a:pathLst>
              <a:path w="762000" h="953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67" name="experts-to-orthogonalize-arrow">
            <a:extLst xmlns:a="http://schemas.openxmlformats.org/drawingml/2006/main">
              <a:ext uri="{FF2B5EF4-FFF2-40B4-BE49-F238E27FC236}">
                <a16:creationId xmlns:a16="http://schemas.microsoft.com/office/drawing/2014/main" id="{BA3BE097-AF28-4822-8504-A10BB27E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99354"/>
            <a:ext cx="114300" cy="107442"/>
          </a:xfrm>
          <a:custGeom xmlns:a="http://schemas.openxmlformats.org/drawingml/2006/main">
            <a:pathLst>
              <a:path w="114300" h="107442">
                <a:moveTo>
                  <a:pt x="114300" y="53721"/>
                </a:moveTo>
                <a:lnTo>
                  <a:pt x="0" y="1074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8" name="orthogonalize-to-sum">
            <a:extLst xmlns:a="http://schemas.openxmlformats.org/drawingml/2006/main">
              <a:ext uri="{FF2B5EF4-FFF2-40B4-BE49-F238E27FC236}">
                <a16:creationId xmlns:a16="http://schemas.microsoft.com/office/drawing/2014/main" id="{B7FEA37E-EE32-4E17-BBC1-89DF751B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10250"/>
            <a:ext cx="953" cy="466725"/>
          </a:xfrm>
          <a:custGeom xmlns:a="http://schemas.openxmlformats.org/drawingml/2006/main">
            <a:pathLst>
              <a:path w="953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69" name="orthogonalize-to-sum-arrow">
            <a:extLst xmlns:a="http://schemas.openxmlformats.org/drawingml/2006/main">
              <a:ext uri="{FF2B5EF4-FFF2-40B4-BE49-F238E27FC236}">
                <a16:creationId xmlns:a16="http://schemas.microsoft.com/office/drawing/2014/main" id="{CA9FB044-B59A-4970-9AAF-60BF9FBE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2279" y="6162675"/>
            <a:ext cx="107442" cy="114300"/>
          </a:xfrm>
          <a:custGeom xmlns:a="http://schemas.openxmlformats.org/drawingml/2006/main">
            <a:pathLst>
              <a:path w="107442" h="114300">
                <a:moveTo>
                  <a:pt x="53721" y="114300"/>
                </a:moveTo>
                <a:lnTo>
                  <a:pt x="0" y="0"/>
                </a:lnTo>
                <a:lnTo>
                  <a:pt x="10744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0" name="encoder-to-sum">
            <a:extLst xmlns:a="http://schemas.openxmlformats.org/drawingml/2006/main">
              <a:ext uri="{FF2B5EF4-FFF2-40B4-BE49-F238E27FC236}">
                <a16:creationId xmlns:a16="http://schemas.microsoft.com/office/drawing/2014/main" id="{14634F5B-0ABC-400E-A13B-E6CEBD84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6800850"/>
            <a:ext cx="1743075" cy="457200"/>
          </a:xfrm>
          <a:custGeom xmlns:a="http://schemas.openxmlformats.org/drawingml/2006/main">
            <a:pathLst>
              <a:path w="1743075" h="457200">
                <a:moveTo>
                  <a:pt x="0" y="457200"/>
                </a:moveTo>
                <a:lnTo>
                  <a:pt x="1743075" y="457200"/>
                </a:lnTo>
                <a:lnTo>
                  <a:pt x="1743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71" name="encoder-to-sum-arrow">
            <a:extLst xmlns:a="http://schemas.openxmlformats.org/drawingml/2006/main">
              <a:ext uri="{FF2B5EF4-FFF2-40B4-BE49-F238E27FC236}">
                <a16:creationId xmlns:a16="http://schemas.microsoft.com/office/drawing/2014/main" id="{963EECC4-DBCD-4FA9-83E8-812E9281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326" y="6800850"/>
            <a:ext cx="125349" cy="133350"/>
          </a:xfrm>
          <a:custGeom xmlns:a="http://schemas.openxmlformats.org/drawingml/2006/main">
            <a:pathLst>
              <a:path w="125349" h="133350">
                <a:moveTo>
                  <a:pt x="62675" y="0"/>
                </a:moveTo>
                <a:lnTo>
                  <a:pt x="125349" y="13335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2" name="sum-to-action">
            <a:extLst xmlns:a="http://schemas.openxmlformats.org/drawingml/2006/main">
              <a:ext uri="{FF2B5EF4-FFF2-40B4-BE49-F238E27FC236}">
                <a16:creationId xmlns:a16="http://schemas.microsoft.com/office/drawing/2014/main" id="{BBDBCFD5-4913-4A50-B296-C6A28CD3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6543675"/>
            <a:ext cx="1543050" cy="953"/>
          </a:xfrm>
          <a:custGeom xmlns:a="http://schemas.openxmlformats.org/drawingml/2006/main">
            <a:pathLst>
              <a:path w="1543050" h="953">
                <a:moveTo>
                  <a:pt x="0" y="0"/>
                </a:moveTo>
                <a:lnTo>
                  <a:pt x="154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73" name="sum-to-action-arrow">
            <a:extLst xmlns:a="http://schemas.openxmlformats.org/drawingml/2006/main">
              <a:ext uri="{FF2B5EF4-FFF2-40B4-BE49-F238E27FC236}">
                <a16:creationId xmlns:a16="http://schemas.microsoft.com/office/drawing/2014/main" id="{C669F389-F824-46BC-ABC7-6E9F8165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6481001"/>
            <a:ext cx="133350" cy="125349"/>
          </a:xfrm>
          <a:custGeom xmlns:a="http://schemas.openxmlformats.org/drawingml/2006/main">
            <a:pathLst>
              <a:path w="133350" h="125349">
                <a:moveTo>
                  <a:pt x="133350" y="62675"/>
                </a:moveTo>
                <a:lnTo>
                  <a:pt x="0" y="1253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4" name="policy-gradient-feedback">
            <a:extLst xmlns:a="http://schemas.openxmlformats.org/drawingml/2006/main">
              <a:ext uri="{FF2B5EF4-FFF2-40B4-BE49-F238E27FC236}">
                <a16:creationId xmlns:a16="http://schemas.microsoft.com/office/drawing/2014/main" id="{86695554-ED1E-4977-BB33-904EA6D8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95875"/>
            <a:ext cx="953" cy="1038225"/>
          </a:xfrm>
          <a:custGeom xmlns:a="http://schemas.openxmlformats.org/drawingml/2006/main">
            <a:pathLst>
              <a:path w="953" h="1038225">
                <a:moveTo>
                  <a:pt x="0" y="0"/>
                </a:moveTo>
                <a:lnTo>
                  <a:pt x="0" y="10382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dash"/>
          </a:ln>
        </p:spPr>
      </p:sp>
      <p:sp>
        <p:nvSpPr>
          <p:cNvPr id="75" name="policy-gradient-feedback-arrow">
            <a:extLst xmlns:a="http://schemas.openxmlformats.org/drawingml/2006/main">
              <a:ext uri="{FF2B5EF4-FFF2-40B4-BE49-F238E27FC236}">
                <a16:creationId xmlns:a16="http://schemas.microsoft.com/office/drawing/2014/main" id="{8D2BEAD6-14FD-47CB-8BD8-2801B75D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976" y="6000750"/>
            <a:ext cx="125349" cy="133350"/>
          </a:xfrm>
          <a:custGeom xmlns:a="http://schemas.openxmlformats.org/drawingml/2006/main">
            <a:pathLst>
              <a:path w="125349" h="133350">
                <a:moveTo>
                  <a:pt x="62675" y="133350"/>
                </a:moveTo>
                <a:lnTo>
                  <a:pt x="0" y="0"/>
                </a:lnTo>
                <a:lnTo>
                  <a:pt x="12534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6" name="policy-gradient-feedback-head">
            <a:extLst xmlns:a="http://schemas.openxmlformats.org/drawingml/2006/main">
              <a:ext uri="{FF2B5EF4-FFF2-40B4-BE49-F238E27FC236}">
                <a16:creationId xmlns:a16="http://schemas.microsoft.com/office/drawing/2014/main" id="{60B36402-2C0C-4E60-9FB5-2E3340E0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976" y="5095875"/>
            <a:ext cx="125349" cy="133350"/>
          </a:xfrm>
          <a:custGeom xmlns:a="http://schemas.openxmlformats.org/drawingml/2006/main">
            <a:pathLst>
              <a:path w="125349" h="133350">
                <a:moveTo>
                  <a:pt x="62675" y="0"/>
                </a:moveTo>
                <a:lnTo>
                  <a:pt x="125349" y="13335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4674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2026-10-09T20:37:39.0430000Z</dcterms:created>
  <dcterms:modified xsi:type="dcterms:W3CDTF">2026-10-09T20:37:39.0430000Z</dcterms:modified>
</coreProperties>
</file>