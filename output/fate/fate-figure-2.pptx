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3f27f0e13749fa" /><Relationship Type="http://schemas.openxmlformats.org/officeDocument/2006/relationships/extended-properties" Target="/docProps/app.xml" Id="Recfe614464ee4b72" /><Relationship Type="http://schemas.openxmlformats.org/officeDocument/2006/relationships/officeDocument" Target="/ppt/presentation.xml" Id="R01d162fe9ec644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8c76fe21424cad"/>
  </p:sldMasterIdLst>
  <p:notesMasterIdLst>
    <p:notesMasterId xmlns:r="http://schemas.openxmlformats.org/officeDocument/2006/relationships" r:id="R1532d75430e547c5"/>
  </p:notesMasterIdLst>
  <p:sldIdLst>
    <p:sldId xmlns:r="http://schemas.openxmlformats.org/officeDocument/2006/relationships" id="256" r:id="R0fb95c3609424c1a"/>
  </p:sldIdLst>
  <p:sldSz cx="5657850" cy="36861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9e374e68934d07" /><Relationship Type="http://schemas.openxmlformats.org/officeDocument/2006/relationships/slideMaster" Target="/ppt/slideMasters/slideMaster1.xml" Id="R418c76fe21424cad" /><Relationship Type="http://schemas.openxmlformats.org/officeDocument/2006/relationships/notesMaster" Target="/ppt/notesMasters/notesMaster1.xml" Id="R1532d75430e547c5" /><Relationship Type="http://schemas.openxmlformats.org/officeDocument/2006/relationships/presProps" Target="/ppt/presProps.xml" Id="R45f29d9002a14065" /><Relationship Type="http://schemas.openxmlformats.org/officeDocument/2006/relationships/tableStyles" Target="/ppt/tableStyles.xml" Id="Rfe90c55c5cc145f9" /><Relationship Type="http://schemas.openxmlformats.org/officeDocument/2006/relationships/slide" Target="/ppt/slides/slide1.xml" Id="R0fb95c3609424c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0dfae04fc34a1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8c93fd30ebd4aea" /><Relationship Type="http://schemas.openxmlformats.org/officeDocument/2006/relationships/notesMaster" Target="/ppt/notesMasters/notesMaster1.xml" Id="R82e0e352b74c44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"FATE: Closed-Loop Feasibility-Aware Task Generation with Active Repair for Physically Grounded Robotic Curricula",</a:t>
            </a:r>
          </a:p>
          <a:p xmlns:a="http://schemas.openxmlformats.org/drawingml/2006/main">
            <a:r>
              <a:t>  "paper_url": "https://arxiv.org/abs/2603.01505v1",</a:t>
            </a:r>
          </a:p>
          <a:p xmlns:a="http://schemas.openxmlformats.org/drawingml/2006/main">
            <a:r>
              <a:t>  "figure": "Figure 2",</a:t>
            </a:r>
          </a:p>
          <a:p xmlns:a="http://schemas.openxmlformats.org/drawingml/2006/main">
            <a:r>
              <a:t>  "page": 4,</a:t>
            </a:r>
          </a:p>
          <a:p xmlns:a="http://schemas.openxmlformats.org/drawingml/2006/main">
            <a:r>
              <a:t>  "license": "unverified",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"daedae07f7fbff82cb003d72d8c74e819ce774c10c6ecebcfb7e465176459188",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326,</a:t>
            </a:r>
          </a:p>
          <a:p xmlns:a="http://schemas.openxmlformats.org/drawingml/2006/main">
            <a:r>
              <a:t>    65,</a:t>
            </a:r>
          </a:p>
          <a:p xmlns:a="http://schemas.openxmlformats.org/drawingml/2006/main">
            <a:r>
              <a:t>    524,</a:t>
            </a:r>
          </a:p>
          <a:p xmlns:a="http://schemas.openxmlformats.org/drawingml/2006/main">
            <a:r>
              <a:t>    194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"notes": "Manually reconstructed after inspecting actual source pixels. Original source is a flattened raster. Layout, native panels, labels and connecting geometry are recreated; no whole-figure raster backdrop. Font metrics and curve/arrow geometry approximated. Small original mathematical/photo details retained only where explicitly noted. Independent target-application QA pending. Fully native conceptual method diagram: axes, alignment plane, feasible polytope, state transitions, action documents and labels. Original soft glows replaced with clean colored outlines; mathematical labels use native typeable runs with explicit baseline, subscript and superscript positions; font metrics approximate the source TeX."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b400b713846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2adcc7739f4a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58c777e50f40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64541371c34f8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f8c93355054df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4272abbe2d432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6A57E8-5E6F-4DD7-8AFF-195A78C739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5785" y="1392555"/>
            <a:ext cx="4526280" cy="5324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228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597799B-2BE9-455C-8069-6B1114706EC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48678" y="2027396"/>
            <a:ext cx="396049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2421E15-DE2F-4EA4-A42B-1635F571B26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5785" y="1535906"/>
            <a:ext cx="4526280" cy="6143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949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ECD3BF-EB99-4970-B1DF-B98EFD21F5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8254" y="286703"/>
            <a:ext cx="5021342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3E89B18-85B1-4D3E-B085-25CDEBC1F4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8254" y="1023938"/>
            <a:ext cx="5021342" cy="2293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6085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1pPr>
            <a:lvl2pPr marL="247531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2pPr>
            <a:lvl3pPr marL="388977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3pPr>
            <a:lvl4pPr marL="530423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4pPr>
            <a:lvl5pPr marL="671870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5pPr>
            <a:lvl6pPr marL="813316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6pPr>
            <a:lvl7pPr marL="954762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7pPr>
            <a:lvl8pPr marL="1096208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8pPr>
            <a:lvl9pPr marL="1237655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E51B8A5-D327-44C7-AF53-9483620030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8254" y="286703"/>
            <a:ext cx="5021342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F164F52-B997-43E1-8347-CAD85CAF11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8254" y="1023938"/>
            <a:ext cx="2333863" cy="2293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6085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1pPr>
            <a:lvl2pPr marL="247531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2pPr>
            <a:lvl3pPr marL="388977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3pPr>
            <a:lvl4pPr marL="530423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4pPr>
            <a:lvl5pPr marL="671870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5pPr>
            <a:lvl6pPr marL="813316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6pPr>
            <a:lvl7pPr marL="954762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7pPr>
            <a:lvl8pPr marL="1096208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8pPr>
            <a:lvl9pPr marL="1237655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15A8CAF-1E37-4C7A-BEAB-6DE08F817E4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005733" y="1023938"/>
            <a:ext cx="2333863" cy="2293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9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6085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1pPr>
            <a:lvl2pPr marL="247531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2pPr>
            <a:lvl3pPr marL="388977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3pPr>
            <a:lvl4pPr marL="530423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4pPr>
            <a:lvl5pPr marL="671870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5pPr>
            <a:lvl6pPr marL="813316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6pPr>
            <a:lvl7pPr marL="954762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7pPr>
            <a:lvl8pPr marL="1096208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8pPr>
            <a:lvl9pPr marL="1237655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3D21756-4E6D-4741-83A7-7DE752DDCC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8254" y="286703"/>
            <a:ext cx="5021342" cy="4505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3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24BBE31-5D8E-4AD9-BEDE-409040DF56A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8254" y="1023938"/>
            <a:ext cx="2333863" cy="22936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044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06085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1pPr>
            <a:lvl2pPr marL="247531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2pPr>
            <a:lvl3pPr marL="388977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3pPr>
            <a:lvl4pPr marL="530423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4pPr>
            <a:lvl5pPr marL="671870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5pPr>
            <a:lvl6pPr marL="813316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6pPr>
            <a:lvl7pPr marL="954762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7pPr>
            <a:lvl8pPr marL="1096208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8pPr>
            <a:lvl9pPr marL="1237655" indent="-106085">
              <a:lnSpc>
                <a:spcPct val="110000"/>
              </a:lnSpc>
              <a:spcBef>
                <a:spcPts val="0"/>
              </a:spcBef>
              <a:spcAft>
                <a:spcPts val="557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b694776a9c47c5" /><Relationship Type="http://schemas.openxmlformats.org/officeDocument/2006/relationships/slideLayout" Target="/ppt/slideLayouts/slideLayout1.xml" Id="Reaabb19b18cc4c32" /><Relationship Type="http://schemas.openxmlformats.org/officeDocument/2006/relationships/slideLayout" Target="/ppt/slideLayouts/slideLayout2.xml" Id="Rd3b92d3fb2d84a36" /><Relationship Type="http://schemas.openxmlformats.org/officeDocument/2006/relationships/slideLayout" Target="/ppt/slideLayouts/slideLayout3.xml" Id="R2fcfe73a436c45cc" /><Relationship Type="http://schemas.openxmlformats.org/officeDocument/2006/relationships/slideLayout" Target="/ppt/slideLayouts/slideLayout4.xml" Id="Ra8977ac726f44cd3" /><Relationship Type="http://schemas.openxmlformats.org/officeDocument/2006/relationships/slideLayout" Target="/ppt/slideLayouts/slideLayout5.xml" Id="R2447b4ccb3e64c61" /><Relationship Type="http://schemas.openxmlformats.org/officeDocument/2006/relationships/slideLayout" Target="/ppt/slideLayouts/slideLayout6.xml" Id="Rdefae3f828cf46d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abb19b18cc4c32"/>
    <p:sldLayoutId xmlns:r="http://schemas.openxmlformats.org/officeDocument/2006/relationships" id="2147483650" r:id="Rd3b92d3fb2d84a36"/>
    <p:sldLayoutId xmlns:r="http://schemas.openxmlformats.org/officeDocument/2006/relationships" id="2147483651" r:id="R2fcfe73a436c45cc"/>
    <p:sldLayoutId xmlns:r="http://schemas.openxmlformats.org/officeDocument/2006/relationships" id="2147483652" r:id="Ra8977ac726f44cd3"/>
    <p:sldLayoutId xmlns:r="http://schemas.openxmlformats.org/officeDocument/2006/relationships" id="2147483653" r:id="R2447b4ccb3e64c61"/>
    <p:sldLayoutId xmlns:r="http://schemas.openxmlformats.org/officeDocument/2006/relationships" id="2147483654" r:id="Rdefae3f828cf46d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1afe722c24484e" /><Relationship Type="http://schemas.openxmlformats.org/officeDocument/2006/relationships/notesSlide" Target="/ppt/notesSlides/notesSlide1.xml" Id="Rd6c0eb79030b42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5" name="static-plane">
            <a:extLst xmlns:a="http://schemas.openxmlformats.org/drawingml/2006/main">
              <a:ext uri="{FF2B5EF4-FFF2-40B4-BE49-F238E27FC236}">
                <a16:creationId xmlns:a16="http://schemas.microsoft.com/office/drawing/2014/main" id="{B935A333-E38D-47C9-AFB7-78156D2D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9275" y="219075"/>
            <a:ext cx="1438275" cy="3276600"/>
          </a:xfrm>
          <a:custGeom xmlns:a="http://schemas.openxmlformats.org/drawingml/2006/main">
            <a:pathLst>
              <a:path w="1438275" h="3276600">
                <a:moveTo>
                  <a:pt x="0" y="1209675"/>
                </a:moveTo>
                <a:lnTo>
                  <a:pt x="1438275" y="0"/>
                </a:lnTo>
                <a:lnTo>
                  <a:pt x="1438275" y="2057400"/>
                </a:lnTo>
                <a:lnTo>
                  <a:pt x="0" y="3276600"/>
                </a:lnTo>
                <a:close/>
              </a:path>
            </a:pathLst>
          </a:custGeom>
          <a:solidFill xmlns:a="http://schemas.openxmlformats.org/drawingml/2006/main">
            <a:srgbClr val="DFED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cene-back">
            <a:extLst xmlns:a="http://schemas.openxmlformats.org/drawingml/2006/main">
              <a:ext uri="{FF2B5EF4-FFF2-40B4-BE49-F238E27FC236}">
                <a16:creationId xmlns:a16="http://schemas.microsoft.com/office/drawing/2014/main" id="{A27B4B84-6608-4C83-8275-579A2E9F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361950"/>
            <a:ext cx="12001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28575">
            <a:solidFill>
              <a:srgbClr val="83B6CD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" name="scene-document">
            <a:extLst xmlns:a="http://schemas.openxmlformats.org/drawingml/2006/main">
              <a:ext uri="{FF2B5EF4-FFF2-40B4-BE49-F238E27FC236}">
                <a16:creationId xmlns:a16="http://schemas.microsoft.com/office/drawing/2014/main" id="{5519EFB1-8891-442E-9F06-4B7E67710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247650"/>
            <a:ext cx="1200150" cy="1323975"/>
          </a:xfrm>
          <a:custGeom xmlns:a="http://schemas.openxmlformats.org/drawingml/2006/main">
            <a:pathLst>
              <a:path w="1200150" h="1323975">
                <a:moveTo>
                  <a:pt x="0" y="0"/>
                </a:moveTo>
                <a:lnTo>
                  <a:pt x="885825" y="0"/>
                </a:lnTo>
                <a:lnTo>
                  <a:pt x="1200150" y="276225"/>
                </a:lnTo>
                <a:lnTo>
                  <a:pt x="1200150" y="1323975"/>
                </a:lnTo>
                <a:lnTo>
                  <a:pt x="0" y="1323975"/>
                </a:lnTo>
                <a:close/>
              </a:path>
            </a:pathLst>
          </a:custGeom>
          <a:solidFill xmlns:a="http://schemas.openxmlformats.org/drawingml/2006/main">
            <a:srgbClr val="ECEEEF"/>
          </a:solidFill>
          <a:ln xmlns:a="http://schemas.openxmlformats.org/drawingml/2006/main" w="28575">
            <a:solidFill>
              <a:srgbClr val="83B6CD"/>
            </a:solidFill>
            <a:prstDash val="solid"/>
          </a:ln>
        </p:spPr>
      </p:sp>
      <p:sp>
        <p:nvSpPr>
          <p:cNvPr id="4" name="scene-fold">
            <a:extLst xmlns:a="http://schemas.openxmlformats.org/drawingml/2006/main">
              <a:ext uri="{FF2B5EF4-FFF2-40B4-BE49-F238E27FC236}">
                <a16:creationId xmlns:a16="http://schemas.microsoft.com/office/drawing/2014/main" id="{BA61F1A4-AA6B-476C-A6DA-1E296520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247650"/>
            <a:ext cx="314325" cy="276225"/>
          </a:xfrm>
          <a:custGeom xmlns:a="http://schemas.openxmlformats.org/drawingml/2006/main">
            <a:pathLst>
              <a:path w="314325" h="276225">
                <a:moveTo>
                  <a:pt x="0" y="0"/>
                </a:moveTo>
                <a:lnTo>
                  <a:pt x="0" y="276225"/>
                </a:lnTo>
                <a:lnTo>
                  <a:pt x="314325" y="276225"/>
                </a:lnTo>
                <a:close/>
              </a:path>
            </a:pathLst>
          </a:custGeom>
          <a:solidFill xmlns:a="http://schemas.openxmlformats.org/drawingml/2006/main">
            <a:srgbClr val="D4DBDF"/>
          </a:solidFill>
          <a:ln xmlns:a="http://schemas.openxmlformats.org/drawingml/2006/main" w="9525">
            <a:solidFill>
              <a:srgbClr val="A0A9AD"/>
            </a:solidFill>
            <a:prstDash val="solid"/>
          </a:ln>
        </p:spPr>
      </p:sp>
      <p:sp>
        <p:nvSpPr>
          <p:cNvPr id="5" name="scene-label-0">
            <a:extLst xmlns:a="http://schemas.openxmlformats.org/drawingml/2006/main">
              <a:ext uri="{FF2B5EF4-FFF2-40B4-BE49-F238E27FC236}">
                <a16:creationId xmlns:a16="http://schemas.microsoft.com/office/drawing/2014/main" id="{0266389A-D855-49B1-9E51-503BF679A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4381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{ Remove Asset</a:t>
            </a:r>
          </a:p>
        </p:txBody>
      </p:sp>
      <p:sp>
        <p:nvSpPr>
          <p:cNvPr id="6" name="scene-label-1">
            <a:extLst xmlns:a="http://schemas.openxmlformats.org/drawingml/2006/main">
              <a:ext uri="{FF2B5EF4-FFF2-40B4-BE49-F238E27FC236}">
                <a16:creationId xmlns:a16="http://schemas.microsoft.com/office/drawing/2014/main" id="{8C4D995F-A603-4C13-B871-73A38E27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67627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Spawn Asset</a:t>
            </a:r>
          </a:p>
        </p:txBody>
      </p:sp>
      <p:sp>
        <p:nvSpPr>
          <p:cNvPr id="7" name="scene-label-2">
            <a:extLst xmlns:a="http://schemas.openxmlformats.org/drawingml/2006/main">
              <a:ext uri="{FF2B5EF4-FFF2-40B4-BE49-F238E27FC236}">
                <a16:creationId xmlns:a16="http://schemas.microsoft.com/office/drawing/2014/main" id="{B60A293D-1CC1-45E1-8978-2863072B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9144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Set Joint</a:t>
            </a:r>
          </a:p>
        </p:txBody>
      </p:sp>
      <p:sp>
        <p:nvSpPr>
          <p:cNvPr id="8" name="scene-label-3">
            <a:extLst xmlns:a="http://schemas.openxmlformats.org/drawingml/2006/main">
              <a:ext uri="{FF2B5EF4-FFF2-40B4-BE49-F238E27FC236}">
                <a16:creationId xmlns:a16="http://schemas.microsoft.com/office/drawing/2014/main" id="{D06297D7-26B9-4B6B-8B28-73519C27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115252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Rescale</a:t>
            </a:r>
          </a:p>
        </p:txBody>
      </p:sp>
      <p:sp>
        <p:nvSpPr>
          <p:cNvPr id="9" name="scene-label-4">
            <a:extLst xmlns:a="http://schemas.openxmlformats.org/drawingml/2006/main">
              <a:ext uri="{FF2B5EF4-FFF2-40B4-BE49-F238E27FC236}">
                <a16:creationId xmlns:a16="http://schemas.microsoft.com/office/drawing/2014/main" id="{0791D2A8-0793-4C1E-A0D7-9C9ADD5C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132397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 }</a:t>
            </a:r>
          </a:p>
        </p:txBody>
      </p:sp>
      <p:sp>
        <p:nvSpPr>
          <p:cNvPr id="10" name="policy-back">
            <a:extLst xmlns:a="http://schemas.openxmlformats.org/drawingml/2006/main">
              <a:ext uri="{FF2B5EF4-FFF2-40B4-BE49-F238E27FC236}">
                <a16:creationId xmlns:a16="http://schemas.microsoft.com/office/drawing/2014/main" id="{C5BFA2B1-345F-401C-A434-F079374A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1925" y="2038350"/>
            <a:ext cx="1200150" cy="1266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7E9"/>
          </a:solidFill>
          <a:ln xmlns:a="http://schemas.openxmlformats.org/drawingml/2006/main" w="28575">
            <a:solidFill>
              <a:srgbClr val="89BE91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policy-document">
            <a:extLst xmlns:a="http://schemas.openxmlformats.org/drawingml/2006/main">
              <a:ext uri="{FF2B5EF4-FFF2-40B4-BE49-F238E27FC236}">
                <a16:creationId xmlns:a16="http://schemas.microsoft.com/office/drawing/2014/main" id="{785B6513-2E1E-4FB1-A3A4-DAEA7A19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7175" y="1924050"/>
            <a:ext cx="1200150" cy="1323975"/>
          </a:xfrm>
          <a:custGeom xmlns:a="http://schemas.openxmlformats.org/drawingml/2006/main">
            <a:pathLst>
              <a:path w="1200150" h="1323975">
                <a:moveTo>
                  <a:pt x="0" y="0"/>
                </a:moveTo>
                <a:lnTo>
                  <a:pt x="885825" y="0"/>
                </a:lnTo>
                <a:lnTo>
                  <a:pt x="1200150" y="276225"/>
                </a:lnTo>
                <a:lnTo>
                  <a:pt x="1200150" y="1323975"/>
                </a:lnTo>
                <a:lnTo>
                  <a:pt x="0" y="1323975"/>
                </a:lnTo>
                <a:close/>
              </a:path>
            </a:pathLst>
          </a:custGeom>
          <a:solidFill xmlns:a="http://schemas.openxmlformats.org/drawingml/2006/main">
            <a:srgbClr val="ECEEEF"/>
          </a:solidFill>
          <a:ln xmlns:a="http://schemas.openxmlformats.org/drawingml/2006/main" w="28575">
            <a:solidFill>
              <a:srgbClr val="89BE91"/>
            </a:solidFill>
            <a:prstDash val="solid"/>
          </a:ln>
        </p:spPr>
      </p:sp>
      <p:sp>
        <p:nvSpPr>
          <p:cNvPr id="12" name="policy-fold">
            <a:extLst xmlns:a="http://schemas.openxmlformats.org/drawingml/2006/main">
              <a:ext uri="{FF2B5EF4-FFF2-40B4-BE49-F238E27FC236}">
                <a16:creationId xmlns:a16="http://schemas.microsoft.com/office/drawing/2014/main" id="{4A3DFBAD-7F45-4F93-BE14-8793E2D9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" y="1924050"/>
            <a:ext cx="314325" cy="276225"/>
          </a:xfrm>
          <a:custGeom xmlns:a="http://schemas.openxmlformats.org/drawingml/2006/main">
            <a:pathLst>
              <a:path w="314325" h="276225">
                <a:moveTo>
                  <a:pt x="0" y="0"/>
                </a:moveTo>
                <a:lnTo>
                  <a:pt x="0" y="276225"/>
                </a:lnTo>
                <a:lnTo>
                  <a:pt x="314325" y="276225"/>
                </a:lnTo>
                <a:close/>
              </a:path>
            </a:pathLst>
          </a:custGeom>
          <a:solidFill xmlns:a="http://schemas.openxmlformats.org/drawingml/2006/main">
            <a:srgbClr val="D4DBDF"/>
          </a:solidFill>
          <a:ln xmlns:a="http://schemas.openxmlformats.org/drawingml/2006/main" w="9525">
            <a:solidFill>
              <a:srgbClr val="A0A9AD"/>
            </a:solidFill>
            <a:prstDash val="solid"/>
          </a:ln>
        </p:spPr>
      </p:sp>
      <p:sp>
        <p:nvSpPr>
          <p:cNvPr id="13" name="policy-label-0">
            <a:extLst xmlns:a="http://schemas.openxmlformats.org/drawingml/2006/main">
              <a:ext uri="{FF2B5EF4-FFF2-40B4-BE49-F238E27FC236}">
                <a16:creationId xmlns:a16="http://schemas.microsoft.com/office/drawing/2014/main" id="{190624D8-C141-4D01-9F32-33F079CE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211455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{ Inject Reward</a:t>
            </a:r>
          </a:p>
        </p:txBody>
      </p:sp>
      <p:sp>
        <p:nvSpPr>
          <p:cNvPr id="14" name="policy-label-1">
            <a:extLst xmlns:a="http://schemas.openxmlformats.org/drawingml/2006/main">
              <a:ext uri="{FF2B5EF4-FFF2-40B4-BE49-F238E27FC236}">
                <a16:creationId xmlns:a16="http://schemas.microsoft.com/office/drawing/2014/main" id="{A9A7D0C0-FAF6-4CB1-A1E7-629DF4E4D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235267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Replan Path</a:t>
            </a:r>
          </a:p>
        </p:txBody>
      </p:sp>
      <p:sp>
        <p:nvSpPr>
          <p:cNvPr id="15" name="policy-label-2">
            <a:extLst xmlns:a="http://schemas.openxmlformats.org/drawingml/2006/main">
              <a:ext uri="{FF2B5EF4-FFF2-40B4-BE49-F238E27FC236}">
                <a16:creationId xmlns:a16="http://schemas.microsoft.com/office/drawing/2014/main" id="{C07463E1-CB7C-446A-BDD5-51282938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25908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Adjust Grasp</a:t>
            </a:r>
          </a:p>
        </p:txBody>
      </p:sp>
      <p:sp>
        <p:nvSpPr>
          <p:cNvPr id="16" name="policy-label-3">
            <a:extLst xmlns:a="http://schemas.openxmlformats.org/drawingml/2006/main">
              <a:ext uri="{FF2B5EF4-FFF2-40B4-BE49-F238E27FC236}">
                <a16:creationId xmlns:a16="http://schemas.microsoft.com/office/drawing/2014/main" id="{8C036BDF-AD58-443A-B734-F5915378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3850" y="2828925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050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...}</a:t>
            </a:r>
          </a:p>
        </p:txBody>
      </p:sp>
      <p:sp>
        <p:nvSpPr>
          <p:cNvPr id="17" name="static-repair">
            <a:extLst xmlns:a="http://schemas.openxmlformats.org/drawingml/2006/main">
              <a:ext uri="{FF2B5EF4-FFF2-40B4-BE49-F238E27FC236}">
                <a16:creationId xmlns:a16="http://schemas.microsoft.com/office/drawing/2014/main" id="{5FAAB4FC-9FA1-4B08-961D-01CBB714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952500"/>
            <a:ext cx="800100" cy="95"/>
          </a:xfrm>
          <a:custGeom xmlns:a="http://schemas.openxmlformats.org/drawingml/2006/main">
            <a:pathLst>
              <a:path w="800100" h="95">
                <a:moveTo>
                  <a:pt x="0" y="0"/>
                </a:moveTo>
                <a:lnTo>
                  <a:pt x="8001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2677F"/>
            </a:solidFill>
            <a:prstDash val="solid"/>
          </a:ln>
        </p:spPr>
      </p:sp>
      <p:sp>
        <p:nvSpPr>
          <p:cNvPr id="18" name="static-repair-head">
            <a:extLst xmlns:a="http://schemas.openxmlformats.org/drawingml/2006/main">
              <a:ext uri="{FF2B5EF4-FFF2-40B4-BE49-F238E27FC236}">
                <a16:creationId xmlns:a16="http://schemas.microsoft.com/office/drawing/2014/main" id="{6388FF4F-A51C-4536-A9CA-861C3D2AA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909638"/>
            <a:ext cx="95250" cy="85725"/>
          </a:xfrm>
          <a:custGeom xmlns:a="http://schemas.openxmlformats.org/drawingml/2006/main">
            <a:pathLst>
              <a:path w="95250" h="85725">
                <a:moveTo>
                  <a:pt x="95250" y="42863"/>
                </a:moveTo>
                <a:lnTo>
                  <a:pt x="0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2677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dynamic-repair">
            <a:extLst xmlns:a="http://schemas.openxmlformats.org/drawingml/2006/main">
              <a:ext uri="{FF2B5EF4-FFF2-40B4-BE49-F238E27FC236}">
                <a16:creationId xmlns:a16="http://schemas.microsoft.com/office/drawing/2014/main" id="{4A1DA72A-6AED-401E-A112-7D5A7680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3324225"/>
            <a:ext cx="3876675" cy="323850"/>
          </a:xfrm>
          <a:custGeom xmlns:a="http://schemas.openxmlformats.org/drawingml/2006/main">
            <a:pathLst>
              <a:path w="3876675" h="323850">
                <a:moveTo>
                  <a:pt x="0" y="0"/>
                </a:moveTo>
                <a:lnTo>
                  <a:pt x="0" y="323850"/>
                </a:lnTo>
                <a:lnTo>
                  <a:pt x="3876675" y="323850"/>
                </a:lnTo>
                <a:lnTo>
                  <a:pt x="3876675" y="285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427F34"/>
            </a:solidFill>
            <a:prstDash val="solid"/>
          </a:ln>
        </p:spPr>
      </p:sp>
      <p:sp>
        <p:nvSpPr>
          <p:cNvPr id="20" name="dynamic-repair-head">
            <a:extLst xmlns:a="http://schemas.openxmlformats.org/drawingml/2006/main">
              <a:ext uri="{FF2B5EF4-FFF2-40B4-BE49-F238E27FC236}">
                <a16:creationId xmlns:a16="http://schemas.microsoft.com/office/drawing/2014/main" id="{D8B1D6ED-2FF6-46AC-B2EE-D2AC465EC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86288" y="3352800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0"/>
                </a:moveTo>
                <a:lnTo>
                  <a:pt x="85725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427F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axis-T">
            <a:extLst xmlns:a="http://schemas.openxmlformats.org/drawingml/2006/main">
              <a:ext uri="{FF2B5EF4-FFF2-40B4-BE49-F238E27FC236}">
                <a16:creationId xmlns:a16="http://schemas.microsoft.com/office/drawing/2014/main" id="{CF4D8A17-05FD-4C3D-8472-AC7763E2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2800" y="2114550"/>
            <a:ext cx="1924050" cy="95"/>
          </a:xfrm>
          <a:custGeom xmlns:a="http://schemas.openxmlformats.org/drawingml/2006/main">
            <a:pathLst>
              <a:path w="1924050" h="95">
                <a:moveTo>
                  <a:pt x="0" y="0"/>
                </a:moveTo>
                <a:lnTo>
                  <a:pt x="1924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</p:sp>
      <p:sp>
        <p:nvSpPr>
          <p:cNvPr id="22" name="axis-T-head">
            <a:extLst xmlns:a="http://schemas.openxmlformats.org/drawingml/2006/main">
              <a:ext uri="{FF2B5EF4-FFF2-40B4-BE49-F238E27FC236}">
                <a16:creationId xmlns:a16="http://schemas.microsoft.com/office/drawing/2014/main" id="{111F06CF-326A-4B65-B905-2735C56D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81600" y="2071688"/>
            <a:ext cx="95250" cy="85725"/>
          </a:xfrm>
          <a:custGeom xmlns:a="http://schemas.openxmlformats.org/drawingml/2006/main">
            <a:pathLst>
              <a:path w="95250" h="85725">
                <a:moveTo>
                  <a:pt x="95250" y="42863"/>
                </a:moveTo>
                <a:lnTo>
                  <a:pt x="0" y="857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xis-J">
            <a:extLst xmlns:a="http://schemas.openxmlformats.org/drawingml/2006/main">
              <a:ext uri="{FF2B5EF4-FFF2-40B4-BE49-F238E27FC236}">
                <a16:creationId xmlns:a16="http://schemas.microsoft.com/office/drawing/2014/main" id="{DD9CE5A9-CF25-4582-8289-FCAD38B01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0425" y="438150"/>
            <a:ext cx="95" cy="1704975"/>
          </a:xfrm>
          <a:custGeom xmlns:a="http://schemas.openxmlformats.org/drawingml/2006/main">
            <a:pathLst>
              <a:path w="95" h="1704975">
                <a:moveTo>
                  <a:pt x="0" y="170497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</p:sp>
      <p:sp>
        <p:nvSpPr>
          <p:cNvPr id="24" name="axis-J-head">
            <a:extLst xmlns:a="http://schemas.openxmlformats.org/drawingml/2006/main">
              <a:ext uri="{FF2B5EF4-FFF2-40B4-BE49-F238E27FC236}">
                <a16:creationId xmlns:a16="http://schemas.microsoft.com/office/drawing/2014/main" id="{E71DB6E9-21BB-46CC-A9BC-2F2F1410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57563" y="438150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0"/>
                </a:moveTo>
                <a:lnTo>
                  <a:pt x="85725" y="95250"/>
                </a:lnTo>
                <a:lnTo>
                  <a:pt x="0" y="95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axis-S">
            <a:extLst xmlns:a="http://schemas.openxmlformats.org/drawingml/2006/main">
              <a:ext uri="{FF2B5EF4-FFF2-40B4-BE49-F238E27FC236}">
                <a16:creationId xmlns:a16="http://schemas.microsoft.com/office/drawing/2014/main" id="{8950E141-C7F7-4904-80A3-97EE9102D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2162175"/>
            <a:ext cx="1276350" cy="1123950"/>
          </a:xfrm>
          <a:custGeom xmlns:a="http://schemas.openxmlformats.org/drawingml/2006/main">
            <a:pathLst>
              <a:path w="1276350" h="1123950">
                <a:moveTo>
                  <a:pt x="1276350" y="0"/>
                </a:moveTo>
                <a:lnTo>
                  <a:pt x="0" y="11239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</p:sp>
      <p:sp>
        <p:nvSpPr>
          <p:cNvPr id="26" name="axis-S-head">
            <a:extLst xmlns:a="http://schemas.openxmlformats.org/drawingml/2006/main">
              <a:ext uri="{FF2B5EF4-FFF2-40B4-BE49-F238E27FC236}">
                <a16:creationId xmlns:a16="http://schemas.microsoft.com/office/drawing/2014/main" id="{4D7E4EB3-808A-4B7B-ABED-6A3EDC9D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14550" y="3191008"/>
            <a:ext cx="99811" cy="95117"/>
          </a:xfrm>
          <a:custGeom xmlns:a="http://schemas.openxmlformats.org/drawingml/2006/main">
            <a:pathLst>
              <a:path w="99811" h="95117">
                <a:moveTo>
                  <a:pt x="0" y="95117"/>
                </a:moveTo>
                <a:lnTo>
                  <a:pt x="43157" y="0"/>
                </a:lnTo>
                <a:lnTo>
                  <a:pt x="99811" y="6433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axis-t">
            <a:extLst xmlns:a="http://schemas.openxmlformats.org/drawingml/2006/main">
              <a:ext uri="{FF2B5EF4-FFF2-40B4-BE49-F238E27FC236}">
                <a16:creationId xmlns:a16="http://schemas.microsoft.com/office/drawing/2014/main" id="{09C2F157-CB5C-4695-9912-93F50A823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24475" y="1962150"/>
            <a:ext cx="285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T</a:t>
            </a:r>
          </a:p>
        </p:txBody>
      </p:sp>
      <p:sp>
        <p:nvSpPr>
          <p:cNvPr id="28" name="axis-j">
            <a:extLst xmlns:a="http://schemas.openxmlformats.org/drawingml/2006/main">
              <a:ext uri="{FF2B5EF4-FFF2-40B4-BE49-F238E27FC236}">
                <a16:creationId xmlns:a16="http://schemas.microsoft.com/office/drawing/2014/main" id="{8081EBA1-A02E-4AD5-8D93-F3EA7605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76600" y="66675"/>
            <a:ext cx="24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J</a:t>
            </a:r>
          </a:p>
        </p:txBody>
      </p:sp>
      <p:sp>
        <p:nvSpPr>
          <p:cNvPr id="29" name="axis-s">
            <a:extLst xmlns:a="http://schemas.openxmlformats.org/drawingml/2006/main">
              <a:ext uri="{FF2B5EF4-FFF2-40B4-BE49-F238E27FC236}">
                <a16:creationId xmlns:a16="http://schemas.microsoft.com/office/drawing/2014/main" id="{F46F7A24-CA09-44D0-A288-8043FEB2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85950" y="319087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21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21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30" name="static-title">
            <a:extLst xmlns:a="http://schemas.openxmlformats.org/drawingml/2006/main">
              <a:ext uri="{FF2B5EF4-FFF2-40B4-BE49-F238E27FC236}">
                <a16:creationId xmlns:a16="http://schemas.microsoft.com/office/drawing/2014/main" id="{55CE8010-73A0-4F00-85BE-6A04A682C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640000">
            <a:off x="2190750" y="581025"/>
            <a:ext cx="1219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42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42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Static Alignment</a:t>
            </a:r>
          </a:p>
        </p:txBody>
      </p:sp>
      <p:sp>
        <p:nvSpPr>
          <p:cNvPr id="31" name="dynamic-title">
            <a:extLst xmlns:a="http://schemas.openxmlformats.org/drawingml/2006/main">
              <a:ext uri="{FF2B5EF4-FFF2-40B4-BE49-F238E27FC236}">
                <a16:creationId xmlns:a16="http://schemas.microsoft.com/office/drawing/2014/main" id="{9739C941-3914-40CB-A47C-7E23925F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71900" y="3133725"/>
            <a:ext cx="1743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5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5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Dynamic Alignment</a:t>
            </a:r>
          </a:p>
        </p:txBody>
      </p:sp>
      <p:sp>
        <p:nvSpPr>
          <p:cNvPr id="32" name="feasible-label">
            <a:extLst xmlns:a="http://schemas.openxmlformats.org/drawingml/2006/main">
              <a:ext uri="{FF2B5EF4-FFF2-40B4-BE49-F238E27FC236}">
                <a16:creationId xmlns:a16="http://schemas.microsoft.com/office/drawing/2014/main" id="{12E8B579-C3C0-4133-A312-F0A12AB0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571500"/>
            <a:ext cx="17907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7B5"/>
          </a:solidFill>
          <a:ln xmlns:a="http://schemas.openxmlformats.org/drawingml/2006/main" w="9525">
            <a:solidFill>
              <a:srgbClr val="A7C99A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33" name="feasible-text">
            <a:extLst xmlns:a="http://schemas.openxmlformats.org/drawingml/2006/main">
              <a:ext uri="{FF2B5EF4-FFF2-40B4-BE49-F238E27FC236}">
                <a16:creationId xmlns:a16="http://schemas.microsoft.com/office/drawing/2014/main" id="{1614E199-8E24-46DE-9C65-8C185DA9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0450" y="619125"/>
            <a:ext cx="16478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0">
                <a:solidFill>
                  <a:srgbClr val="4064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900" b="0" i="0">
                <a:solidFill>
                  <a:srgbClr val="406442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406442"/>
                </a:solidFill>
                <a:latin typeface="Arial"/>
                <a:ea typeface="Arial"/>
                <a:cs typeface="Arial"/>
              </a:rPr>
              <a:t>Feasible Task-Policy Space</a:t>
            </a:r>
          </a:p>
        </p:txBody>
      </p:sp>
      <p:sp>
        <p:nvSpPr>
          <p:cNvPr id="34" name="feasible-polytope">
            <a:extLst xmlns:a="http://schemas.openxmlformats.org/drawingml/2006/main">
              <a:ext uri="{FF2B5EF4-FFF2-40B4-BE49-F238E27FC236}">
                <a16:creationId xmlns:a16="http://schemas.microsoft.com/office/drawing/2014/main" id="{DDC932BD-8953-42AE-9434-59C7CBD01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5725" y="933450"/>
            <a:ext cx="914400" cy="857250"/>
          </a:xfrm>
          <a:custGeom xmlns:a="http://schemas.openxmlformats.org/drawingml/2006/main">
            <a:pathLst>
              <a:path w="914400" h="857250">
                <a:moveTo>
                  <a:pt x="0" y="523875"/>
                </a:moveTo>
                <a:lnTo>
                  <a:pt x="76200" y="228600"/>
                </a:lnTo>
                <a:lnTo>
                  <a:pt x="228600" y="0"/>
                </a:lnTo>
                <a:lnTo>
                  <a:pt x="638175" y="0"/>
                </a:lnTo>
                <a:lnTo>
                  <a:pt x="847725" y="266700"/>
                </a:lnTo>
                <a:lnTo>
                  <a:pt x="914400" y="495300"/>
                </a:lnTo>
                <a:lnTo>
                  <a:pt x="752475" y="857250"/>
                </a:lnTo>
                <a:lnTo>
                  <a:pt x="390525" y="847725"/>
                </a:lnTo>
                <a:lnTo>
                  <a:pt x="180975" y="704850"/>
                </a:lnTo>
                <a:close/>
              </a:path>
            </a:pathLst>
          </a:custGeom>
          <a:solidFill xmlns:a="http://schemas.openxmlformats.org/drawingml/2006/main">
            <a:srgbClr val="ACBB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ace-0">
            <a:extLst xmlns:a="http://schemas.openxmlformats.org/drawingml/2006/main">
              <a:ext uri="{FF2B5EF4-FFF2-40B4-BE49-F238E27FC236}">
                <a16:creationId xmlns:a16="http://schemas.microsoft.com/office/drawing/2014/main" id="{452559E8-182D-4D4E-B65F-287C4021E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71925" y="933450"/>
            <a:ext cx="428625" cy="266700"/>
          </a:xfrm>
          <a:custGeom xmlns:a="http://schemas.openxmlformats.org/drawingml/2006/main">
            <a:pathLst>
              <a:path w="428625" h="266700">
                <a:moveTo>
                  <a:pt x="152400" y="0"/>
                </a:moveTo>
                <a:lnTo>
                  <a:pt x="428625" y="266700"/>
                </a:lnTo>
                <a:lnTo>
                  <a:pt x="0" y="228600"/>
                </a:lnTo>
                <a:close/>
              </a:path>
            </a:pathLst>
          </a:custGeom>
          <a:solidFill xmlns:a="http://schemas.openxmlformats.org/drawingml/2006/main">
            <a:srgbClr val="BCC8C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face-1">
            <a:extLst xmlns:a="http://schemas.openxmlformats.org/drawingml/2006/main">
              <a:ext uri="{FF2B5EF4-FFF2-40B4-BE49-F238E27FC236}">
                <a16:creationId xmlns:a16="http://schemas.microsoft.com/office/drawing/2014/main" id="{DD845E01-700B-46FB-A498-B022CE4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24325" y="933450"/>
            <a:ext cx="409575" cy="266700"/>
          </a:xfrm>
          <a:custGeom xmlns:a="http://schemas.openxmlformats.org/drawingml/2006/main">
            <a:pathLst>
              <a:path w="409575" h="266700">
                <a:moveTo>
                  <a:pt x="0" y="0"/>
                </a:moveTo>
                <a:lnTo>
                  <a:pt x="409575" y="0"/>
                </a:lnTo>
                <a:lnTo>
                  <a:pt x="276225" y="266700"/>
                </a:lnTo>
                <a:close/>
              </a:path>
            </a:pathLst>
          </a:custGeom>
          <a:solidFill xmlns:a="http://schemas.openxmlformats.org/drawingml/2006/main">
            <a:srgbClr val="9FAD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face-2">
            <a:extLst xmlns:a="http://schemas.openxmlformats.org/drawingml/2006/main">
              <a:ext uri="{FF2B5EF4-FFF2-40B4-BE49-F238E27FC236}">
                <a16:creationId xmlns:a16="http://schemas.microsoft.com/office/drawing/2014/main" id="{549ACBE0-880C-4BDA-B172-62793E2BC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933450"/>
            <a:ext cx="342900" cy="476250"/>
          </a:xfrm>
          <a:custGeom xmlns:a="http://schemas.openxmlformats.org/drawingml/2006/main">
            <a:pathLst>
              <a:path w="342900" h="476250">
                <a:moveTo>
                  <a:pt x="133350" y="0"/>
                </a:moveTo>
                <a:lnTo>
                  <a:pt x="342900" y="266700"/>
                </a:lnTo>
                <a:lnTo>
                  <a:pt x="171450" y="476250"/>
                </a:lnTo>
                <a:lnTo>
                  <a:pt x="0" y="266700"/>
                </a:lnTo>
                <a:close/>
              </a:path>
            </a:pathLst>
          </a:custGeom>
          <a:solidFill xmlns:a="http://schemas.openxmlformats.org/drawingml/2006/main">
            <a:srgbClr val="A7B8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face-3">
            <a:extLst xmlns:a="http://schemas.openxmlformats.org/drawingml/2006/main">
              <a:ext uri="{FF2B5EF4-FFF2-40B4-BE49-F238E27FC236}">
                <a16:creationId xmlns:a16="http://schemas.microsoft.com/office/drawing/2014/main" id="{968EC745-A9A0-43FD-80D9-C9D0C8C1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5725" y="1162050"/>
            <a:ext cx="504825" cy="438150"/>
          </a:xfrm>
          <a:custGeom xmlns:a="http://schemas.openxmlformats.org/drawingml/2006/main">
            <a:pathLst>
              <a:path w="504825" h="438150">
                <a:moveTo>
                  <a:pt x="76200" y="0"/>
                </a:moveTo>
                <a:lnTo>
                  <a:pt x="504825" y="38100"/>
                </a:lnTo>
                <a:lnTo>
                  <a:pt x="333375" y="438150"/>
                </a:lnTo>
                <a:lnTo>
                  <a:pt x="0" y="295275"/>
                </a:lnTo>
                <a:close/>
              </a:path>
            </a:pathLst>
          </a:custGeom>
          <a:solidFill xmlns:a="http://schemas.openxmlformats.org/drawingml/2006/main">
            <a:srgbClr val="BCCA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face-4">
            <a:extLst xmlns:a="http://schemas.openxmlformats.org/drawingml/2006/main">
              <a:ext uri="{FF2B5EF4-FFF2-40B4-BE49-F238E27FC236}">
                <a16:creationId xmlns:a16="http://schemas.microsoft.com/office/drawing/2014/main" id="{11F04167-1EB0-4D22-9855-B0A474C43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29100" y="1200150"/>
            <a:ext cx="419100" cy="590550"/>
          </a:xfrm>
          <a:custGeom xmlns:a="http://schemas.openxmlformats.org/drawingml/2006/main">
            <a:pathLst>
              <a:path w="419100" h="590550">
                <a:moveTo>
                  <a:pt x="171450" y="0"/>
                </a:moveTo>
                <a:lnTo>
                  <a:pt x="342900" y="209550"/>
                </a:lnTo>
                <a:lnTo>
                  <a:pt x="419100" y="590550"/>
                </a:lnTo>
                <a:lnTo>
                  <a:pt x="0" y="400050"/>
                </a:lnTo>
                <a:close/>
              </a:path>
            </a:pathLst>
          </a:custGeom>
          <a:solidFill xmlns:a="http://schemas.openxmlformats.org/drawingml/2006/main">
            <a:srgbClr val="A0B39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face-5">
            <a:extLst xmlns:a="http://schemas.openxmlformats.org/drawingml/2006/main">
              <a:ext uri="{FF2B5EF4-FFF2-40B4-BE49-F238E27FC236}">
                <a16:creationId xmlns:a16="http://schemas.microsoft.com/office/drawing/2014/main" id="{71D28D41-4A5F-482C-B6B1-4B13FCBA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95725" y="1457325"/>
            <a:ext cx="390525" cy="323850"/>
          </a:xfrm>
          <a:custGeom xmlns:a="http://schemas.openxmlformats.org/drawingml/2006/main">
            <a:pathLst>
              <a:path w="390525" h="323850">
                <a:moveTo>
                  <a:pt x="0" y="0"/>
                </a:moveTo>
                <a:lnTo>
                  <a:pt x="333375" y="142875"/>
                </a:lnTo>
                <a:lnTo>
                  <a:pt x="390525" y="323850"/>
                </a:lnTo>
                <a:lnTo>
                  <a:pt x="180975" y="180975"/>
                </a:lnTo>
                <a:close/>
              </a:path>
            </a:pathLst>
          </a:custGeom>
          <a:solidFill xmlns:a="http://schemas.openxmlformats.org/drawingml/2006/main">
            <a:srgbClr val="A7B6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tate-0">
            <a:extLst xmlns:a="http://schemas.openxmlformats.org/drawingml/2006/main">
              <a:ext uri="{FF2B5EF4-FFF2-40B4-BE49-F238E27FC236}">
                <a16:creationId xmlns:a16="http://schemas.microsoft.com/office/drawing/2014/main" id="{C1359815-A8ED-45E1-9161-D0D96F941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1181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F0"/>
          </a:solidFill>
          <a:ln xmlns:a="http://schemas.openxmlformats.org/drawingml/2006/main" w="19050">
            <a:solidFill>
              <a:srgbClr val="3CAFE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2" name="state-1">
            <a:extLst xmlns:a="http://schemas.openxmlformats.org/drawingml/2006/main">
              <a:ext uri="{FF2B5EF4-FFF2-40B4-BE49-F238E27FC236}">
                <a16:creationId xmlns:a16="http://schemas.microsoft.com/office/drawing/2014/main" id="{D798CB5B-28DE-4B00-A33A-67DBA975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0" y="1704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F0"/>
          </a:solidFill>
          <a:ln xmlns:a="http://schemas.openxmlformats.org/drawingml/2006/main" w="19050">
            <a:solidFill>
              <a:srgbClr val="3CAFE3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3" name="state-2">
            <a:extLst xmlns:a="http://schemas.openxmlformats.org/drawingml/2006/main">
              <a:ext uri="{FF2B5EF4-FFF2-40B4-BE49-F238E27FC236}">
                <a16:creationId xmlns:a16="http://schemas.microsoft.com/office/drawing/2014/main" id="{B6C0A3B3-8461-428B-9496-D3851628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52700" y="2009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F0"/>
          </a:solidFill>
          <a:ln xmlns:a="http://schemas.openxmlformats.org/drawingml/2006/main" w="19050">
            <a:solidFill>
              <a:srgbClr val="8DD89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4" name="state-3">
            <a:extLst xmlns:a="http://schemas.openxmlformats.org/drawingml/2006/main">
              <a:ext uri="{FF2B5EF4-FFF2-40B4-BE49-F238E27FC236}">
                <a16:creationId xmlns:a16="http://schemas.microsoft.com/office/drawing/2014/main" id="{9D91FE77-858B-4697-9827-1D0025A0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90775" y="2581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F0"/>
          </a:solidFill>
          <a:ln xmlns:a="http://schemas.openxmlformats.org/drawingml/2006/main" w="19050">
            <a:solidFill>
              <a:srgbClr val="8B8D8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5" name="state-4">
            <a:extLst xmlns:a="http://schemas.openxmlformats.org/drawingml/2006/main">
              <a:ext uri="{FF2B5EF4-FFF2-40B4-BE49-F238E27FC236}">
                <a16:creationId xmlns:a16="http://schemas.microsoft.com/office/drawing/2014/main" id="{3709B65D-BE7A-4659-88FE-3A6514C7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2725" y="23622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F0"/>
          </a:solidFill>
          <a:ln xmlns:a="http://schemas.openxmlformats.org/drawingml/2006/main" w="19050">
            <a:solidFill>
              <a:srgbClr val="8B8D8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6" name="state-5">
            <a:extLst xmlns:a="http://schemas.openxmlformats.org/drawingml/2006/main">
              <a:ext uri="{FF2B5EF4-FFF2-40B4-BE49-F238E27FC236}">
                <a16:creationId xmlns:a16="http://schemas.microsoft.com/office/drawing/2014/main" id="{A8D0433C-5418-4A8A-893F-290C6CED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6230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F0"/>
          </a:solidFill>
          <a:ln xmlns:a="http://schemas.openxmlformats.org/drawingml/2006/main" w="19050">
            <a:solidFill>
              <a:srgbClr val="8B8D8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7" name="state-6">
            <a:extLst xmlns:a="http://schemas.openxmlformats.org/drawingml/2006/main">
              <a:ext uri="{FF2B5EF4-FFF2-40B4-BE49-F238E27FC236}">
                <a16:creationId xmlns:a16="http://schemas.microsoft.com/office/drawing/2014/main" id="{F48D6BA7-8064-4396-A662-24E5932A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62375" y="2838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F0"/>
          </a:solidFill>
          <a:ln xmlns:a="http://schemas.openxmlformats.org/drawingml/2006/main" w="19050">
            <a:solidFill>
              <a:srgbClr val="8B8D8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8" name="state-7">
            <a:extLst xmlns:a="http://schemas.openxmlformats.org/drawingml/2006/main">
              <a:ext uri="{FF2B5EF4-FFF2-40B4-BE49-F238E27FC236}">
                <a16:creationId xmlns:a16="http://schemas.microsoft.com/office/drawing/2014/main" id="{F689EFE8-AF84-432D-96EB-21960B64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52725" y="31623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F0"/>
          </a:solidFill>
          <a:ln xmlns:a="http://schemas.openxmlformats.org/drawingml/2006/main" w="19050">
            <a:solidFill>
              <a:srgbClr val="8B8D8C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49" name="state-8">
            <a:extLst xmlns:a="http://schemas.openxmlformats.org/drawingml/2006/main">
              <a:ext uri="{FF2B5EF4-FFF2-40B4-BE49-F238E27FC236}">
                <a16:creationId xmlns:a16="http://schemas.microsoft.com/office/drawing/2014/main" id="{8B67D555-0DBB-487A-A2EA-103C96CCE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7100" y="17716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F0"/>
          </a:solidFill>
          <a:ln xmlns:a="http://schemas.openxmlformats.org/drawingml/2006/main" w="19050">
            <a:solidFill>
              <a:srgbClr val="55BB4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0" name="state-9">
            <a:extLst xmlns:a="http://schemas.openxmlformats.org/drawingml/2006/main">
              <a:ext uri="{FF2B5EF4-FFF2-40B4-BE49-F238E27FC236}">
                <a16:creationId xmlns:a16="http://schemas.microsoft.com/office/drawing/2014/main" id="{4D52B172-F0CE-40E5-BBDC-152F4260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57650" y="12954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EEF0"/>
          </a:solidFill>
          <a:ln xmlns:a="http://schemas.openxmlformats.org/drawingml/2006/main" w="19050">
            <a:solidFill>
              <a:srgbClr val="55BB4F"/>
            </a:solidFill>
            <a:prstDash val="solid"/>
          </a:ln>
        </p:spPr>
        <p:txBody>
          <a:bodyPr xmlns:a="http://schemas.openxmlformats.org/drawingml/2006/main" wrap="square" lIns="19050" tIns="19050" rIns="19050" bIns="19050" anchor="ctr"/>
          <a:lstStyle xmlns:a="http://schemas.openxmlformats.org/drawingml/2006/main">
            <a:defPPr algn="ctr">
              <a:defRPr sz="150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</p:txBody>
      </p:sp>
      <p:sp>
        <p:nvSpPr>
          <p:cNvPr id="51" name="transition-0">
            <a:extLst xmlns:a="http://schemas.openxmlformats.org/drawingml/2006/main">
              <a:ext uri="{FF2B5EF4-FFF2-40B4-BE49-F238E27FC236}">
                <a16:creationId xmlns:a16="http://schemas.microsoft.com/office/drawing/2014/main" id="{E6612F7B-E140-482C-94F4-B1936930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00375" y="1285875"/>
            <a:ext cx="95" cy="390525"/>
          </a:xfrm>
          <a:custGeom xmlns:a="http://schemas.openxmlformats.org/drawingml/2006/main">
            <a:pathLst>
              <a:path w="95" h="390525">
                <a:moveTo>
                  <a:pt x="0" y="0"/>
                </a:moveTo>
                <a:lnTo>
                  <a:pt x="0" y="3905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94CBE6"/>
            </a:solidFill>
            <a:prstDash val="dash"/>
          </a:ln>
        </p:spPr>
      </p:sp>
      <p:sp>
        <p:nvSpPr>
          <p:cNvPr id="52" name="transition-0-head">
            <a:extLst xmlns:a="http://schemas.openxmlformats.org/drawingml/2006/main">
              <a:ext uri="{FF2B5EF4-FFF2-40B4-BE49-F238E27FC236}">
                <a16:creationId xmlns:a16="http://schemas.microsoft.com/office/drawing/2014/main" id="{C1357221-75ED-4F96-B96A-A637AD8C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78944" y="1628775"/>
            <a:ext cx="42863" cy="47625"/>
          </a:xfrm>
          <a:custGeom xmlns:a="http://schemas.openxmlformats.org/drawingml/2006/main">
            <a:pathLst>
              <a:path w="42863" h="47625">
                <a:moveTo>
                  <a:pt x="21431" y="47625"/>
                </a:moveTo>
                <a:lnTo>
                  <a:pt x="0" y="0"/>
                </a:lnTo>
                <a:lnTo>
                  <a:pt x="42863" y="0"/>
                </a:lnTo>
                <a:close/>
              </a:path>
            </a:pathLst>
          </a:custGeom>
          <a:solidFill xmlns:a="http://schemas.openxmlformats.org/drawingml/2006/main">
            <a:srgbClr val="94CB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transition-1">
            <a:extLst xmlns:a="http://schemas.openxmlformats.org/drawingml/2006/main">
              <a:ext uri="{FF2B5EF4-FFF2-40B4-BE49-F238E27FC236}">
                <a16:creationId xmlns:a16="http://schemas.microsoft.com/office/drawing/2014/main" id="{E1A57170-8F80-4C14-BCCA-13DDF426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1800225"/>
            <a:ext cx="314325" cy="209550"/>
          </a:xfrm>
          <a:custGeom xmlns:a="http://schemas.openxmlformats.org/drawingml/2006/main">
            <a:pathLst>
              <a:path w="314325" h="209550">
                <a:moveTo>
                  <a:pt x="314325" y="0"/>
                </a:moveTo>
                <a:lnTo>
                  <a:pt x="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94CBE6"/>
            </a:solidFill>
            <a:prstDash val="dash"/>
          </a:ln>
        </p:spPr>
      </p:sp>
      <p:sp>
        <p:nvSpPr>
          <p:cNvPr id="54" name="transition-1-head">
            <a:extLst xmlns:a="http://schemas.openxmlformats.org/drawingml/2006/main">
              <a:ext uri="{FF2B5EF4-FFF2-40B4-BE49-F238E27FC236}">
                <a16:creationId xmlns:a16="http://schemas.microsoft.com/office/drawing/2014/main" id="{A16CE152-523E-49DF-BCAD-9B8E4437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1965526"/>
            <a:ext cx="51514" cy="44249"/>
          </a:xfrm>
          <a:custGeom xmlns:a="http://schemas.openxmlformats.org/drawingml/2006/main">
            <a:pathLst>
              <a:path w="51514" h="44249">
                <a:moveTo>
                  <a:pt x="0" y="44249"/>
                </a:moveTo>
                <a:lnTo>
                  <a:pt x="27738" y="0"/>
                </a:lnTo>
                <a:lnTo>
                  <a:pt x="51514" y="35664"/>
                </a:lnTo>
                <a:close/>
              </a:path>
            </a:pathLst>
          </a:custGeom>
          <a:solidFill xmlns:a="http://schemas.openxmlformats.org/drawingml/2006/main">
            <a:srgbClr val="94CB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transition-2">
            <a:extLst xmlns:a="http://schemas.openxmlformats.org/drawingml/2006/main">
              <a:ext uri="{FF2B5EF4-FFF2-40B4-BE49-F238E27FC236}">
                <a16:creationId xmlns:a16="http://schemas.microsoft.com/office/drawing/2014/main" id="{7BF6ED32-68CC-4041-BF06-3AA0483E4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450" y="2114550"/>
            <a:ext cx="142875" cy="428625"/>
          </a:xfrm>
          <a:custGeom xmlns:a="http://schemas.openxmlformats.org/drawingml/2006/main">
            <a:pathLst>
              <a:path w="142875" h="428625">
                <a:moveTo>
                  <a:pt x="142875" y="0"/>
                </a:moveTo>
                <a:lnTo>
                  <a:pt x="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BBBBB"/>
            </a:solidFill>
            <a:prstDash val="dash"/>
          </a:ln>
        </p:spPr>
      </p:sp>
      <p:sp>
        <p:nvSpPr>
          <p:cNvPr id="56" name="transition-2-head">
            <a:extLst xmlns:a="http://schemas.openxmlformats.org/drawingml/2006/main">
              <a:ext uri="{FF2B5EF4-FFF2-40B4-BE49-F238E27FC236}">
                <a16:creationId xmlns:a16="http://schemas.microsoft.com/office/drawing/2014/main" id="{55090D0D-A86B-49B8-A883-D2B359F0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2179" y="2491217"/>
            <a:ext cx="40663" cy="51958"/>
          </a:xfrm>
          <a:custGeom xmlns:a="http://schemas.openxmlformats.org/drawingml/2006/main">
            <a:pathLst>
              <a:path w="40663" h="51958">
                <a:moveTo>
                  <a:pt x="5271" y="51958"/>
                </a:moveTo>
                <a:lnTo>
                  <a:pt x="0" y="0"/>
                </a:lnTo>
                <a:lnTo>
                  <a:pt x="40663" y="13554"/>
                </a:lnTo>
                <a:close/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transition-3">
            <a:extLst xmlns:a="http://schemas.openxmlformats.org/drawingml/2006/main">
              <a:ext uri="{FF2B5EF4-FFF2-40B4-BE49-F238E27FC236}">
                <a16:creationId xmlns:a16="http://schemas.microsoft.com/office/drawing/2014/main" id="{939C0F6D-89A2-453C-AA86-C9B7AC8A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38425" y="2095500"/>
            <a:ext cx="133350" cy="247650"/>
          </a:xfrm>
          <a:custGeom xmlns:a="http://schemas.openxmlformats.org/drawingml/2006/main">
            <a:pathLst>
              <a:path w="133350" h="247650">
                <a:moveTo>
                  <a:pt x="0" y="0"/>
                </a:moveTo>
                <a:lnTo>
                  <a:pt x="133350" y="2476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BBBBB"/>
            </a:solidFill>
            <a:prstDash val="dash"/>
          </a:ln>
        </p:spPr>
      </p:sp>
      <p:sp>
        <p:nvSpPr>
          <p:cNvPr id="58" name="transition-3-head">
            <a:extLst xmlns:a="http://schemas.openxmlformats.org/drawingml/2006/main">
              <a:ext uri="{FF2B5EF4-FFF2-40B4-BE49-F238E27FC236}">
                <a16:creationId xmlns:a16="http://schemas.microsoft.com/office/drawing/2014/main" id="{BE9610A1-4755-431A-AB93-4202AB97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0326" y="2291057"/>
            <a:ext cx="41449" cy="52093"/>
          </a:xfrm>
          <a:custGeom xmlns:a="http://schemas.openxmlformats.org/drawingml/2006/main">
            <a:pathLst>
              <a:path w="41449" h="52093">
                <a:moveTo>
                  <a:pt x="41449" y="52093"/>
                </a:moveTo>
                <a:lnTo>
                  <a:pt x="0" y="20321"/>
                </a:lnTo>
                <a:lnTo>
                  <a:pt x="37739" y="0"/>
                </a:lnTo>
                <a:close/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transition-4">
            <a:extLst xmlns:a="http://schemas.openxmlformats.org/drawingml/2006/main">
              <a:ext uri="{FF2B5EF4-FFF2-40B4-BE49-F238E27FC236}">
                <a16:creationId xmlns:a16="http://schemas.microsoft.com/office/drawing/2014/main" id="{BB34F5BA-299D-4AC9-A3B4-C3BDD4B7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447925"/>
            <a:ext cx="295275" cy="257175"/>
          </a:xfrm>
          <a:custGeom xmlns:a="http://schemas.openxmlformats.org/drawingml/2006/main">
            <a:pathLst>
              <a:path w="295275" h="257175">
                <a:moveTo>
                  <a:pt x="0" y="0"/>
                </a:moveTo>
                <a:lnTo>
                  <a:pt x="295275" y="2571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BBBBB"/>
            </a:solidFill>
            <a:prstDash val="dash"/>
          </a:ln>
        </p:spPr>
      </p:sp>
      <p:sp>
        <p:nvSpPr>
          <p:cNvPr id="60" name="transition-4-head">
            <a:extLst xmlns:a="http://schemas.openxmlformats.org/drawingml/2006/main">
              <a:ext uri="{FF2B5EF4-FFF2-40B4-BE49-F238E27FC236}">
                <a16:creationId xmlns:a16="http://schemas.microsoft.com/office/drawing/2014/main" id="{558CE0D3-F23B-4D37-B354-19630028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3736" y="2657660"/>
            <a:ext cx="49989" cy="47440"/>
          </a:xfrm>
          <a:custGeom xmlns:a="http://schemas.openxmlformats.org/drawingml/2006/main">
            <a:pathLst>
              <a:path w="49989" h="47440">
                <a:moveTo>
                  <a:pt x="49989" y="47440"/>
                </a:moveTo>
                <a:lnTo>
                  <a:pt x="0" y="32322"/>
                </a:lnTo>
                <a:lnTo>
                  <a:pt x="28151" y="0"/>
                </a:lnTo>
                <a:close/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transition-5">
            <a:extLst xmlns:a="http://schemas.openxmlformats.org/drawingml/2006/main">
              <a:ext uri="{FF2B5EF4-FFF2-40B4-BE49-F238E27FC236}">
                <a16:creationId xmlns:a16="http://schemas.microsoft.com/office/drawing/2014/main" id="{10992ED6-5518-497F-AB4F-F4549838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67075" y="2800350"/>
            <a:ext cx="476250" cy="66675"/>
          </a:xfrm>
          <a:custGeom xmlns:a="http://schemas.openxmlformats.org/drawingml/2006/main">
            <a:pathLst>
              <a:path w="476250" h="66675">
                <a:moveTo>
                  <a:pt x="0" y="0"/>
                </a:moveTo>
                <a:lnTo>
                  <a:pt x="476250" y="6667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BBBBB"/>
            </a:solidFill>
            <a:prstDash val="dash"/>
          </a:ln>
        </p:spPr>
      </p:sp>
      <p:sp>
        <p:nvSpPr>
          <p:cNvPr id="62" name="transition-5-head">
            <a:extLst xmlns:a="http://schemas.openxmlformats.org/drawingml/2006/main">
              <a:ext uri="{FF2B5EF4-FFF2-40B4-BE49-F238E27FC236}">
                <a16:creationId xmlns:a16="http://schemas.microsoft.com/office/drawing/2014/main" id="{AC0D350B-335D-4C8F-A361-643440D5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3189" y="2839198"/>
            <a:ext cx="50136" cy="42449"/>
          </a:xfrm>
          <a:custGeom xmlns:a="http://schemas.openxmlformats.org/drawingml/2006/main">
            <a:pathLst>
              <a:path w="50136" h="42449">
                <a:moveTo>
                  <a:pt x="50136" y="27827"/>
                </a:moveTo>
                <a:lnTo>
                  <a:pt x="0" y="42449"/>
                </a:lnTo>
                <a:lnTo>
                  <a:pt x="5943" y="0"/>
                </a:lnTo>
                <a:close/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transition-6">
            <a:extLst xmlns:a="http://schemas.openxmlformats.org/drawingml/2006/main">
              <a:ext uri="{FF2B5EF4-FFF2-40B4-BE49-F238E27FC236}">
                <a16:creationId xmlns:a16="http://schemas.microsoft.com/office/drawing/2014/main" id="{36F84FB0-CBB8-4B4F-92DE-0A2E0B5E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05075" y="2676525"/>
            <a:ext cx="247650" cy="476250"/>
          </a:xfrm>
          <a:custGeom xmlns:a="http://schemas.openxmlformats.org/drawingml/2006/main">
            <a:pathLst>
              <a:path w="247650" h="476250">
                <a:moveTo>
                  <a:pt x="0" y="0"/>
                </a:moveTo>
                <a:lnTo>
                  <a:pt x="247650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BBBBBB"/>
            </a:solidFill>
            <a:prstDash val="dash"/>
          </a:ln>
        </p:spPr>
      </p:sp>
      <p:sp>
        <p:nvSpPr>
          <p:cNvPr id="64" name="transition-6-head">
            <a:extLst xmlns:a="http://schemas.openxmlformats.org/drawingml/2006/main">
              <a:ext uri="{FF2B5EF4-FFF2-40B4-BE49-F238E27FC236}">
                <a16:creationId xmlns:a16="http://schemas.microsoft.com/office/drawing/2014/main" id="{77B32BBE-A8F7-4525-847F-8FE8E941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11739" y="3100634"/>
            <a:ext cx="40986" cy="52141"/>
          </a:xfrm>
          <a:custGeom xmlns:a="http://schemas.openxmlformats.org/drawingml/2006/main">
            <a:pathLst>
              <a:path w="40986" h="52141">
                <a:moveTo>
                  <a:pt x="40986" y="52141"/>
                </a:moveTo>
                <a:lnTo>
                  <a:pt x="0" y="19775"/>
                </a:lnTo>
                <a:lnTo>
                  <a:pt x="38028" y="0"/>
                </a:lnTo>
                <a:close/>
              </a:path>
            </a:pathLst>
          </a:custGeom>
          <a:solidFill xmlns:a="http://schemas.openxmlformats.org/drawingml/2006/main">
            <a:srgbClr val="BBBB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transition-7">
            <a:extLst xmlns:a="http://schemas.openxmlformats.org/drawingml/2006/main">
              <a:ext uri="{FF2B5EF4-FFF2-40B4-BE49-F238E27FC236}">
                <a16:creationId xmlns:a16="http://schemas.microsoft.com/office/drawing/2014/main" id="{35F37902-B20F-4D8D-A9A8-88BECB1EE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47950" y="1847850"/>
            <a:ext cx="828675" cy="200025"/>
          </a:xfrm>
          <a:custGeom xmlns:a="http://schemas.openxmlformats.org/drawingml/2006/main">
            <a:pathLst>
              <a:path w="828675" h="200025">
                <a:moveTo>
                  <a:pt x="0" y="200025"/>
                </a:moveTo>
                <a:lnTo>
                  <a:pt x="561975" y="142875"/>
                </a:lnTo>
                <a:lnTo>
                  <a:pt x="8286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9B55A"/>
            </a:solidFill>
            <a:prstDash val="dash"/>
          </a:ln>
        </p:spPr>
      </p:sp>
      <p:sp>
        <p:nvSpPr>
          <p:cNvPr id="66" name="transition-7-head">
            <a:extLst xmlns:a="http://schemas.openxmlformats.org/drawingml/2006/main">
              <a:ext uri="{FF2B5EF4-FFF2-40B4-BE49-F238E27FC236}">
                <a16:creationId xmlns:a16="http://schemas.microsoft.com/office/drawing/2014/main" id="{F4D934C1-1349-4AAA-9201-513F744A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24524" y="1847850"/>
            <a:ext cx="52101" cy="41381"/>
          </a:xfrm>
          <a:custGeom xmlns:a="http://schemas.openxmlformats.org/drawingml/2006/main">
            <a:pathLst>
              <a:path w="52101" h="41381">
                <a:moveTo>
                  <a:pt x="52101" y="0"/>
                </a:moveTo>
                <a:lnTo>
                  <a:pt x="20241" y="41381"/>
                </a:lnTo>
                <a:lnTo>
                  <a:pt x="0" y="3598"/>
                </a:lnTo>
                <a:close/>
              </a:path>
            </a:pathLst>
          </a:custGeom>
          <a:solidFill xmlns:a="http://schemas.openxmlformats.org/drawingml/2006/main">
            <a:srgbClr val="69B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transition-8">
            <a:extLst xmlns:a="http://schemas.openxmlformats.org/drawingml/2006/main">
              <a:ext uri="{FF2B5EF4-FFF2-40B4-BE49-F238E27FC236}">
                <a16:creationId xmlns:a16="http://schemas.microsoft.com/office/drawing/2014/main" id="{60844DA1-FE80-445F-997D-2D09A7EB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62350" y="1390650"/>
            <a:ext cx="523875" cy="400050"/>
          </a:xfrm>
          <a:custGeom xmlns:a="http://schemas.openxmlformats.org/drawingml/2006/main">
            <a:pathLst>
              <a:path w="523875" h="400050">
                <a:moveTo>
                  <a:pt x="0" y="400050"/>
                </a:moveTo>
                <a:lnTo>
                  <a:pt x="133350" y="190500"/>
                </a:lnTo>
                <a:lnTo>
                  <a:pt x="476250" y="47625"/>
                </a:lnTo>
                <a:lnTo>
                  <a:pt x="523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69B55A"/>
            </a:solidFill>
            <a:prstDash val="dash"/>
          </a:ln>
        </p:spPr>
      </p:sp>
      <p:sp>
        <p:nvSpPr>
          <p:cNvPr id="68" name="transition-8-head">
            <a:extLst xmlns:a="http://schemas.openxmlformats.org/drawingml/2006/main">
              <a:ext uri="{FF2B5EF4-FFF2-40B4-BE49-F238E27FC236}">
                <a16:creationId xmlns:a16="http://schemas.microsoft.com/office/drawing/2014/main" id="{60E5227A-4D32-4898-80EE-BA06536D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37395" y="1390650"/>
            <a:ext cx="48830" cy="48830"/>
          </a:xfrm>
          <a:custGeom xmlns:a="http://schemas.openxmlformats.org/drawingml/2006/main">
            <a:pathLst>
              <a:path w="48830" h="48830">
                <a:moveTo>
                  <a:pt x="48830" y="0"/>
                </a:moveTo>
                <a:lnTo>
                  <a:pt x="30308" y="48830"/>
                </a:lnTo>
                <a:lnTo>
                  <a:pt x="0" y="18522"/>
                </a:lnTo>
                <a:close/>
              </a:path>
            </a:pathLst>
          </a:custGeom>
          <a:solidFill xmlns:a="http://schemas.openxmlformats.org/drawingml/2006/main">
            <a:srgbClr val="69B5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init">
            <a:extLst xmlns:a="http://schemas.openxmlformats.org/drawingml/2006/main">
              <a:ext uri="{FF2B5EF4-FFF2-40B4-BE49-F238E27FC236}">
                <a16:creationId xmlns:a16="http://schemas.microsoft.com/office/drawing/2014/main" id="{7620E299-5A89-49D0-B6F1-9D8916D0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9375" y="10096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1275" b="0" i="1">
                <a:solidFill>
                  <a:srgbClr val="30303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1275" b="0" i="1">
                <a:solidFill>
                  <a:srgbClr val="30303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303030"/>
                </a:solidFill>
                <a:latin typeface="Times New Roman"/>
                <a:ea typeface="Times New Roman"/>
                <a:cs typeface="Times New Roman"/>
              </a:rPr>
              <a:t>τᵢₙᵢₜ</a:t>
            </a:r>
          </a:p>
        </p:txBody>
      </p:sp>
      <p:sp>
        <p:nvSpPr>
          <p:cNvPr id="70" name="fail1">
            <a:extLst xmlns:a="http://schemas.openxmlformats.org/drawingml/2006/main">
              <a:ext uri="{FF2B5EF4-FFF2-40B4-BE49-F238E27FC236}">
                <a16:creationId xmlns:a16="http://schemas.microsoft.com/office/drawing/2014/main" id="{F28F44AE-E5B0-4C12-82AF-81ADF7841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6200" y="2819400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1">
                <a:solidFill>
                  <a:srgbClr val="EE222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750" b="0" i="1">
                <a:solidFill>
                  <a:srgbClr val="EE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1">
                <a:solidFill>
                  <a:srgbClr val="EE2222"/>
                </a:solidFill>
                <a:latin typeface="Times New Roman"/>
                <a:ea typeface="Times New Roman"/>
                <a:cs typeface="Times New Roman"/>
              </a:rPr>
              <a:t>Infeasible</a:t>
            </a:r>
          </a:p>
        </p:txBody>
      </p:sp>
      <p:sp>
        <p:nvSpPr>
          <p:cNvPr id="71" name="fail2">
            <a:extLst xmlns:a="http://schemas.openxmlformats.org/drawingml/2006/main">
              <a:ext uri="{FF2B5EF4-FFF2-40B4-BE49-F238E27FC236}">
                <a16:creationId xmlns:a16="http://schemas.microsoft.com/office/drawing/2014/main" id="{740DF42B-3668-433C-B48A-F04D1EB0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05125" y="3152775"/>
            <a:ext cx="552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750" b="0" i="1">
                <a:solidFill>
                  <a:srgbClr val="EE2222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750" b="0" i="1">
                <a:solidFill>
                  <a:srgbClr val="EE222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1">
                <a:solidFill>
                  <a:srgbClr val="EE2222"/>
                </a:solidFill>
                <a:latin typeface="Times New Roman"/>
                <a:ea typeface="Times New Roman"/>
                <a:cs typeface="Times New Roman"/>
              </a:rPr>
              <a:t>Infeasible</a:t>
            </a:r>
          </a:p>
        </p:txBody>
      </p:sp>
      <p:sp>
        <p:nvSpPr>
          <p:cNvPr id="72" name="state-label-0">
            <a:extLst xmlns:a="http://schemas.openxmlformats.org/drawingml/2006/main">
              <a:ext uri="{FF2B5EF4-FFF2-40B4-BE49-F238E27FC236}">
                <a16:creationId xmlns:a16="http://schemas.microsoft.com/office/drawing/2014/main" id="{1DA8775A-B60D-48D2-9DD7-AFE73FEA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2533650"/>
            <a:ext cx="438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(a₀,s₀)</a:t>
            </a:r>
          </a:p>
        </p:txBody>
      </p:sp>
      <p:sp>
        <p:nvSpPr>
          <p:cNvPr id="73" name="state-label-1">
            <a:extLst xmlns:a="http://schemas.openxmlformats.org/drawingml/2006/main">
              <a:ext uri="{FF2B5EF4-FFF2-40B4-BE49-F238E27FC236}">
                <a16:creationId xmlns:a16="http://schemas.microsoft.com/office/drawing/2014/main" id="{2A8366C8-58C6-4EFE-8706-E384A21B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3675" y="2190750"/>
            <a:ext cx="438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(a₀,s₀)</a:t>
            </a:r>
          </a:p>
        </p:txBody>
      </p:sp>
      <p:sp>
        <p:nvSpPr>
          <p:cNvPr id="74" name="state-label-2">
            <a:extLst xmlns:a="http://schemas.openxmlformats.org/drawingml/2006/main">
              <a:ext uri="{FF2B5EF4-FFF2-40B4-BE49-F238E27FC236}">
                <a16:creationId xmlns:a16="http://schemas.microsoft.com/office/drawing/2014/main" id="{F1B760D3-587D-45A6-BC7E-0B95F6565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95625" y="2476500"/>
            <a:ext cx="438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(a₁,s₁)</a:t>
            </a:r>
          </a:p>
        </p:txBody>
      </p:sp>
      <p:sp>
        <p:nvSpPr>
          <p:cNvPr id="75" name="state-label-3">
            <a:extLst xmlns:a="http://schemas.openxmlformats.org/drawingml/2006/main">
              <a:ext uri="{FF2B5EF4-FFF2-40B4-BE49-F238E27FC236}">
                <a16:creationId xmlns:a16="http://schemas.microsoft.com/office/drawing/2014/main" id="{05C4D28D-CB9E-499A-80BF-BD7BE785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0" y="2676525"/>
            <a:ext cx="438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(a₂,s₂)</a:t>
            </a:r>
          </a:p>
        </p:txBody>
      </p:sp>
      <p:sp>
        <p:nvSpPr>
          <p:cNvPr id="76" name="state-label-4">
            <a:extLst xmlns:a="http://schemas.openxmlformats.org/drawingml/2006/main">
              <a:ext uri="{FF2B5EF4-FFF2-40B4-BE49-F238E27FC236}">
                <a16:creationId xmlns:a16="http://schemas.microsoft.com/office/drawing/2014/main" id="{2389BF70-32AB-4568-B3F7-FCC34F73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19375" y="3286125"/>
            <a:ext cx="4381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ctr">
              <a:defRPr sz="9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ctr">
              <a:defRPr sz="9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(a₁,s₁)</a:t>
            </a:r>
          </a:p>
        </p:txBody>
      </p:sp>
      <p:sp>
        <p:nvSpPr>
          <p:cNvPr id="77" name="alignment-dashed-axis">
            <a:extLst xmlns:a="http://schemas.openxmlformats.org/drawingml/2006/main">
              <a:ext uri="{FF2B5EF4-FFF2-40B4-BE49-F238E27FC236}">
                <a16:creationId xmlns:a16="http://schemas.microsoft.com/office/drawing/2014/main" id="{E271B41D-EEAA-419E-B4F6-6067C77E5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5200" y="1905000"/>
            <a:ext cx="95" cy="885825"/>
          </a:xfrm>
          <a:custGeom xmlns:a="http://schemas.openxmlformats.org/drawingml/2006/main">
            <a:pathLst>
              <a:path w="95" h="885825">
                <a:moveTo>
                  <a:pt x="0" y="0"/>
                </a:moveTo>
                <a:lnTo>
                  <a:pt x="0" y="885825"/>
                </a:lnTo>
              </a:path>
            </a:pathLst>
          </a:custGeom>
          <a:noFill xmlns:a="http://schemas.openxmlformats.org/drawingml/2006/main"/>
          <a:ln xmlns:a="http://schemas.openxmlformats.org/drawingml/2006/main" w="11430">
            <a:solidFill>
              <a:srgbClr val="777777"/>
            </a:solidFill>
            <a:prstDash val="dash"/>
          </a:ln>
        </p:spPr>
      </p:sp>
      <p:sp>
        <p:nvSpPr>
          <p:cNvPr id="78" name="delta-tau">
            <a:extLst xmlns:a="http://schemas.openxmlformats.org/drawingml/2006/main">
              <a:ext uri="{FF2B5EF4-FFF2-40B4-BE49-F238E27FC236}">
                <a16:creationId xmlns:a16="http://schemas.microsoft.com/office/drawing/2014/main" id="{B5CEBF83-C7B3-4FAE-BAAE-86701E99D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71675" y="1371600"/>
            <a:ext cx="114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τ</a:t>
            </a:r>
          </a:p>
        </p:txBody>
      </p:sp>
      <p:sp>
        <p:nvSpPr>
          <p:cNvPr id="79" name="delta-init">
            <a:extLst xmlns:a="http://schemas.openxmlformats.org/drawingml/2006/main">
              <a:ext uri="{FF2B5EF4-FFF2-40B4-BE49-F238E27FC236}">
                <a16:creationId xmlns:a16="http://schemas.microsoft.com/office/drawing/2014/main" id="{92BDF3DB-DED3-4D48-8FCE-AE6F050F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85975" y="1457325"/>
            <a:ext cx="18097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init</a:t>
            </a:r>
          </a:p>
        </p:txBody>
      </p:sp>
      <p:sp>
        <p:nvSpPr>
          <p:cNvPr id="80" name="delta-oplus">
            <a:extLst xmlns:a="http://schemas.openxmlformats.org/drawingml/2006/main">
              <a:ext uri="{FF2B5EF4-FFF2-40B4-BE49-F238E27FC236}">
                <a16:creationId xmlns:a16="http://schemas.microsoft.com/office/drawing/2014/main" id="{A4131744-D6E2-47C1-9F14-DF63A739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86000" y="1371600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⊕</a:t>
            </a:r>
          </a:p>
        </p:txBody>
      </p:sp>
      <p:sp>
        <p:nvSpPr>
          <p:cNvPr id="81" name="delta-base">
            <a:extLst xmlns:a="http://schemas.openxmlformats.org/drawingml/2006/main">
              <a:ext uri="{FF2B5EF4-FFF2-40B4-BE49-F238E27FC236}">
                <a16:creationId xmlns:a16="http://schemas.microsoft.com/office/drawing/2014/main" id="{CDE844B4-F1E6-430E-8D79-9BEF9A48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450" y="1371600"/>
            <a:ext cx="133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Δ</a:t>
            </a:r>
          </a:p>
        </p:txBody>
      </p:sp>
      <p:sp>
        <p:nvSpPr>
          <p:cNvPr id="82" name="delta-static">
            <a:extLst xmlns:a="http://schemas.openxmlformats.org/drawingml/2006/main">
              <a:ext uri="{FF2B5EF4-FFF2-40B4-BE49-F238E27FC236}">
                <a16:creationId xmlns:a16="http://schemas.microsoft.com/office/drawing/2014/main" id="{2ADBBD92-A46D-4D29-B4DA-88611C841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90800" y="1457325"/>
            <a:ext cx="2667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static</a:t>
            </a:r>
          </a:p>
        </p:txBody>
      </p:sp>
      <p:sp>
        <p:nvSpPr>
          <p:cNvPr id="83" name="alignment-up-arrow">
            <a:extLst xmlns:a="http://schemas.openxmlformats.org/drawingml/2006/main">
              <a:ext uri="{FF2B5EF4-FFF2-40B4-BE49-F238E27FC236}">
                <a16:creationId xmlns:a16="http://schemas.microsoft.com/office/drawing/2014/main" id="{8117F5A5-C4F1-443C-8D1E-789A8527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62338" y="1914525"/>
            <a:ext cx="85725" cy="95250"/>
          </a:xfrm>
          <a:custGeom xmlns:a="http://schemas.openxmlformats.org/drawingml/2006/main">
            <a:pathLst>
              <a:path w="85725" h="95250">
                <a:moveTo>
                  <a:pt x="42863" y="0"/>
                </a:moveTo>
                <a:lnTo>
                  <a:pt x="0" y="95250"/>
                </a:lnTo>
                <a:lnTo>
                  <a:pt x="85725" y="95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aper-base">
            <a:extLst xmlns:a="http://schemas.openxmlformats.org/drawingml/2006/main">
              <a:ext uri="{FF2B5EF4-FFF2-40B4-BE49-F238E27FC236}">
                <a16:creationId xmlns:a16="http://schemas.microsoft.com/office/drawing/2014/main" id="{F88C520B-2A6C-44A6-BA64-9567FF2A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14525" y="1971675"/>
            <a:ext cx="133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85" name="aper-subscript">
            <a:extLst xmlns:a="http://schemas.openxmlformats.org/drawingml/2006/main">
              <a:ext uri="{FF2B5EF4-FFF2-40B4-BE49-F238E27FC236}">
                <a16:creationId xmlns:a16="http://schemas.microsoft.com/office/drawing/2014/main" id="{4468CCA3-08CC-48DF-870C-85189557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19300" y="20478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perc</a:t>
            </a:r>
          </a:p>
        </p:txBody>
      </p:sp>
      <p:sp>
        <p:nvSpPr>
          <p:cNvPr id="86" name="aper-argument">
            <a:extLst xmlns:a="http://schemas.openxmlformats.org/drawingml/2006/main">
              <a:ext uri="{FF2B5EF4-FFF2-40B4-BE49-F238E27FC236}">
                <a16:creationId xmlns:a16="http://schemas.microsoft.com/office/drawing/2014/main" id="{B8DD8F8F-C98D-412D-9AEB-714FB5817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7425" y="1971675"/>
            <a:ext cx="2762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(τ)</a:t>
            </a:r>
          </a:p>
        </p:txBody>
      </p:sp>
      <p:sp>
        <p:nvSpPr>
          <p:cNvPr id="87" name="exec-base">
            <a:extLst xmlns:a="http://schemas.openxmlformats.org/drawingml/2006/main">
              <a:ext uri="{FF2B5EF4-FFF2-40B4-BE49-F238E27FC236}">
                <a16:creationId xmlns:a16="http://schemas.microsoft.com/office/drawing/2014/main" id="{2D17AA76-7DF7-4982-B87C-F08533798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10000" y="1019175"/>
            <a:ext cx="133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88" name="exec-subscript">
            <a:extLst xmlns:a="http://schemas.openxmlformats.org/drawingml/2006/main">
              <a:ext uri="{FF2B5EF4-FFF2-40B4-BE49-F238E27FC236}">
                <a16:creationId xmlns:a16="http://schemas.microsoft.com/office/drawing/2014/main" id="{F21DADB7-E586-49B6-AB43-DCE82C793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4775" y="1095375"/>
            <a:ext cx="2286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exec</a:t>
            </a:r>
          </a:p>
        </p:txBody>
      </p:sp>
      <p:sp>
        <p:nvSpPr>
          <p:cNvPr id="89" name="exec-argument">
            <a:extLst xmlns:a="http://schemas.openxmlformats.org/drawingml/2006/main">
              <a:ext uri="{FF2B5EF4-FFF2-40B4-BE49-F238E27FC236}">
                <a16:creationId xmlns:a16="http://schemas.microsoft.com/office/drawing/2014/main" id="{E95F3606-611A-40D1-B621-E880FE23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52900" y="1019175"/>
            <a:ext cx="27622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(τ)</a:t>
            </a:r>
          </a:p>
        </p:txBody>
      </p:sp>
      <p:sp>
        <p:nvSpPr>
          <p:cNvPr id="90" name="eq-theta-next">
            <a:extLst xmlns:a="http://schemas.openxmlformats.org/drawingml/2006/main">
              <a:ext uri="{FF2B5EF4-FFF2-40B4-BE49-F238E27FC236}">
                <a16:creationId xmlns:a16="http://schemas.microsoft.com/office/drawing/2014/main" id="{F1DECEE3-4E57-4331-B39D-7E92B2F1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09975" y="2257425"/>
            <a:ext cx="114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θ</a:t>
            </a:r>
          </a:p>
        </p:txBody>
      </p:sp>
      <p:sp>
        <p:nvSpPr>
          <p:cNvPr id="91" name="eq-next-k">
            <a:extLst xmlns:a="http://schemas.openxmlformats.org/drawingml/2006/main">
              <a:ext uri="{FF2B5EF4-FFF2-40B4-BE49-F238E27FC236}">
                <a16:creationId xmlns:a16="http://schemas.microsoft.com/office/drawing/2014/main" id="{C9EB85F0-5707-4B72-B822-DDEDC182A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86175" y="2343150"/>
            <a:ext cx="857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92" name="eq-next-time">
            <a:extLst xmlns:a="http://schemas.openxmlformats.org/drawingml/2006/main">
              <a:ext uri="{FF2B5EF4-FFF2-40B4-BE49-F238E27FC236}">
                <a16:creationId xmlns:a16="http://schemas.microsoft.com/office/drawing/2014/main" id="{457AF8F3-41C4-4AD5-89C2-9E8BA390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05225" y="2190750"/>
            <a:ext cx="2381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(t+1)</a:t>
            </a:r>
          </a:p>
        </p:txBody>
      </p:sp>
      <p:sp>
        <p:nvSpPr>
          <p:cNvPr id="93" name="eq-left-arrow">
            <a:extLst xmlns:a="http://schemas.openxmlformats.org/drawingml/2006/main">
              <a:ext uri="{FF2B5EF4-FFF2-40B4-BE49-F238E27FC236}">
                <a16:creationId xmlns:a16="http://schemas.microsoft.com/office/drawing/2014/main" id="{9CE2D5F4-71D3-4499-BE31-C3ADFB6A6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52875" y="2257425"/>
            <a:ext cx="19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←</a:t>
            </a:r>
          </a:p>
        </p:txBody>
      </p:sp>
      <p:sp>
        <p:nvSpPr>
          <p:cNvPr id="94" name="eq-theta-current">
            <a:extLst xmlns:a="http://schemas.openxmlformats.org/drawingml/2006/main">
              <a:ext uri="{FF2B5EF4-FFF2-40B4-BE49-F238E27FC236}">
                <a16:creationId xmlns:a16="http://schemas.microsoft.com/office/drawing/2014/main" id="{F3401D64-3E7A-4236-8FA9-D00F24891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81475" y="2257425"/>
            <a:ext cx="114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θ</a:t>
            </a:r>
          </a:p>
        </p:txBody>
      </p:sp>
      <p:sp>
        <p:nvSpPr>
          <p:cNvPr id="95" name="eq-current-k">
            <a:extLst xmlns:a="http://schemas.openxmlformats.org/drawingml/2006/main">
              <a:ext uri="{FF2B5EF4-FFF2-40B4-BE49-F238E27FC236}">
                <a16:creationId xmlns:a16="http://schemas.microsoft.com/office/drawing/2014/main" id="{742AB5CF-7355-4425-9B87-C5D1328D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675" y="2343150"/>
            <a:ext cx="857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k</a:t>
            </a:r>
          </a:p>
        </p:txBody>
      </p:sp>
      <p:sp>
        <p:nvSpPr>
          <p:cNvPr id="96" name="eq-current-time">
            <a:extLst xmlns:a="http://schemas.openxmlformats.org/drawingml/2006/main">
              <a:ext uri="{FF2B5EF4-FFF2-40B4-BE49-F238E27FC236}">
                <a16:creationId xmlns:a16="http://schemas.microsoft.com/office/drawing/2014/main" id="{52832354-3134-436C-8353-8AD0EA90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6725" y="2190750"/>
            <a:ext cx="161925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(t)</a:t>
            </a:r>
          </a:p>
        </p:txBody>
      </p:sp>
      <p:sp>
        <p:nvSpPr>
          <p:cNvPr id="97" name="eq-oplus">
            <a:extLst xmlns:a="http://schemas.openxmlformats.org/drawingml/2006/main">
              <a:ext uri="{FF2B5EF4-FFF2-40B4-BE49-F238E27FC236}">
                <a16:creationId xmlns:a16="http://schemas.microsoft.com/office/drawing/2014/main" id="{734FFC90-443E-49DC-B2A7-E174FF9F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8175" y="225742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⊕</a:t>
            </a:r>
          </a:p>
        </p:txBody>
      </p:sp>
      <p:sp>
        <p:nvSpPr>
          <p:cNvPr id="98" name="eq-gradient">
            <a:extLst xmlns:a="http://schemas.openxmlformats.org/drawingml/2006/main">
              <a:ext uri="{FF2B5EF4-FFF2-40B4-BE49-F238E27FC236}">
                <a16:creationId xmlns:a16="http://schemas.microsoft.com/office/drawing/2014/main" id="{D8380AE8-C34B-41CE-8D09-87DEFD99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2257425"/>
            <a:ext cx="14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∇</a:t>
            </a:r>
          </a:p>
        </p:txBody>
      </p:sp>
      <p:sp>
        <p:nvSpPr>
          <p:cNvPr id="99" name="eq-loss">
            <a:extLst xmlns:a="http://schemas.openxmlformats.org/drawingml/2006/main">
              <a:ext uri="{FF2B5EF4-FFF2-40B4-BE49-F238E27FC236}">
                <a16:creationId xmlns:a16="http://schemas.microsoft.com/office/drawing/2014/main" id="{0C32AC1C-7ED7-44C4-8C42-2EB696143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2257425"/>
            <a:ext cx="1047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L</a:t>
            </a:r>
          </a:p>
        </p:txBody>
      </p:sp>
      <p:sp>
        <p:nvSpPr>
          <p:cNvPr id="100" name="eq-loss-fail">
            <a:extLst xmlns:a="http://schemas.openxmlformats.org/drawingml/2006/main">
              <a:ext uri="{FF2B5EF4-FFF2-40B4-BE49-F238E27FC236}">
                <a16:creationId xmlns:a16="http://schemas.microsoft.com/office/drawing/2014/main" id="{E5DAF862-91A5-421A-ADEC-DD9A52EF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7750" y="2343150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fail</a:t>
            </a:r>
          </a:p>
        </p:txBody>
      </p:sp>
      <p:sp>
        <p:nvSpPr>
          <p:cNvPr id="101" name="eq-open">
            <a:extLst xmlns:a="http://schemas.openxmlformats.org/drawingml/2006/main">
              <a:ext uri="{FF2B5EF4-FFF2-40B4-BE49-F238E27FC236}">
                <a16:creationId xmlns:a16="http://schemas.microsoft.com/office/drawing/2014/main" id="{0571FCA6-61FA-4DF2-9F2A-EC7B441F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9200" y="2257425"/>
            <a:ext cx="76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(</a:t>
            </a:r>
          </a:p>
        </p:txBody>
      </p:sp>
      <p:sp>
        <p:nvSpPr>
          <p:cNvPr id="102" name="eq-xi">
            <a:extLst xmlns:a="http://schemas.openxmlformats.org/drawingml/2006/main">
              <a:ext uri="{FF2B5EF4-FFF2-40B4-BE49-F238E27FC236}">
                <a16:creationId xmlns:a16="http://schemas.microsoft.com/office/drawing/2014/main" id="{FF33F935-291B-408F-904A-B94C6EEC1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05400" y="2257425"/>
            <a:ext cx="95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ξ</a:t>
            </a:r>
          </a:p>
        </p:txBody>
      </p:sp>
      <p:sp>
        <p:nvSpPr>
          <p:cNvPr id="103" name="eq-xi-fail">
            <a:extLst xmlns:a="http://schemas.openxmlformats.org/drawingml/2006/main">
              <a:ext uri="{FF2B5EF4-FFF2-40B4-BE49-F238E27FC236}">
                <a16:creationId xmlns:a16="http://schemas.microsoft.com/office/drawing/2014/main" id="{65888BED-5393-45D7-8124-EF6292CAF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00650" y="2343150"/>
            <a:ext cx="1714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fail</a:t>
            </a:r>
          </a:p>
        </p:txBody>
      </p:sp>
      <p:sp>
        <p:nvSpPr>
          <p:cNvPr id="104" name="eq-close">
            <a:extLst xmlns:a="http://schemas.openxmlformats.org/drawingml/2006/main">
              <a:ext uri="{FF2B5EF4-FFF2-40B4-BE49-F238E27FC236}">
                <a16:creationId xmlns:a16="http://schemas.microsoft.com/office/drawing/2014/main" id="{4BCA2394-750E-47D8-BAAC-281C98675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625" y="2257425"/>
            <a:ext cx="76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defPPr>
          </a:lstStyle>
          <a:p xmlns:a="http://schemas.openxmlformats.org/drawingml/2006/main">
            <a:pPr algn="l">
              <a:def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7326897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2026-10-09T21:46:28.0150000Z</dcterms:created>
  <dcterms:modified xsi:type="dcterms:W3CDTF">2026-10-09T21:46:28.0150000Z</dcterms:modified>
</coreProperties>
</file>